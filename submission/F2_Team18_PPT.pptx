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1eb06f8-d4b2-0d21-4a6b-7a2d74a2ef0a}">
          <p14:sldIdLst>
            <p14:sldId id="256"/>
            <p14:sldId id="257"/>
            <p14:sldId id="258"/>
          </p14:sldIdLst>
        </p14:section>
        <p14:section name="How it works" id="{76c02f79-ec90-09d8-107b-f9a2b793f99e}">
          <p14:sldIdLst>
            <p14:sldId id="259"/>
            <p14:sldId id="260"/>
            <p14:sldId id="261"/>
          </p14:sldIdLst>
        </p14:section>
        <p14:section name="Results" id="{47ac7530-ceb0-92fb-a2cc-10da697d753b}">
          <p14:sldIdLst>
            <p14:sldId id="262"/>
            <p14:sldId id="263"/>
            <p14:sldId id="264"/>
            <p14:sldId id="265"/>
          </p14:sldIdLst>
        </p14:section>
        <p14:section name="Wrap-up" id="{98a16b53-6aca-e42a-8a07-03e786d7abd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Adaptive (ours)</c:v>
                </c:pt>
              </c:strCache>
            </c:strRef>
          </c:tx>
          <c:spPr>
            <a:solidFill>
              <a:srgbClr val="0E8C7F"/>
            </a:solidFill>
            <a:effectLst/>
          </c:spPr>
          <c:invertIfNegative val="0"/>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cat>
            <c:multiLvlStrRef>
              <c:f>Sheet1!$A$2:$A$7</c:f>
              <c:multiLvlStrCache>
                <c:ptCount val="6"/>
                <c:lvl>
                  <c:pt idx="0">
                    <c:v>Latency spike</c:v>
                  </c:pt>
                  <c:pt idx="1">
                    <c:v>Bandwidth drop</c:v>
                  </c:pt>
                  <c:pt idx="2">
                    <c:v>Loss increase</c:v>
                  </c:pt>
                  <c:pt idx="3">
                    <c:v>Link failure</c:v>
                  </c:pt>
                  <c:pt idx="4">
                    <c:v>Congestion</c:v>
                  </c:pt>
                  <c:pt idx="5">
                    <c:v>Flapping link</c:v>
                  </c:pt>
                </c:lvl>
              </c:multiLvlStrCache>
            </c:multiLvlStrRef>
          </c:cat>
          <c:val>
            <c:numRef>
              <c:f>Sheet1!$B$2:$B$7</c:f>
              <c:numCache>
                <c:formatCode>General</c:formatCode>
                <c:ptCount val="6"/>
                <c:pt idx="0">
                  <c:v>0</c:v>
                </c:pt>
                <c:pt idx="1">
                  <c:v>0.51</c:v>
                </c:pt>
                <c:pt idx="2">
                  <c:v>0.1</c:v>
                </c:pt>
                <c:pt idx="3">
                  <c:v>0.74</c:v>
                </c:pt>
                <c:pt idx="4">
                  <c:v>0</c:v>
                </c:pt>
                <c:pt idx="5">
                  <c:v>0.74</c:v>
                </c:pt>
              </c:numCache>
            </c:numRef>
          </c:val>
        </c:ser>
        <c:ser>
          <c:idx val="1"/>
          <c:order val="1"/>
          <c:tx>
            <c:strRef>
              <c:f>Sheet1!$C$1</c:f>
              <c:strCache>
                <c:ptCount val="1"/>
                <c:pt idx="0">
                  <c:v>OSPF-like</c:v>
                </c:pt>
              </c:strCache>
            </c:strRef>
          </c:tx>
          <c:spPr>
            <a:solidFill>
              <a:srgbClr val="E8743B"/>
            </a:solidFill>
            <a:effectLst/>
          </c:spPr>
          <c:invertIfNegative val="0"/>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cat>
            <c:multiLvlStrRef>
              <c:f>Sheet1!$A$2:$A$7</c:f>
              <c:multiLvlStrCache>
                <c:ptCount val="6"/>
                <c:lvl>
                  <c:pt idx="0">
                    <c:v>Latency spike</c:v>
                  </c:pt>
                  <c:pt idx="1">
                    <c:v>Bandwidth drop</c:v>
                  </c:pt>
                  <c:pt idx="2">
                    <c:v>Loss increase</c:v>
                  </c:pt>
                  <c:pt idx="3">
                    <c:v>Link failure</c:v>
                  </c:pt>
                  <c:pt idx="4">
                    <c:v>Congestion</c:v>
                  </c:pt>
                  <c:pt idx="5">
                    <c:v>Flapping link</c:v>
                  </c:pt>
                </c:lvl>
              </c:multiLvlStrCache>
            </c:multiLvlStrRef>
          </c:cat>
          <c:val>
            <c:numRef>
              <c:f>Sheet1!$C$2:$C$7</c:f>
              <c:numCache>
                <c:formatCode>General</c:formatCode>
                <c:ptCount val="6"/>
                <c:pt idx="0">
                  <c:v>0</c:v>
                </c:pt>
                <c:pt idx="1">
                  <c:v>24.9</c:v>
                </c:pt>
                <c:pt idx="2">
                  <c:v>23.58</c:v>
                </c:pt>
                <c:pt idx="3">
                  <c:v>2</c:v>
                </c:pt>
                <c:pt idx="4">
                  <c:v>19.46</c:v>
                </c:pt>
                <c:pt idx="5">
                  <c:v>12.04</c:v>
                </c:pt>
              </c:numCache>
            </c:numRef>
          </c:val>
        </c:ser>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3E8EA"/>
              </a:solidFill>
              <a:prstDash val="solid"/>
              <a:round/>
            </a:ln>
          </c:spPr>
        </c:majorGridlines>
        <c:title>
          <c:tx>
            <c:rich>
              <a:bodyPr/>
              <a:lstStyle/>
              <a:p>
                <a:pPr>
                  <a:defRPr sz="1200" b="0" i="0" u="none" strike="noStrike">
                    <a:solidFill>
                      <a:srgbClr val="5B6770"/>
                    </a:solidFill>
                    <a:latin typeface="+mn-lt"/>
                  </a:defRPr>
                </a:pPr>
                <a:r>
                  <a:rPr sz="1200" b="0" i="0" u="none" strike="noStrike">
                    <a:solidFill>
                      <a:srgbClr val="5B6770"/>
                    </a:solidFill>
                    <a:latin typeface="+mn-lt"/>
                  </a:rPr>
                  <a:t>seconds (lower is better)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0"/>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300">
              <a:solidFill>
                <a:srgbClr val="1A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line: a routing protocol that looks at how the network is actually behaving right now (delay, packet loss, bandwidth, failures) and picks the best path, instead of always taking the shortest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with the diagram. OSPF and RIP choose paths using a fixed number (configured delay or hop count). They do not notice that a link is dropping packets or is congested. They only react when a link completely fails. Here the top path is shorter but loses 15% of packets, so it is actually worse for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link gets a score built from four things we can measure: delay, loss, free bandwidth, and how stable the link has been. Lower score is better. We then run Dijkstra, the same shortest-path algorithm OSPF uses, but on our smarter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simulator is the real network. The monitor sends probes every half second and averages them (EWMA) so one bad reading does not cause panic. The cost function combines the four metrics. Dijkstra picks the cheapest path. Then stability rules decide whether switching is worth it. Point out that the engine only sees measurements, never the true state, so the test is fair and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measured in 'effective milliseconds' so the parts can be added. Delay is already in ms. Loss is weighted heavily (300) because lost packets hurt users a lot. The minus-log form is a maths trick: delivery probability multiplies along a path, and taking the log turns that product into a sum, which is what Dijkstra needs. The weights are hand-tuned and can be changed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that reacts to everything would keep jumping between paths (route flapping), which is bad. These four rules keep it calm: a minimum improvement, a minimum time between switches, a memory of links that keep failing, and early detection of failing links. The last line is a subtle bug many adaptive designs have: a flow sees the load it created and runs away from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a simulator with an 8-router mesh. The highlighted path A-B-E-H is the shortest. We inject nine kinds of problems and compare our protocol against three standard approaches. Each experiment is repeated with 10 random seeds and checked with a statistical test, so the differences are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numbers to remember. Recovery from failure is about nine times faster because we move after one missed probe instead of three. In the bandwidth and congestion cases OSPF keeps sending traffic into a link that cannot carry it. On a flapping link OSPF keeps jumping back; we stay put. And on a healthy network both behave identically.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Degraded means the test flow was getting less than 90% of its normal throughput. The fault lasts 25 seconds. Orange bars near 25 mean OSPF was degraded almost the entire time. Our bars are all under one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is one experiment over 60 seconds. The flow wants 40 Mb/s. Blue (ours) dips for a moment when the fault starts, then goes straight back to 40. Orange (OSPF) stays down for the whole fault in bandwidth drop and congestion, and keeps crashing to zero on the flapping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from the demo. Our protocol noticed loss on B-E one second before OSPF declared the link dead, and it records why it switched. If time allows, open the dashboard (python -m irp dashboard) and inject a failure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 avoiding loss sometimes means a slightly longer path. Limitations are about the simulator, which is a simplification. Future work: learn the weights instead of hand-tuning, test on a packet-level emulator, and turn it into a real distributed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one-line takeaway,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rtlCol="0"/>
          <a:lstStyle>
            <a:lvl1pPr algn="l" indent="0" marL="0">
              <a:buNone/>
              <a:defRPr lang="en-US" sz="2200" dirty="0">
                <a:solidFill>
                  <a:srgbClr val="B9D9D4"/>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800" b="1" dirty="0">
                <a:solidFill>
                  <a:schemeClr val="bg1"/>
                </a:solidFill>
              </a:rPr>
              <a:t>Intelligent Routing Protocol</a:t>
            </a: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lIns="0" tIns="0" rIns="0" bIns="0" rtlCol="0" anchor="t"/>
          <a:lstStyle/>
          <a:p>
            <a:pPr algn="l" indent="0" marL="0">
              <a:buNone/>
            </a:pPr>
            <a:r>
              <a:rPr lang="en-US" sz="2200" dirty="0">
                <a:solidFill>
                  <a:srgbClr val="B9D9D4"/>
                </a:solidFill>
              </a:rPr>
              <a:t>Routing that picks paths from live network conditions, not just distance</a:t>
            </a:r>
            <a:endParaRPr lang="en-US" sz="2200" dirty="0"/>
          </a:p>
        </p:txBody>
      </p:sp>
      <p:sp>
        <p:nvSpPr>
          <p:cNvPr id="4" name="Shape 2"/>
          <p:cNvSpPr/>
          <p:nvPr/>
        </p:nvSpPr>
        <p:spPr>
          <a:xfrm flipV="1">
            <a:off x="9326880" y="548640"/>
            <a:ext cx="1005840" cy="365760"/>
          </a:xfrm>
          <a:prstGeom prst="line">
            <a:avLst/>
          </a:prstGeom>
          <a:noFill/>
          <a:ln w="25400">
            <a:solidFill>
              <a:srgbClr val="3E7C78"/>
            </a:solidFill>
            <a:prstDash val="solid"/>
          </a:ln>
        </p:spPr>
      </p:sp>
      <p:sp>
        <p:nvSpPr>
          <p:cNvPr id="5" name="Shape 3"/>
          <p:cNvSpPr/>
          <p:nvPr/>
        </p:nvSpPr>
        <p:spPr>
          <a:xfrm>
            <a:off x="10332720" y="548640"/>
            <a:ext cx="914400" cy="548640"/>
          </a:xfrm>
          <a:prstGeom prst="line">
            <a:avLst/>
          </a:prstGeom>
          <a:noFill/>
          <a:ln w="25400">
            <a:solidFill>
              <a:srgbClr val="3E7C78"/>
            </a:solidFill>
            <a:prstDash val="solid"/>
          </a:ln>
        </p:spPr>
      </p:sp>
      <p:sp>
        <p:nvSpPr>
          <p:cNvPr id="6" name="Shape 4"/>
          <p:cNvSpPr/>
          <p:nvPr/>
        </p:nvSpPr>
        <p:spPr>
          <a:xfrm flipV="1">
            <a:off x="10058400" y="1097280"/>
            <a:ext cx="1188720" cy="457200"/>
          </a:xfrm>
          <a:prstGeom prst="line">
            <a:avLst/>
          </a:prstGeom>
          <a:noFill/>
          <a:ln w="25400">
            <a:solidFill>
              <a:srgbClr val="3E7C78"/>
            </a:solidFill>
            <a:prstDash val="solid"/>
          </a:ln>
        </p:spPr>
      </p:sp>
      <p:sp>
        <p:nvSpPr>
          <p:cNvPr id="7" name="Shape 5"/>
          <p:cNvSpPr/>
          <p:nvPr/>
        </p:nvSpPr>
        <p:spPr>
          <a:xfrm>
            <a:off x="9326880" y="914400"/>
            <a:ext cx="731520" cy="640080"/>
          </a:xfrm>
          <a:prstGeom prst="line">
            <a:avLst/>
          </a:prstGeom>
          <a:noFill/>
          <a:ln w="25400">
            <a:solidFill>
              <a:srgbClr val="3E7C78"/>
            </a:solidFill>
            <a:prstDash val="solid"/>
          </a:ln>
        </p:spPr>
      </p:sp>
      <p:sp>
        <p:nvSpPr>
          <p:cNvPr id="8" name="Shape 6"/>
          <p:cNvSpPr/>
          <p:nvPr/>
        </p:nvSpPr>
        <p:spPr>
          <a:xfrm>
            <a:off x="9198864" y="786384"/>
            <a:ext cx="256032" cy="256032"/>
          </a:xfrm>
          <a:prstGeom prst="ellipse">
            <a:avLst/>
          </a:prstGeom>
          <a:solidFill>
            <a:schemeClr val="accent1"/>
          </a:solidFill>
          <a:ln w="12700">
            <a:solidFill>
              <a:schemeClr val="accent1"/>
            </a:solidFill>
            <a:prstDash val="solid"/>
          </a:ln>
        </p:spPr>
      </p:sp>
      <p:sp>
        <p:nvSpPr>
          <p:cNvPr id="9" name="Shape 7"/>
          <p:cNvSpPr/>
          <p:nvPr/>
        </p:nvSpPr>
        <p:spPr>
          <a:xfrm>
            <a:off x="10204704" y="420624"/>
            <a:ext cx="256032" cy="256032"/>
          </a:xfrm>
          <a:prstGeom prst="ellipse">
            <a:avLst/>
          </a:prstGeom>
          <a:solidFill>
            <a:schemeClr val="accent1"/>
          </a:solidFill>
          <a:ln w="12700">
            <a:solidFill>
              <a:schemeClr val="accent1"/>
            </a:solidFill>
            <a:prstDash val="solid"/>
          </a:ln>
        </p:spPr>
      </p:sp>
      <p:sp>
        <p:nvSpPr>
          <p:cNvPr id="10" name="Shape 8"/>
          <p:cNvSpPr/>
          <p:nvPr/>
        </p:nvSpPr>
        <p:spPr>
          <a:xfrm>
            <a:off x="11119104" y="969264"/>
            <a:ext cx="256032" cy="256032"/>
          </a:xfrm>
          <a:prstGeom prst="ellipse">
            <a:avLst/>
          </a:prstGeom>
          <a:solidFill>
            <a:schemeClr val="accent1"/>
          </a:solidFill>
          <a:ln w="12700">
            <a:solidFill>
              <a:schemeClr val="accent1"/>
            </a:solidFill>
            <a:prstDash val="solid"/>
          </a:ln>
        </p:spPr>
      </p:sp>
      <p:sp>
        <p:nvSpPr>
          <p:cNvPr id="11" name="Shape 9"/>
          <p:cNvSpPr/>
          <p:nvPr/>
        </p:nvSpPr>
        <p:spPr>
          <a:xfrm>
            <a:off x="9930384" y="1426464"/>
            <a:ext cx="256032" cy="256032"/>
          </a:xfrm>
          <a:prstGeom prst="ellipse">
            <a:avLst/>
          </a:prstGeom>
          <a:solidFill>
            <a:schemeClr val="accent1"/>
          </a:solidFill>
          <a:ln w="12700">
            <a:solidFill>
              <a:schemeClr val="accent1"/>
            </a:solidFill>
            <a:prstDash val="solid"/>
          </a:ln>
        </p:spPr>
      </p:sp>
      <p:sp>
        <p:nvSpPr>
          <p:cNvPr id="12" name="Text 10"/>
          <p:cNvSpPr txBox="1"/>
          <p:nvPr/>
        </p:nvSpPr>
        <p:spPr>
          <a:xfrm>
            <a:off x="731520" y="4937760"/>
            <a:ext cx="7315200" cy="1280160"/>
          </a:xfrm>
          <a:prstGeom prst="rect">
            <a:avLst/>
          </a:prstGeom>
          <a:noFill/>
          <a:ln/>
        </p:spPr>
        <p:txBody>
          <a:bodyPr wrap="square" lIns="0" tIns="0" rIns="0" bIns="0" rtlCol="0" anchor="t"/>
          <a:lstStyle/>
          <a:p>
            <a:pPr indent="0" marL="0">
              <a:buNone/>
            </a:pPr>
            <a:r>
              <a:rPr lang="en-US" sz="1600" b="1" dirty="0">
                <a:solidFill>
                  <a:srgbClr val="B9D9D4"/>
                </a:solidFill>
              </a:rPr>
              <a:t>Slot F2  ·  Team 18</a:t>
            </a:r>
          </a:p>
          <a:p>
            <a:pPr indent="0" marL="0">
              <a:buNone/>
            </a:pPr>
            <a:r>
              <a:rPr lang="en-US" sz="1400" dirty="0">
                <a:solidFill>
                  <a:srgbClr val="B9D9D4"/>
                </a:solidFill>
              </a:rPr>
              <a:t>Neha Damani  ·  24BCE2431</a:t>
            </a:r>
          </a:p>
          <a:p>
            <a:pPr indent="0" marL="0">
              <a:buNone/>
            </a:pPr>
            <a:r>
              <a:rPr lang="en-US" sz="1400" dirty="0">
                <a:solidFill>
                  <a:srgbClr val="B9D9D4"/>
                </a:solidFill>
              </a:rPr>
              <a:t>Thipireddy Bhuvana Kruthi  ·  24BCE2430</a:t>
            </a:r>
          </a:p>
          <a:p>
            <a:pPr indent="0" marL="0">
              <a:buNone/>
            </a:pPr>
            <a:r>
              <a:rPr lang="en-US" sz="1400" dirty="0">
                <a:solidFill>
                  <a:srgbClr val="B9D9D4"/>
                </a:solidFill>
              </a:rPr>
              <a:t>Afreen Faizal  ·  24BCE2514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The shortest path is not always the best path</a:t>
            </a:r>
            <a:endParaRPr lang="en-US" sz="3400" dirty="0"/>
          </a:p>
        </p:txBody>
      </p:sp>
      <p:sp>
        <p:nvSpPr>
          <p:cNvPr id="3" name="Shape 1"/>
          <p:cNvSpPr/>
          <p:nvPr/>
        </p:nvSpPr>
        <p:spPr>
          <a:xfrm flipV="1">
            <a:off x="1280160" y="2194560"/>
            <a:ext cx="2103120" cy="1371600"/>
          </a:xfrm>
          <a:prstGeom prst="line">
            <a:avLst/>
          </a:prstGeom>
          <a:noFill/>
          <a:ln w="50800">
            <a:solidFill>
              <a:srgbClr val="E8743B"/>
            </a:solidFill>
            <a:prstDash val="solid"/>
          </a:ln>
        </p:spPr>
      </p:sp>
      <p:sp>
        <p:nvSpPr>
          <p:cNvPr id="4" name="Shape 2"/>
          <p:cNvSpPr/>
          <p:nvPr/>
        </p:nvSpPr>
        <p:spPr>
          <a:xfrm>
            <a:off x="3383280" y="2194560"/>
            <a:ext cx="2103120" cy="1371600"/>
          </a:xfrm>
          <a:prstGeom prst="line">
            <a:avLst/>
          </a:prstGeom>
          <a:noFill/>
          <a:ln w="50800">
            <a:solidFill>
              <a:srgbClr val="E8743B"/>
            </a:solidFill>
            <a:prstDash val="solid"/>
          </a:ln>
        </p:spPr>
      </p:sp>
      <p:sp>
        <p:nvSpPr>
          <p:cNvPr id="5" name="Shape 3"/>
          <p:cNvSpPr/>
          <p:nvPr/>
        </p:nvSpPr>
        <p:spPr>
          <a:xfrm>
            <a:off x="1280160" y="3566160"/>
            <a:ext cx="2103120" cy="1371600"/>
          </a:xfrm>
          <a:prstGeom prst="line">
            <a:avLst/>
          </a:prstGeom>
          <a:noFill/>
          <a:ln w="50800">
            <a:solidFill>
              <a:srgbClr val="0E8C7F"/>
            </a:solidFill>
            <a:prstDash val="solid"/>
          </a:ln>
        </p:spPr>
      </p:sp>
      <p:sp>
        <p:nvSpPr>
          <p:cNvPr id="6" name="Shape 4"/>
          <p:cNvSpPr/>
          <p:nvPr/>
        </p:nvSpPr>
        <p:spPr>
          <a:xfrm flipV="1">
            <a:off x="3383280" y="3566160"/>
            <a:ext cx="2103120" cy="1371600"/>
          </a:xfrm>
          <a:prstGeom prst="line">
            <a:avLst/>
          </a:prstGeom>
          <a:noFill/>
          <a:ln w="50800">
            <a:solidFill>
              <a:srgbClr val="0E8C7F"/>
            </a:solidFill>
            <a:prstDash val="solid"/>
          </a:ln>
        </p:spPr>
      </p:sp>
      <p:sp>
        <p:nvSpPr>
          <p:cNvPr id="7" name="Shape 5"/>
          <p:cNvSpPr/>
          <p:nvPr/>
        </p:nvSpPr>
        <p:spPr>
          <a:xfrm>
            <a:off x="1005840" y="3291840"/>
            <a:ext cx="548640" cy="548640"/>
          </a:xfrm>
          <a:prstGeom prst="ellipse">
            <a:avLst/>
          </a:prstGeom>
          <a:solidFill>
            <a:schemeClr val="tx2"/>
          </a:solidFill>
          <a:ln w="25400">
            <a:solidFill>
              <a:schemeClr val="bg1"/>
            </a:solidFill>
            <a:prstDash val="solid"/>
          </a:ln>
        </p:spPr>
      </p:sp>
      <p:sp>
        <p:nvSpPr>
          <p:cNvPr id="8" name="Text 6"/>
          <p:cNvSpPr txBox="1"/>
          <p:nvPr/>
        </p:nvSpPr>
        <p:spPr>
          <a:xfrm>
            <a:off x="1005840" y="3291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Shape 7"/>
          <p:cNvSpPr/>
          <p:nvPr/>
        </p:nvSpPr>
        <p:spPr>
          <a:xfrm>
            <a:off x="3108960" y="1920240"/>
            <a:ext cx="548640" cy="548640"/>
          </a:xfrm>
          <a:prstGeom prst="ellipse">
            <a:avLst/>
          </a:prstGeom>
          <a:solidFill>
            <a:schemeClr val="tx2"/>
          </a:solidFill>
          <a:ln w="25400">
            <a:solidFill>
              <a:schemeClr val="bg1"/>
            </a:solidFill>
            <a:prstDash val="solid"/>
          </a:ln>
        </p:spPr>
      </p:sp>
      <p:sp>
        <p:nvSpPr>
          <p:cNvPr id="10" name="Text 8"/>
          <p:cNvSpPr txBox="1"/>
          <p:nvPr/>
        </p:nvSpPr>
        <p:spPr>
          <a:xfrm>
            <a:off x="3108960"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1" name="Shape 9"/>
          <p:cNvSpPr/>
          <p:nvPr/>
        </p:nvSpPr>
        <p:spPr>
          <a:xfrm>
            <a:off x="3108960" y="4663440"/>
            <a:ext cx="548640" cy="548640"/>
          </a:xfrm>
          <a:prstGeom prst="ellipse">
            <a:avLst/>
          </a:prstGeom>
          <a:solidFill>
            <a:schemeClr val="tx2"/>
          </a:solidFill>
          <a:ln w="25400">
            <a:solidFill>
              <a:schemeClr val="bg1"/>
            </a:solidFill>
            <a:prstDash val="solid"/>
          </a:ln>
        </p:spPr>
      </p:sp>
      <p:sp>
        <p:nvSpPr>
          <p:cNvPr id="12" name="Text 10"/>
          <p:cNvSpPr txBox="1"/>
          <p:nvPr/>
        </p:nvSpPr>
        <p:spPr>
          <a:xfrm>
            <a:off x="3108960" y="4663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3" name="Shape 11"/>
          <p:cNvSpPr/>
          <p:nvPr/>
        </p:nvSpPr>
        <p:spPr>
          <a:xfrm>
            <a:off x="5212080" y="3291840"/>
            <a:ext cx="548640" cy="548640"/>
          </a:xfrm>
          <a:prstGeom prst="ellipse">
            <a:avLst/>
          </a:prstGeom>
          <a:solidFill>
            <a:schemeClr val="tx2"/>
          </a:solidFill>
          <a:ln w="25400">
            <a:solidFill>
              <a:schemeClr val="bg1"/>
            </a:solidFill>
            <a:prstDash val="solid"/>
          </a:ln>
        </p:spPr>
      </p:sp>
      <p:sp>
        <p:nvSpPr>
          <p:cNvPr id="14" name="Text 12"/>
          <p:cNvSpPr txBox="1"/>
          <p:nvPr/>
        </p:nvSpPr>
        <p:spPr>
          <a:xfrm>
            <a:off x="5212080" y="3291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5" name="Text 13"/>
          <p:cNvSpPr txBox="1"/>
          <p:nvPr/>
        </p:nvSpPr>
        <p:spPr>
          <a:xfrm>
            <a:off x="2377440" y="1600200"/>
            <a:ext cx="2194560" cy="320040"/>
          </a:xfrm>
          <a:prstGeom prst="rect">
            <a:avLst/>
          </a:prstGeom>
          <a:noFill/>
          <a:ln/>
        </p:spPr>
        <p:txBody>
          <a:bodyPr wrap="square" lIns="0" tIns="0" rIns="0" bIns="0" rtlCol="0" anchor="t"/>
          <a:lstStyle/>
          <a:p>
            <a:pPr algn="ctr" indent="0" marL="0">
              <a:buNone/>
            </a:pPr>
            <a:r>
              <a:rPr lang="en-US" sz="1500" b="1" dirty="0">
                <a:solidFill>
                  <a:schemeClr val="accent2"/>
                </a:solidFill>
              </a:rPr>
              <a:t>20 ms · 15% loss</a:t>
            </a:r>
            <a:endParaRPr lang="en-US" sz="1500" dirty="0"/>
          </a:p>
        </p:txBody>
      </p:sp>
      <p:sp>
        <p:nvSpPr>
          <p:cNvPr id="16" name="Text 14"/>
          <p:cNvSpPr txBox="1"/>
          <p:nvPr/>
        </p:nvSpPr>
        <p:spPr>
          <a:xfrm>
            <a:off x="2377440" y="5349240"/>
            <a:ext cx="2194560" cy="320040"/>
          </a:xfrm>
          <a:prstGeom prst="rect">
            <a:avLst/>
          </a:prstGeom>
          <a:noFill/>
          <a:ln/>
        </p:spPr>
        <p:txBody>
          <a:bodyPr wrap="square" lIns="0" tIns="0" rIns="0" bIns="0" rtlCol="0" anchor="t"/>
          <a:lstStyle/>
          <a:p>
            <a:pPr algn="ctr" indent="0" marL="0">
              <a:buNone/>
            </a:pPr>
            <a:r>
              <a:rPr lang="en-US" sz="1500" b="1" dirty="0">
                <a:solidFill>
                  <a:schemeClr val="accent1"/>
                </a:solidFill>
              </a:rPr>
              <a:t>35 ms · 1% loss</a:t>
            </a:r>
            <a:endParaRPr lang="en-US" sz="1500" dirty="0"/>
          </a:p>
        </p:txBody>
      </p:sp>
      <p:sp>
        <p:nvSpPr>
          <p:cNvPr id="17" name="ospfCard"/>
          <p:cNvSpPr/>
          <p:nvPr/>
        </p:nvSpPr>
        <p:spPr>
          <a:xfrm>
            <a:off x="6583680" y="1554480"/>
            <a:ext cx="5029200" cy="1828800"/>
          </a:xfrm>
          <a:prstGeom prst="roundRect">
            <a:avLst>
              <a:gd name="adj" fmla="val 6000"/>
            </a:avLst>
          </a:prstGeom>
          <a:solidFill>
            <a:srgbClr val="FCEDE4"/>
          </a:solidFill>
          <a:ln w="12700">
            <a:solidFill>
              <a:srgbClr val="FCEDE4"/>
            </a:solidFill>
            <a:prstDash val="solid"/>
          </a:ln>
        </p:spPr>
      </p:sp>
      <p:sp>
        <p:nvSpPr>
          <p:cNvPr id="18" name="Text 16"/>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Shortest-path routing (OSPF, RIP)</a:t>
            </a:r>
            <a:endParaRPr lang="en-US" sz="1800" dirty="0"/>
          </a:p>
        </p:txBody>
      </p:sp>
      <p:sp>
        <p:nvSpPr>
          <p:cNvPr id="19" name="Text 17"/>
          <p:cNvSpPr txBox="1"/>
          <p:nvPr/>
        </p:nvSpPr>
        <p:spPr>
          <a:xfrm>
            <a:off x="6858000" y="2194560"/>
            <a:ext cx="4572000" cy="1005840"/>
          </a:xfrm>
          <a:prstGeom prst="rect">
            <a:avLst/>
          </a:prstGeom>
          <a:noFill/>
          <a:ln/>
        </p:spPr>
        <p:txBody>
          <a:bodyPr wrap="square" lIns="0" tIns="0" rIns="0" bIns="0" rtlCol="0" anchor="t"/>
          <a:lstStyle/>
          <a:p>
            <a:pPr indent="0" marL="0">
              <a:buNone/>
            </a:pPr>
            <a:r>
              <a:rPr lang="en-US" sz="1600" dirty="0">
                <a:solidFill>
                  <a:schemeClr val="tx1"/>
                </a:solidFill>
              </a:rPr>
              <a:t>Picks A → B → D because it is 15 ms faster, and loses 15 of every 100 packets.</a:t>
            </a:r>
            <a:endParaRPr lang="en-US" sz="1600" dirty="0"/>
          </a:p>
        </p:txBody>
      </p:sp>
      <p:sp>
        <p:nvSpPr>
          <p:cNvPr id="20" name="irpCard"/>
          <p:cNvSpPr/>
          <p:nvPr/>
        </p:nvSpPr>
        <p:spPr>
          <a:xfrm>
            <a:off x="6583680" y="3657600"/>
            <a:ext cx="5029200" cy="1828800"/>
          </a:xfrm>
          <a:prstGeom prst="roundRect">
            <a:avLst>
              <a:gd name="adj" fmla="val 6000"/>
            </a:avLst>
          </a:prstGeom>
          <a:solidFill>
            <a:srgbClr val="E3F2EF"/>
          </a:solidFill>
          <a:ln w="12700">
            <a:solidFill>
              <a:srgbClr val="E3F2EF"/>
            </a:solidFill>
            <a:prstDash val="solid"/>
          </a:ln>
        </p:spPr>
      </p:sp>
      <p:sp>
        <p:nvSpPr>
          <p:cNvPr id="21" name="Text 19"/>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1800" b="1" dirty="0">
                <a:solidFill>
                  <a:schemeClr val="accent1"/>
                </a:solidFill>
              </a:rPr>
              <a:t>Our protocol</a:t>
            </a:r>
            <a:endParaRPr lang="en-US" sz="1800" dirty="0"/>
          </a:p>
        </p:txBody>
      </p:sp>
      <p:sp>
        <p:nvSpPr>
          <p:cNvPr id="22" name="Text 20"/>
          <p:cNvSpPr txBox="1"/>
          <p:nvPr/>
        </p:nvSpPr>
        <p:spPr>
          <a:xfrm>
            <a:off x="6858000" y="4297680"/>
            <a:ext cx="4572000" cy="1005840"/>
          </a:xfrm>
          <a:prstGeom prst="rect">
            <a:avLst/>
          </a:prstGeom>
          <a:noFill/>
          <a:ln/>
        </p:spPr>
        <p:txBody>
          <a:bodyPr wrap="square" lIns="0" tIns="0" rIns="0" bIns="0" rtlCol="0" anchor="t"/>
          <a:lstStyle/>
          <a:p>
            <a:pPr indent="0" marL="0">
              <a:buNone/>
            </a:pPr>
            <a:r>
              <a:rPr lang="en-US" sz="1600" dirty="0">
                <a:solidFill>
                  <a:schemeClr val="tx1"/>
                </a:solidFill>
              </a:rPr>
              <a:t>Picks A → C → D. 15 ms of extra delay is a small price for not losing packets.</a:t>
            </a:r>
            <a:endParaRPr lang="en-US" sz="1600" dirty="0"/>
          </a:p>
        </p:txBody>
      </p:sp>
      <p:sp>
        <p:nvSpPr>
          <p:cNvPr id="23" name="Text 21"/>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chemeClr val="accent4"/>
                </a:solidFill>
              </a:rPr>
              <a:t>Classic protocols use a fixed metric (distance or hop count) and only react when a link fully goes down.</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The idea: score every link on four live measurements</a:t>
            </a:r>
            <a:endParaRPr lang="en-US" sz="3400" dirty="0"/>
          </a:p>
        </p:txBody>
      </p:sp>
      <p:sp>
        <p:nvSpPr>
          <p:cNvPr id="3" name="metric0"/>
          <p:cNvSpPr/>
          <p:nvPr/>
        </p:nvSpPr>
        <p:spPr>
          <a:xfrm>
            <a:off x="548640" y="1554480"/>
            <a:ext cx="2606040" cy="2743200"/>
          </a:xfrm>
          <a:prstGeom prst="roundRect">
            <a:avLst>
              <a:gd name="adj" fmla="val 4211"/>
            </a:avLst>
          </a:prstGeom>
          <a:solidFill>
            <a:srgbClr val="F3F6F6"/>
          </a:solidFill>
          <a:ln w="12700">
            <a:solidFill>
              <a:srgbClr val="F3F6F6"/>
            </a:solidFill>
            <a:prstDash val="solid"/>
          </a:ln>
        </p:spPr>
      </p:sp>
      <p:sp>
        <p:nvSpPr>
          <p:cNvPr id="4" name="Shape 2"/>
          <p:cNvSpPr/>
          <p:nvPr/>
        </p:nvSpPr>
        <p:spPr>
          <a:xfrm>
            <a:off x="822960" y="178308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822960"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822960"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Delay</a:t>
            </a:r>
            <a:endParaRPr lang="en-US" sz="2000" dirty="0"/>
          </a:p>
        </p:txBody>
      </p:sp>
      <p:sp>
        <p:nvSpPr>
          <p:cNvPr id="7" name="Text 5"/>
          <p:cNvSpPr txBox="1"/>
          <p:nvPr/>
        </p:nvSpPr>
        <p:spPr>
          <a:xfrm>
            <a:off x="822960"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How long packets take, including queueing delay when the link is busy</a:t>
            </a:r>
            <a:endParaRPr lang="en-US" sz="1500" dirty="0"/>
          </a:p>
        </p:txBody>
      </p:sp>
      <p:sp>
        <p:nvSpPr>
          <p:cNvPr id="8" name="metric1"/>
          <p:cNvSpPr/>
          <p:nvPr/>
        </p:nvSpPr>
        <p:spPr>
          <a:xfrm>
            <a:off x="3364992" y="1554480"/>
            <a:ext cx="2606040" cy="2743200"/>
          </a:xfrm>
          <a:prstGeom prst="roundRect">
            <a:avLst>
              <a:gd name="adj" fmla="val 4211"/>
            </a:avLst>
          </a:prstGeom>
          <a:solidFill>
            <a:srgbClr val="F3F6F6"/>
          </a:solidFill>
          <a:ln w="12700">
            <a:solidFill>
              <a:srgbClr val="F3F6F6"/>
            </a:solidFill>
            <a:prstDash val="solid"/>
          </a:ln>
        </p:spPr>
      </p:sp>
      <p:sp>
        <p:nvSpPr>
          <p:cNvPr id="9" name="Shape 7"/>
          <p:cNvSpPr/>
          <p:nvPr/>
        </p:nvSpPr>
        <p:spPr>
          <a:xfrm>
            <a:off x="3639312" y="1783080"/>
            <a:ext cx="640080" cy="640080"/>
          </a:xfrm>
          <a:prstGeom prst="ellipse">
            <a:avLst/>
          </a:prstGeom>
          <a:solidFill>
            <a:schemeClr val="accent2"/>
          </a:solidFill>
          <a:ln w="12700">
            <a:solidFill>
              <a:schemeClr val="accent2"/>
            </a:solidFill>
            <a:prstDash val="solid"/>
          </a:ln>
        </p:spPr>
      </p:sp>
      <p:sp>
        <p:nvSpPr>
          <p:cNvPr id="10" name="Text 8"/>
          <p:cNvSpPr txBox="1"/>
          <p:nvPr/>
        </p:nvSpPr>
        <p:spPr>
          <a:xfrm>
            <a:off x="3639312"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1" name="Text 9"/>
          <p:cNvSpPr txBox="1"/>
          <p:nvPr/>
        </p:nvSpPr>
        <p:spPr>
          <a:xfrm>
            <a:off x="3639312"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Packet loss</a:t>
            </a:r>
            <a:endParaRPr lang="en-US" sz="2000" dirty="0"/>
          </a:p>
        </p:txBody>
      </p:sp>
      <p:sp>
        <p:nvSpPr>
          <p:cNvPr id="12" name="Text 10"/>
          <p:cNvSpPr txBox="1"/>
          <p:nvPr/>
        </p:nvSpPr>
        <p:spPr>
          <a:xfrm>
            <a:off x="3639312"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What fraction of packets are being dropped on the link</a:t>
            </a:r>
            <a:endParaRPr lang="en-US" sz="1500" dirty="0"/>
          </a:p>
        </p:txBody>
      </p:sp>
      <p:sp>
        <p:nvSpPr>
          <p:cNvPr id="13" name="metric2"/>
          <p:cNvSpPr/>
          <p:nvPr/>
        </p:nvSpPr>
        <p:spPr>
          <a:xfrm>
            <a:off x="6181344" y="1554480"/>
            <a:ext cx="2606040" cy="2743200"/>
          </a:xfrm>
          <a:prstGeom prst="roundRect">
            <a:avLst>
              <a:gd name="adj" fmla="val 4211"/>
            </a:avLst>
          </a:prstGeom>
          <a:solidFill>
            <a:srgbClr val="F3F6F6"/>
          </a:solidFill>
          <a:ln w="12700">
            <a:solidFill>
              <a:srgbClr val="F3F6F6"/>
            </a:solidFill>
            <a:prstDash val="solid"/>
          </a:ln>
        </p:spPr>
      </p:sp>
      <p:sp>
        <p:nvSpPr>
          <p:cNvPr id="14" name="Shape 12"/>
          <p:cNvSpPr/>
          <p:nvPr/>
        </p:nvSpPr>
        <p:spPr>
          <a:xfrm>
            <a:off x="6455664" y="1783080"/>
            <a:ext cx="640080" cy="640080"/>
          </a:xfrm>
          <a:prstGeom prst="ellipse">
            <a:avLst/>
          </a:prstGeom>
          <a:solidFill>
            <a:schemeClr val="accent5"/>
          </a:solidFill>
          <a:ln w="12700">
            <a:solidFill>
              <a:schemeClr val="accent5"/>
            </a:solidFill>
            <a:prstDash val="solid"/>
          </a:ln>
        </p:spPr>
      </p:sp>
      <p:sp>
        <p:nvSpPr>
          <p:cNvPr id="15" name="Text 13"/>
          <p:cNvSpPr txBox="1"/>
          <p:nvPr/>
        </p:nvSpPr>
        <p:spPr>
          <a:xfrm>
            <a:off x="6455664"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Text 14"/>
          <p:cNvSpPr txBox="1"/>
          <p:nvPr/>
        </p:nvSpPr>
        <p:spPr>
          <a:xfrm>
            <a:off x="6455664"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Free bandwidth</a:t>
            </a:r>
            <a:endParaRPr lang="en-US" sz="2000" dirty="0"/>
          </a:p>
        </p:txBody>
      </p:sp>
      <p:sp>
        <p:nvSpPr>
          <p:cNvPr id="17" name="Text 15"/>
          <p:cNvSpPr txBox="1"/>
          <p:nvPr/>
        </p:nvSpPr>
        <p:spPr>
          <a:xfrm>
            <a:off x="6455664"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How much spare capacity is left for our traffic</a:t>
            </a:r>
            <a:endParaRPr lang="en-US" sz="1500" dirty="0"/>
          </a:p>
        </p:txBody>
      </p:sp>
      <p:sp>
        <p:nvSpPr>
          <p:cNvPr id="18" name="metric3"/>
          <p:cNvSpPr/>
          <p:nvPr/>
        </p:nvSpPr>
        <p:spPr>
          <a:xfrm>
            <a:off x="8997696" y="1554480"/>
            <a:ext cx="2606040" cy="2743200"/>
          </a:xfrm>
          <a:prstGeom prst="roundRect">
            <a:avLst>
              <a:gd name="adj" fmla="val 4211"/>
            </a:avLst>
          </a:prstGeom>
          <a:solidFill>
            <a:srgbClr val="F3F6F6"/>
          </a:solidFill>
          <a:ln w="12700">
            <a:solidFill>
              <a:srgbClr val="F3F6F6"/>
            </a:solidFill>
            <a:prstDash val="solid"/>
          </a:ln>
        </p:spPr>
      </p:sp>
      <p:sp>
        <p:nvSpPr>
          <p:cNvPr id="19" name="Shape 17"/>
          <p:cNvSpPr/>
          <p:nvPr/>
        </p:nvSpPr>
        <p:spPr>
          <a:xfrm>
            <a:off x="9272016" y="1783080"/>
            <a:ext cx="640080" cy="640080"/>
          </a:xfrm>
          <a:prstGeom prst="ellipse">
            <a:avLst/>
          </a:prstGeom>
          <a:solidFill>
            <a:schemeClr val="accent3"/>
          </a:solidFill>
          <a:ln w="12700">
            <a:solidFill>
              <a:schemeClr val="accent3"/>
            </a:solidFill>
            <a:prstDash val="solid"/>
          </a:ln>
        </p:spPr>
      </p:sp>
      <p:sp>
        <p:nvSpPr>
          <p:cNvPr id="20" name="Text 18"/>
          <p:cNvSpPr txBox="1"/>
          <p:nvPr/>
        </p:nvSpPr>
        <p:spPr>
          <a:xfrm>
            <a:off x="9272016"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1" name="Text 19"/>
          <p:cNvSpPr txBox="1"/>
          <p:nvPr/>
        </p:nvSpPr>
        <p:spPr>
          <a:xfrm>
            <a:off x="9272016"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Stability</a:t>
            </a:r>
            <a:endParaRPr lang="en-US" sz="2000" dirty="0"/>
          </a:p>
        </p:txBody>
      </p:sp>
      <p:sp>
        <p:nvSpPr>
          <p:cNvPr id="22" name="Text 20"/>
          <p:cNvSpPr txBox="1"/>
          <p:nvPr/>
        </p:nvSpPr>
        <p:spPr>
          <a:xfrm>
            <a:off x="9272016"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Has the link gone up and down recently (flapping)?</a:t>
            </a:r>
            <a:endParaRPr lang="en-US" sz="1500" dirty="0"/>
          </a:p>
        </p:txBody>
      </p:sp>
      <p:sp>
        <p:nvSpPr>
          <p:cNvPr id="23" name="ideaBox"/>
          <p:cNvSpPr/>
          <p:nvPr/>
        </p:nvSpPr>
        <p:spPr>
          <a:xfrm>
            <a:off x="548640" y="4617720"/>
            <a:ext cx="11064240" cy="1371600"/>
          </a:xfrm>
          <a:prstGeom prst="roundRect">
            <a:avLst>
              <a:gd name="adj" fmla="val 8000"/>
            </a:avLst>
          </a:prstGeom>
          <a:solidFill>
            <a:srgbClr val="E3F2EF"/>
          </a:solidFill>
          <a:ln w="12700">
            <a:solidFill>
              <a:srgbClr val="E3F2EF"/>
            </a:solidFill>
            <a:prstDash val="solid"/>
          </a:ln>
        </p:spPr>
      </p:sp>
      <p:sp>
        <p:nvSpPr>
          <p:cNvPr id="24" name="Text 22"/>
          <p:cNvSpPr txBox="1"/>
          <p:nvPr/>
        </p:nvSpPr>
        <p:spPr>
          <a:xfrm>
            <a:off x="822960" y="4846320"/>
            <a:ext cx="10515600" cy="914400"/>
          </a:xfrm>
          <a:prstGeom prst="rect">
            <a:avLst/>
          </a:prstGeom>
          <a:noFill/>
          <a:ln/>
        </p:spPr>
        <p:txBody>
          <a:bodyPr wrap="square" lIns="0" tIns="0" rIns="0" bIns="0" rtlCol="0" anchor="ctr"/>
          <a:lstStyle/>
          <a:p>
            <a:pPr indent="0" marL="0">
              <a:buNone/>
            </a:pPr>
            <a:r>
              <a:rPr lang="en-US" sz="1700" b="1" dirty="0">
                <a:solidFill>
                  <a:schemeClr val="tx2"/>
                </a:solidFill>
              </a:rPr>
              <a:t>These four are combined into one cost per link. </a:t>
            </a:r>
            <a:pPr indent="0" marL="0">
              <a:buNone/>
            </a:pPr>
            <a:r>
              <a:rPr lang="en-US" sz="1700" dirty="0">
                <a:solidFill>
                  <a:schemeClr val="tx1"/>
                </a:solidFill>
              </a:rPr>
              <a:t>Dijkstra's algorithm then finds the cheapest path. When conditions change, costs change and the route is recalculated automatically.</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How it works: measure, score, choose, stay stable</a:t>
            </a:r>
            <a:endParaRPr lang="en-US" sz="3400" dirty="0"/>
          </a:p>
        </p:txBody>
      </p:sp>
      <p:sp>
        <p:nvSpPr>
          <p:cNvPr id="3" name="step0"/>
          <p:cNvSpPr/>
          <p:nvPr/>
        </p:nvSpPr>
        <p:spPr>
          <a:xfrm>
            <a:off x="548640" y="1828800"/>
            <a:ext cx="2011680" cy="2651760"/>
          </a:xfrm>
          <a:prstGeom prst="roundRect">
            <a:avLst>
              <a:gd name="adj" fmla="val 5455"/>
            </a:avLst>
          </a:prstGeom>
          <a:solidFill>
            <a:srgbClr val="F3F6F6"/>
          </a:solidFill>
          <a:ln w="12700">
            <a:solidFill>
              <a:srgbClr val="F3F6F6"/>
            </a:solidFill>
            <a:prstDash val="solid"/>
          </a:ln>
        </p:spPr>
      </p:sp>
      <p:sp>
        <p:nvSpPr>
          <p:cNvPr id="4" name="Shape 2"/>
          <p:cNvSpPr/>
          <p:nvPr/>
        </p:nvSpPr>
        <p:spPr>
          <a:xfrm>
            <a:off x="731520" y="2011680"/>
            <a:ext cx="502920" cy="502920"/>
          </a:xfrm>
          <a:prstGeom prst="ellipse">
            <a:avLst/>
          </a:prstGeom>
          <a:solidFill>
            <a:schemeClr val="accent4"/>
          </a:solidFill>
          <a:ln w="12700">
            <a:solidFill>
              <a:schemeClr val="accent4"/>
            </a:solidFill>
            <a:prstDash val="solid"/>
          </a:ln>
        </p:spPr>
      </p:sp>
      <p:sp>
        <p:nvSpPr>
          <p:cNvPr id="5" name="Text 3"/>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31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Network</a:t>
            </a:r>
            <a:endParaRPr lang="en-US" sz="1800" dirty="0"/>
          </a:p>
        </p:txBody>
      </p:sp>
      <p:sp>
        <p:nvSpPr>
          <p:cNvPr id="7" name="Text 5"/>
          <p:cNvSpPr txBox="1"/>
          <p:nvPr/>
        </p:nvSpPr>
        <p:spPr>
          <a:xfrm>
            <a:off x="731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Simulated routers and links. Faults happen here (delay spikes, loss, failures)</a:t>
            </a:r>
            <a:endParaRPr lang="en-US" sz="1400" dirty="0"/>
          </a:p>
        </p:txBody>
      </p:sp>
      <p:sp>
        <p:nvSpPr>
          <p:cNvPr id="8" name="Shape 6"/>
          <p:cNvSpPr/>
          <p:nvPr/>
        </p:nvSpPr>
        <p:spPr>
          <a:xfrm>
            <a:off x="2596896" y="3017520"/>
            <a:ext cx="201168" cy="274320"/>
          </a:xfrm>
          <a:prstGeom prst="rightArrow">
            <a:avLst/>
          </a:prstGeom>
          <a:solidFill>
            <a:schemeClr val="accent4"/>
          </a:solidFill>
          <a:ln w="12700">
            <a:solidFill>
              <a:schemeClr val="accent4"/>
            </a:solidFill>
            <a:prstDash val="solid"/>
          </a:ln>
        </p:spPr>
      </p:sp>
      <p:sp>
        <p:nvSpPr>
          <p:cNvPr id="9" name="step1"/>
          <p:cNvSpPr/>
          <p:nvPr/>
        </p:nvSpPr>
        <p:spPr>
          <a:xfrm>
            <a:off x="2834640" y="1828800"/>
            <a:ext cx="2011680" cy="2651760"/>
          </a:xfrm>
          <a:prstGeom prst="roundRect">
            <a:avLst>
              <a:gd name="adj" fmla="val 5455"/>
            </a:avLst>
          </a:prstGeom>
          <a:solidFill>
            <a:srgbClr val="E3F2EF"/>
          </a:solidFill>
          <a:ln w="12700">
            <a:solidFill>
              <a:srgbClr val="E3F2EF"/>
            </a:solidFill>
            <a:prstDash val="solid"/>
          </a:ln>
        </p:spPr>
      </p:sp>
      <p:sp>
        <p:nvSpPr>
          <p:cNvPr id="10" name="Shape 8"/>
          <p:cNvSpPr/>
          <p:nvPr/>
        </p:nvSpPr>
        <p:spPr>
          <a:xfrm>
            <a:off x="3017520" y="20116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3017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017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Link Monitor</a:t>
            </a:r>
            <a:endParaRPr lang="en-US" sz="1800" dirty="0"/>
          </a:p>
        </p:txBody>
      </p:sp>
      <p:sp>
        <p:nvSpPr>
          <p:cNvPr id="13" name="Text 11"/>
          <p:cNvSpPr txBox="1"/>
          <p:nvPr/>
        </p:nvSpPr>
        <p:spPr>
          <a:xfrm>
            <a:off x="3017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Probes every link every 0.5 s and smooths the noisy readings</a:t>
            </a:r>
            <a:endParaRPr lang="en-US" sz="1400" dirty="0"/>
          </a:p>
        </p:txBody>
      </p:sp>
      <p:sp>
        <p:nvSpPr>
          <p:cNvPr id="14" name="Shape 12"/>
          <p:cNvSpPr/>
          <p:nvPr/>
        </p:nvSpPr>
        <p:spPr>
          <a:xfrm>
            <a:off x="4882896" y="3017520"/>
            <a:ext cx="201168" cy="274320"/>
          </a:xfrm>
          <a:prstGeom prst="rightArrow">
            <a:avLst/>
          </a:prstGeom>
          <a:solidFill>
            <a:schemeClr val="accent4"/>
          </a:solidFill>
          <a:ln w="12700">
            <a:solidFill>
              <a:schemeClr val="accent4"/>
            </a:solidFill>
            <a:prstDash val="solid"/>
          </a:ln>
        </p:spPr>
      </p:sp>
      <p:sp>
        <p:nvSpPr>
          <p:cNvPr id="15" name="step2"/>
          <p:cNvSpPr/>
          <p:nvPr/>
        </p:nvSpPr>
        <p:spPr>
          <a:xfrm>
            <a:off x="5120640" y="1828800"/>
            <a:ext cx="2011680" cy="2651760"/>
          </a:xfrm>
          <a:prstGeom prst="roundRect">
            <a:avLst>
              <a:gd name="adj" fmla="val 5455"/>
            </a:avLst>
          </a:prstGeom>
          <a:solidFill>
            <a:srgbClr val="E3F2EF"/>
          </a:solidFill>
          <a:ln w="12700">
            <a:solidFill>
              <a:srgbClr val="E3F2EF"/>
            </a:solidFill>
            <a:prstDash val="solid"/>
          </a:ln>
        </p:spPr>
      </p:sp>
      <p:sp>
        <p:nvSpPr>
          <p:cNvPr id="16" name="Shape 14"/>
          <p:cNvSpPr/>
          <p:nvPr/>
        </p:nvSpPr>
        <p:spPr>
          <a:xfrm>
            <a:off x="5303520" y="201168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5303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5303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Cost function</a:t>
            </a:r>
            <a:endParaRPr lang="en-US" sz="1800" dirty="0"/>
          </a:p>
        </p:txBody>
      </p:sp>
      <p:sp>
        <p:nvSpPr>
          <p:cNvPr id="19" name="Text 17"/>
          <p:cNvSpPr txBox="1"/>
          <p:nvPr/>
        </p:nvSpPr>
        <p:spPr>
          <a:xfrm>
            <a:off x="5303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Turns delay, loss, bandwidth and stability into one number per link</a:t>
            </a:r>
            <a:endParaRPr lang="en-US" sz="1400" dirty="0"/>
          </a:p>
        </p:txBody>
      </p:sp>
      <p:sp>
        <p:nvSpPr>
          <p:cNvPr id="20" name="Shape 18"/>
          <p:cNvSpPr/>
          <p:nvPr/>
        </p:nvSpPr>
        <p:spPr>
          <a:xfrm>
            <a:off x="7168896" y="3017520"/>
            <a:ext cx="201168" cy="274320"/>
          </a:xfrm>
          <a:prstGeom prst="rightArrow">
            <a:avLst/>
          </a:prstGeom>
          <a:solidFill>
            <a:schemeClr val="accent4"/>
          </a:solidFill>
          <a:ln w="12700">
            <a:solidFill>
              <a:schemeClr val="accent4"/>
            </a:solidFill>
            <a:prstDash val="solid"/>
          </a:ln>
        </p:spPr>
      </p:sp>
      <p:sp>
        <p:nvSpPr>
          <p:cNvPr id="21" name="step3"/>
          <p:cNvSpPr/>
          <p:nvPr/>
        </p:nvSpPr>
        <p:spPr>
          <a:xfrm>
            <a:off x="7406640" y="1828800"/>
            <a:ext cx="2011680" cy="2651760"/>
          </a:xfrm>
          <a:prstGeom prst="roundRect">
            <a:avLst>
              <a:gd name="adj" fmla="val 5455"/>
            </a:avLst>
          </a:prstGeom>
          <a:solidFill>
            <a:srgbClr val="E3F2EF"/>
          </a:solidFill>
          <a:ln w="12700">
            <a:solidFill>
              <a:srgbClr val="E3F2EF"/>
            </a:solidFill>
            <a:prstDash val="solid"/>
          </a:ln>
        </p:spPr>
      </p:sp>
      <p:sp>
        <p:nvSpPr>
          <p:cNvPr id="22" name="Shape 20"/>
          <p:cNvSpPr/>
          <p:nvPr/>
        </p:nvSpPr>
        <p:spPr>
          <a:xfrm>
            <a:off x="7589520" y="2011680"/>
            <a:ext cx="502920" cy="502920"/>
          </a:xfrm>
          <a:prstGeom prst="ellipse">
            <a:avLst/>
          </a:prstGeom>
          <a:solidFill>
            <a:schemeClr val="accent1"/>
          </a:solidFill>
          <a:ln w="12700">
            <a:solidFill>
              <a:schemeClr val="accent1"/>
            </a:solidFill>
            <a:prstDash val="solid"/>
          </a:ln>
        </p:spPr>
      </p:sp>
      <p:sp>
        <p:nvSpPr>
          <p:cNvPr id="23" name="Text 21"/>
          <p:cNvSpPr txBox="1"/>
          <p:nvPr/>
        </p:nvSpPr>
        <p:spPr>
          <a:xfrm>
            <a:off x="7589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7589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Dijkstra</a:t>
            </a:r>
            <a:endParaRPr lang="en-US" sz="1800" dirty="0"/>
          </a:p>
        </p:txBody>
      </p:sp>
      <p:sp>
        <p:nvSpPr>
          <p:cNvPr id="25" name="Text 23"/>
          <p:cNvSpPr txBox="1"/>
          <p:nvPr/>
        </p:nvSpPr>
        <p:spPr>
          <a:xfrm>
            <a:off x="7589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Finds the cheapest path from source to destination</a:t>
            </a:r>
            <a:endParaRPr lang="en-US" sz="1400" dirty="0"/>
          </a:p>
        </p:txBody>
      </p:sp>
      <p:sp>
        <p:nvSpPr>
          <p:cNvPr id="26" name="Shape 24"/>
          <p:cNvSpPr/>
          <p:nvPr/>
        </p:nvSpPr>
        <p:spPr>
          <a:xfrm>
            <a:off x="9454896" y="3017520"/>
            <a:ext cx="201168" cy="274320"/>
          </a:xfrm>
          <a:prstGeom prst="rightArrow">
            <a:avLst/>
          </a:prstGeom>
          <a:solidFill>
            <a:schemeClr val="accent4"/>
          </a:solidFill>
          <a:ln w="12700">
            <a:solidFill>
              <a:schemeClr val="accent4"/>
            </a:solidFill>
            <a:prstDash val="solid"/>
          </a:ln>
        </p:spPr>
      </p:sp>
      <p:sp>
        <p:nvSpPr>
          <p:cNvPr id="27" name="step4"/>
          <p:cNvSpPr/>
          <p:nvPr/>
        </p:nvSpPr>
        <p:spPr>
          <a:xfrm>
            <a:off x="9692640" y="1828800"/>
            <a:ext cx="2011680" cy="2651760"/>
          </a:xfrm>
          <a:prstGeom prst="roundRect">
            <a:avLst>
              <a:gd name="adj" fmla="val 5455"/>
            </a:avLst>
          </a:prstGeom>
          <a:solidFill>
            <a:srgbClr val="E3F2EF"/>
          </a:solidFill>
          <a:ln w="12700">
            <a:solidFill>
              <a:srgbClr val="E3F2EF"/>
            </a:solidFill>
            <a:prstDash val="solid"/>
          </a:ln>
        </p:spPr>
      </p:sp>
      <p:sp>
        <p:nvSpPr>
          <p:cNvPr id="28" name="Shape 26"/>
          <p:cNvSpPr/>
          <p:nvPr/>
        </p:nvSpPr>
        <p:spPr>
          <a:xfrm>
            <a:off x="9875520" y="2011680"/>
            <a:ext cx="502920" cy="502920"/>
          </a:xfrm>
          <a:prstGeom prst="ellipse">
            <a:avLst/>
          </a:prstGeom>
          <a:solidFill>
            <a:schemeClr val="accent1"/>
          </a:solidFill>
          <a:ln w="12700">
            <a:solidFill>
              <a:schemeClr val="accent1"/>
            </a:solidFill>
            <a:prstDash val="solid"/>
          </a:ln>
        </p:spPr>
      </p:sp>
      <p:sp>
        <p:nvSpPr>
          <p:cNvPr id="29" name="Text 27"/>
          <p:cNvSpPr txBox="1"/>
          <p:nvPr/>
        </p:nvSpPr>
        <p:spPr>
          <a:xfrm>
            <a:off x="9875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0" name="Text 28"/>
          <p:cNvSpPr txBox="1"/>
          <p:nvPr/>
        </p:nvSpPr>
        <p:spPr>
          <a:xfrm>
            <a:off x="9875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Stability checks</a:t>
            </a:r>
            <a:endParaRPr lang="en-US" sz="1800" dirty="0"/>
          </a:p>
        </p:txBody>
      </p:sp>
      <p:sp>
        <p:nvSpPr>
          <p:cNvPr id="31" name="Text 29"/>
          <p:cNvSpPr txBox="1"/>
          <p:nvPr/>
        </p:nvSpPr>
        <p:spPr>
          <a:xfrm>
            <a:off x="9875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Only switch if the new path is clearly better (avoids flip-flopping)</a:t>
            </a:r>
            <a:endParaRPr lang="en-US" sz="1400" dirty="0"/>
          </a:p>
        </p:txBody>
      </p:sp>
      <p:sp>
        <p:nvSpPr>
          <p:cNvPr id="32" name="noteBox"/>
          <p:cNvSpPr/>
          <p:nvPr/>
        </p:nvSpPr>
        <p:spPr>
          <a:xfrm>
            <a:off x="548640" y="4846320"/>
            <a:ext cx="11064240" cy="1097280"/>
          </a:xfrm>
          <a:prstGeom prst="roundRect">
            <a:avLst>
              <a:gd name="adj" fmla="val 10000"/>
            </a:avLst>
          </a:prstGeom>
          <a:solidFill>
            <a:srgbClr val="FFF6E0"/>
          </a:solidFill>
          <a:ln w="12700">
            <a:solidFill>
              <a:srgbClr val="FFF6E0"/>
            </a:solidFill>
            <a:prstDash val="solid"/>
          </a:ln>
        </p:spPr>
      </p:sp>
      <p:sp>
        <p:nvSpPr>
          <p:cNvPr id="33" name="Text 31"/>
          <p:cNvSpPr txBox="1"/>
          <p:nvPr/>
        </p:nvSpPr>
        <p:spPr>
          <a:xfrm>
            <a:off x="822960" y="4983480"/>
            <a:ext cx="10515600" cy="822960"/>
          </a:xfrm>
          <a:prstGeom prst="rect">
            <a:avLst/>
          </a:prstGeom>
          <a:noFill/>
          <a:ln/>
        </p:spPr>
        <p:txBody>
          <a:bodyPr wrap="square" lIns="0" tIns="0" rIns="0" bIns="0" rtlCol="0" anchor="ctr"/>
          <a:lstStyle/>
          <a:p>
            <a:pPr indent="0" marL="0">
              <a:buNone/>
            </a:pPr>
            <a:r>
              <a:rPr lang="en-US" sz="1600" b="1" dirty="0">
                <a:solidFill>
                  <a:schemeClr val="tx2"/>
                </a:solidFill>
              </a:rPr>
              <a:t>Realistic by design: </a:t>
            </a:r>
            <a:pPr indent="0" marL="0">
              <a:buNone/>
            </a:pPr>
            <a:r>
              <a:rPr lang="en-US" sz="1600" dirty="0">
                <a:solidFill>
                  <a:schemeClr val="tx1"/>
                </a:solidFill>
              </a:rPr>
              <a:t>the routing engine never sees the true network state, only what the monitor measures. Its information is noisy and slightly late, as on a real network.</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One cost per link, in “effective milliseconds”</a:t>
            </a:r>
            <a:endParaRPr lang="en-US" sz="3400" dirty="0"/>
          </a:p>
        </p:txBody>
      </p:sp>
      <p:sp>
        <p:nvSpPr>
          <p:cNvPr id="3" name="formula"/>
          <p:cNvSpPr/>
          <p:nvPr/>
        </p:nvSpPr>
        <p:spPr>
          <a:xfrm>
            <a:off x="548640" y="1463040"/>
            <a:ext cx="11064240" cy="1051560"/>
          </a:xfrm>
          <a:prstGeom prst="roundRect">
            <a:avLst>
              <a:gd name="adj" fmla="val 10435"/>
            </a:avLst>
          </a:prstGeom>
          <a:solidFill>
            <a:schemeClr val="tx2"/>
          </a:solidFill>
          <a:ln w="12700">
            <a:solidFill>
              <a:schemeClr val="tx2"/>
            </a:solidFill>
            <a:prstDash val="solid"/>
          </a:ln>
        </p:spPr>
      </p:sp>
      <p:sp>
        <p:nvSpPr>
          <p:cNvPr id="4" name="Text 2"/>
          <p:cNvSpPr txBox="1"/>
          <p:nvPr/>
        </p:nvSpPr>
        <p:spPr>
          <a:xfrm>
            <a:off x="822960" y="1463040"/>
            <a:ext cx="10515600" cy="1051560"/>
          </a:xfrm>
          <a:prstGeom prst="rect">
            <a:avLst/>
          </a:prstGeom>
          <a:noFill/>
          <a:ln/>
        </p:spPr>
        <p:txBody>
          <a:bodyPr wrap="square" lIns="0" tIns="0" rIns="0" bIns="0" rtlCol="0" anchor="ctr"/>
          <a:lstStyle/>
          <a:p>
            <a:pPr algn="ctr" indent="0" marL="0">
              <a:buNone/>
            </a:pPr>
            <a:r>
              <a:rPr lang="en-US" sz="2100" b="1" dirty="0">
                <a:solidFill>
                  <a:schemeClr val="bg1"/>
                </a:solidFill>
                <a:latin typeface="Cambria" pitchFamily="34" charset="0"/>
                <a:ea typeface="Cambria" pitchFamily="34" charset="-122"/>
                <a:cs typeface="Cambria" pitchFamily="34" charset="-120"/>
              </a:rPr>
              <a:t>cost  =  delay  +  300 × loss penalty  +  bandwidth penalty  +  25 × flap penalty</a:t>
            </a:r>
            <a:endParaRPr lang="en-US" sz="2100" dirty="0"/>
          </a:p>
        </p:txBody>
      </p:sp>
      <p:sp>
        <p:nvSpPr>
          <p:cNvPr id="5" name="Shape 3"/>
          <p:cNvSpPr/>
          <p:nvPr/>
        </p:nvSpPr>
        <p:spPr>
          <a:xfrm>
            <a:off x="548640" y="2880360"/>
            <a:ext cx="320040" cy="320040"/>
          </a:xfrm>
          <a:prstGeom prst="ellipse">
            <a:avLst/>
          </a:prstGeom>
          <a:solidFill>
            <a:schemeClr val="accent1"/>
          </a:solidFill>
          <a:ln w="12700">
            <a:solidFill>
              <a:schemeClr val="accent1"/>
            </a:solidFill>
            <a:prstDash val="solid"/>
          </a:ln>
        </p:spPr>
      </p:sp>
      <p:sp>
        <p:nvSpPr>
          <p:cNvPr id="6" name="Text 4"/>
          <p:cNvSpPr txBox="1"/>
          <p:nvPr/>
        </p:nvSpPr>
        <p:spPr>
          <a:xfrm>
            <a:off x="1051560" y="27889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Delay</a:t>
            </a:r>
            <a:endParaRPr lang="en-US" sz="1800" dirty="0"/>
          </a:p>
        </p:txBody>
      </p:sp>
      <p:sp>
        <p:nvSpPr>
          <p:cNvPr id="7" name="Text 5"/>
          <p:cNvSpPr txBox="1"/>
          <p:nvPr/>
        </p:nvSpPr>
        <p:spPr>
          <a:xfrm>
            <a:off x="1051560" y="3291840"/>
            <a:ext cx="4846320" cy="914400"/>
          </a:xfrm>
          <a:prstGeom prst="rect">
            <a:avLst/>
          </a:prstGeom>
          <a:noFill/>
          <a:ln/>
        </p:spPr>
        <p:txBody>
          <a:bodyPr wrap="square" lIns="0" tIns="0" rIns="0" bIns="0" rtlCol="0" anchor="t"/>
          <a:lstStyle/>
          <a:p>
            <a:pPr indent="0" marL="0">
              <a:buNone/>
            </a:pPr>
            <a:r>
              <a:rPr lang="en-US" sz="1500" dirty="0">
                <a:solidFill>
                  <a:schemeClr val="tx1"/>
                </a:solidFill>
              </a:rPr>
              <a:t>Measured delay plus the expected queueing delay if our traffic is added to the link.</a:t>
            </a:r>
            <a:endParaRPr lang="en-US" sz="1500" dirty="0"/>
          </a:p>
        </p:txBody>
      </p:sp>
      <p:sp>
        <p:nvSpPr>
          <p:cNvPr id="8" name="Shape 6"/>
          <p:cNvSpPr/>
          <p:nvPr/>
        </p:nvSpPr>
        <p:spPr>
          <a:xfrm>
            <a:off x="6172200" y="2880360"/>
            <a:ext cx="320040" cy="320040"/>
          </a:xfrm>
          <a:prstGeom prst="ellipse">
            <a:avLst/>
          </a:prstGeom>
          <a:solidFill>
            <a:schemeClr val="accent2"/>
          </a:solidFill>
          <a:ln w="12700">
            <a:solidFill>
              <a:schemeClr val="accent2"/>
            </a:solidFill>
            <a:prstDash val="solid"/>
          </a:ln>
        </p:spPr>
      </p:sp>
      <p:sp>
        <p:nvSpPr>
          <p:cNvPr id="9" name="Text 7"/>
          <p:cNvSpPr txBox="1"/>
          <p:nvPr/>
        </p:nvSpPr>
        <p:spPr>
          <a:xfrm>
            <a:off x="6675120" y="27889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Loss penalty  −ln(1 − p)</a:t>
            </a:r>
            <a:endParaRPr lang="en-US" sz="1800" dirty="0"/>
          </a:p>
        </p:txBody>
      </p:sp>
      <p:sp>
        <p:nvSpPr>
          <p:cNvPr id="10" name="Text 8"/>
          <p:cNvSpPr txBox="1"/>
          <p:nvPr/>
        </p:nvSpPr>
        <p:spPr>
          <a:xfrm>
            <a:off x="6675120" y="3291840"/>
            <a:ext cx="4846320" cy="914400"/>
          </a:xfrm>
          <a:prstGeom prst="rect">
            <a:avLst/>
          </a:prstGeom>
          <a:noFill/>
          <a:ln/>
        </p:spPr>
        <p:txBody>
          <a:bodyPr wrap="square" lIns="0" tIns="0" rIns="0" bIns="0" rtlCol="0" anchor="t"/>
          <a:lstStyle/>
          <a:p>
            <a:pPr indent="0" marL="0">
              <a:buNone/>
            </a:pPr>
            <a:r>
              <a:rPr lang="en-US" sz="1500" dirty="0">
                <a:solidFill>
                  <a:schemeClr val="tx1"/>
                </a:solidFill>
              </a:rPr>
              <a:t>Turns loss into something that adds up along a path, so Dijkstra minimises total loss exactly.</a:t>
            </a:r>
            <a:endParaRPr lang="en-US" sz="1500" dirty="0"/>
          </a:p>
        </p:txBody>
      </p:sp>
      <p:sp>
        <p:nvSpPr>
          <p:cNvPr id="11" name="Shape 9"/>
          <p:cNvSpPr/>
          <p:nvPr/>
        </p:nvSpPr>
        <p:spPr>
          <a:xfrm>
            <a:off x="548640" y="4480560"/>
            <a:ext cx="320040" cy="320040"/>
          </a:xfrm>
          <a:prstGeom prst="ellipse">
            <a:avLst/>
          </a:prstGeom>
          <a:solidFill>
            <a:schemeClr val="accent5"/>
          </a:solidFill>
          <a:ln w="12700">
            <a:solidFill>
              <a:schemeClr val="accent5"/>
            </a:solidFill>
            <a:prstDash val="solid"/>
          </a:ln>
        </p:spPr>
      </p:sp>
      <p:sp>
        <p:nvSpPr>
          <p:cNvPr id="12" name="Text 10"/>
          <p:cNvSpPr txBox="1"/>
          <p:nvPr/>
        </p:nvSpPr>
        <p:spPr>
          <a:xfrm>
            <a:off x="1051560" y="43891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Bandwidth penalty</a:t>
            </a:r>
            <a:endParaRPr lang="en-US" sz="1800" dirty="0"/>
          </a:p>
        </p:txBody>
      </p:sp>
      <p:sp>
        <p:nvSpPr>
          <p:cNvPr id="13" name="Text 11"/>
          <p:cNvSpPr txBox="1"/>
          <p:nvPr/>
        </p:nvSpPr>
        <p:spPr>
          <a:xfrm>
            <a:off x="1051560" y="4892040"/>
            <a:ext cx="4846320" cy="914400"/>
          </a:xfrm>
          <a:prstGeom prst="rect">
            <a:avLst/>
          </a:prstGeom>
          <a:noFill/>
          <a:ln/>
        </p:spPr>
        <p:txBody>
          <a:bodyPr wrap="square" lIns="0" tIns="0" rIns="0" bIns="0" rtlCol="0" anchor="t"/>
          <a:lstStyle/>
          <a:p>
            <a:pPr indent="0" marL="0">
              <a:buNone/>
            </a:pPr>
            <a:r>
              <a:rPr lang="en-US" sz="1500" dirty="0">
                <a:solidFill>
                  <a:schemeClr val="tx1"/>
                </a:solidFill>
              </a:rPr>
              <a:t>100 ÷ free Mb/s. A nearly full link becomes expensive before we send traffic onto it.</a:t>
            </a:r>
            <a:endParaRPr lang="en-US" sz="1500" dirty="0"/>
          </a:p>
        </p:txBody>
      </p:sp>
      <p:sp>
        <p:nvSpPr>
          <p:cNvPr id="14" name="Shape 12"/>
          <p:cNvSpPr/>
          <p:nvPr/>
        </p:nvSpPr>
        <p:spPr>
          <a:xfrm>
            <a:off x="6172200" y="4480560"/>
            <a:ext cx="320040" cy="320040"/>
          </a:xfrm>
          <a:prstGeom prst="ellipse">
            <a:avLst/>
          </a:prstGeom>
          <a:solidFill>
            <a:schemeClr val="accent3"/>
          </a:solidFill>
          <a:ln w="12700">
            <a:solidFill>
              <a:schemeClr val="accent3"/>
            </a:solidFill>
            <a:prstDash val="solid"/>
          </a:ln>
        </p:spPr>
      </p:sp>
      <p:sp>
        <p:nvSpPr>
          <p:cNvPr id="15" name="Text 13"/>
          <p:cNvSpPr txBox="1"/>
          <p:nvPr/>
        </p:nvSpPr>
        <p:spPr>
          <a:xfrm>
            <a:off x="6675120" y="43891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Flap penalty</a:t>
            </a:r>
            <a:endParaRPr lang="en-US" sz="1800" dirty="0"/>
          </a:p>
        </p:txBody>
      </p:sp>
      <p:sp>
        <p:nvSpPr>
          <p:cNvPr id="16" name="Text 14"/>
          <p:cNvSpPr txBox="1"/>
          <p:nvPr/>
        </p:nvSpPr>
        <p:spPr>
          <a:xfrm>
            <a:off x="6675120" y="4892040"/>
            <a:ext cx="4846320" cy="914400"/>
          </a:xfrm>
          <a:prstGeom prst="rect">
            <a:avLst/>
          </a:prstGeom>
          <a:noFill/>
          <a:ln/>
        </p:spPr>
        <p:txBody>
          <a:bodyPr wrap="square" lIns="0" tIns="0" rIns="0" bIns="0" rtlCol="0" anchor="t"/>
          <a:lstStyle/>
          <a:p>
            <a:pPr indent="0" marL="0">
              <a:buNone/>
            </a:pPr>
            <a:r>
              <a:rPr lang="en-US" sz="1500" dirty="0">
                <a:solidFill>
                  <a:schemeClr val="tx1"/>
                </a:solidFill>
              </a:rPr>
              <a:t>Each time a link goes down it gets a penalty that fades with a 20 s half-life.</a:t>
            </a:r>
            <a:endParaRPr lang="en-US" sz="1500" dirty="0"/>
          </a:p>
        </p:txBody>
      </p:sp>
      <p:sp>
        <p:nvSpPr>
          <p:cNvPr id="17" name="Text 15"/>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400" i="1" dirty="0">
                <a:solidFill>
                  <a:schemeClr val="accent4"/>
                </a:solidFill>
              </a:rPr>
              <a:t>Example from the A-B-D diagram: link B-D scores 60.5 (49 of it from loss) while A-C and C-D score 20.8 each, so A → C → D wins.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Adapting fast without flip-flopping</a:t>
            </a:r>
            <a:endParaRPr lang="en-US" sz="3400" dirty="0"/>
          </a:p>
        </p:txBody>
      </p:sp>
      <p:sp>
        <p:nvSpPr>
          <p:cNvPr id="3" name="stab0"/>
          <p:cNvSpPr/>
          <p:nvPr/>
        </p:nvSpPr>
        <p:spPr>
          <a:xfrm>
            <a:off x="548640" y="1508760"/>
            <a:ext cx="5440680" cy="2011680"/>
          </a:xfrm>
          <a:prstGeom prst="roundRect">
            <a:avLst>
              <a:gd name="adj" fmla="val 5455"/>
            </a:avLst>
          </a:prstGeom>
          <a:solidFill>
            <a:srgbClr val="F3F6F6"/>
          </a:solidFill>
          <a:ln w="12700">
            <a:solidFill>
              <a:srgbClr val="F3F6F6"/>
            </a:solidFill>
            <a:prstDash val="solid"/>
          </a:ln>
        </p:spPr>
      </p:sp>
      <p:sp>
        <p:nvSpPr>
          <p:cNvPr id="4" name="Text 2"/>
          <p:cNvSpPr txBox="1"/>
          <p:nvPr/>
        </p:nvSpPr>
        <p:spPr>
          <a:xfrm>
            <a:off x="822960" y="178308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15%</a:t>
            </a:r>
            <a:endParaRPr lang="en-US" sz="3400" dirty="0"/>
          </a:p>
        </p:txBody>
      </p:sp>
      <p:sp>
        <p:nvSpPr>
          <p:cNvPr id="5" name="Text 3"/>
          <p:cNvSpPr txBox="1"/>
          <p:nvPr/>
        </p:nvSpPr>
        <p:spPr>
          <a:xfrm>
            <a:off x="2834640" y="1783080"/>
            <a:ext cx="2971800" cy="411480"/>
          </a:xfrm>
          <a:prstGeom prst="rect">
            <a:avLst/>
          </a:prstGeom>
          <a:noFill/>
          <a:ln/>
        </p:spPr>
        <p:txBody>
          <a:bodyPr wrap="square" lIns="0" tIns="0" rIns="0" bIns="0" rtlCol="0" anchor="t"/>
          <a:lstStyle/>
          <a:p>
            <a:pPr indent="0" marL="0">
              <a:buNone/>
            </a:pPr>
            <a:r>
              <a:rPr lang="en-US" sz="1900" b="1" dirty="0">
                <a:solidFill>
                  <a:schemeClr val="tx2"/>
                </a:solidFill>
              </a:rPr>
              <a:t>Hysteresis</a:t>
            </a:r>
            <a:endParaRPr lang="en-US" sz="1900" dirty="0"/>
          </a:p>
        </p:txBody>
      </p:sp>
      <p:sp>
        <p:nvSpPr>
          <p:cNvPr id="6" name="Text 4"/>
          <p:cNvSpPr txBox="1"/>
          <p:nvPr/>
        </p:nvSpPr>
        <p:spPr>
          <a:xfrm>
            <a:off x="2834640" y="2240280"/>
            <a:ext cx="2971800" cy="1143000"/>
          </a:xfrm>
          <a:prstGeom prst="rect">
            <a:avLst/>
          </a:prstGeom>
          <a:noFill/>
          <a:ln/>
        </p:spPr>
        <p:txBody>
          <a:bodyPr wrap="square" lIns="0" tIns="0" rIns="0" bIns="0" rtlCol="0" anchor="t"/>
          <a:lstStyle/>
          <a:p>
            <a:pPr indent="0" marL="0">
              <a:buNone/>
            </a:pPr>
            <a:r>
              <a:rPr lang="en-US" sz="1500" dirty="0">
                <a:solidFill>
                  <a:schemeClr val="tx1"/>
                </a:solidFill>
              </a:rPr>
              <a:t>Switch only if the new path is at least 15% cheaper.</a:t>
            </a:r>
            <a:endParaRPr lang="en-US" sz="1500" dirty="0"/>
          </a:p>
        </p:txBody>
      </p:sp>
      <p:sp>
        <p:nvSpPr>
          <p:cNvPr id="7" name="stab1"/>
          <p:cNvSpPr/>
          <p:nvPr/>
        </p:nvSpPr>
        <p:spPr>
          <a:xfrm>
            <a:off x="6172200" y="1508760"/>
            <a:ext cx="5440680" cy="2011680"/>
          </a:xfrm>
          <a:prstGeom prst="roundRect">
            <a:avLst>
              <a:gd name="adj" fmla="val 5455"/>
            </a:avLst>
          </a:prstGeom>
          <a:solidFill>
            <a:srgbClr val="F3F6F6"/>
          </a:solidFill>
          <a:ln w="12700">
            <a:solidFill>
              <a:srgbClr val="F3F6F6"/>
            </a:solidFill>
            <a:prstDash val="solid"/>
          </a:ln>
        </p:spPr>
      </p:sp>
      <p:sp>
        <p:nvSpPr>
          <p:cNvPr id="8" name="Text 6"/>
          <p:cNvSpPr txBox="1"/>
          <p:nvPr/>
        </p:nvSpPr>
        <p:spPr>
          <a:xfrm>
            <a:off x="6446520" y="178308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 s</a:t>
            </a:r>
            <a:endParaRPr lang="en-US" sz="3400" dirty="0"/>
          </a:p>
        </p:txBody>
      </p:sp>
      <p:sp>
        <p:nvSpPr>
          <p:cNvPr id="9" name="Text 7"/>
          <p:cNvSpPr txBox="1"/>
          <p:nvPr/>
        </p:nvSpPr>
        <p:spPr>
          <a:xfrm>
            <a:off x="8458200" y="1783080"/>
            <a:ext cx="2971800" cy="411480"/>
          </a:xfrm>
          <a:prstGeom prst="rect">
            <a:avLst/>
          </a:prstGeom>
          <a:noFill/>
          <a:ln/>
        </p:spPr>
        <p:txBody>
          <a:bodyPr wrap="square" lIns="0" tIns="0" rIns="0" bIns="0" rtlCol="0" anchor="t"/>
          <a:lstStyle/>
          <a:p>
            <a:pPr indent="0" marL="0">
              <a:buNone/>
            </a:pPr>
            <a:r>
              <a:rPr lang="en-US" sz="1900" b="1" dirty="0">
                <a:solidFill>
                  <a:schemeClr val="tx2"/>
                </a:solidFill>
              </a:rPr>
              <a:t>Hold-down</a:t>
            </a:r>
            <a:endParaRPr lang="en-US" sz="1900" dirty="0"/>
          </a:p>
        </p:txBody>
      </p:sp>
      <p:sp>
        <p:nvSpPr>
          <p:cNvPr id="10" name="Text 8"/>
          <p:cNvSpPr txBox="1"/>
          <p:nvPr/>
        </p:nvSpPr>
        <p:spPr>
          <a:xfrm>
            <a:off x="8458200" y="2240280"/>
            <a:ext cx="2971800" cy="1143000"/>
          </a:xfrm>
          <a:prstGeom prst="rect">
            <a:avLst/>
          </a:prstGeom>
          <a:noFill/>
          <a:ln/>
        </p:spPr>
        <p:txBody>
          <a:bodyPr wrap="square" lIns="0" tIns="0" rIns="0" bIns="0" rtlCol="0" anchor="t"/>
          <a:lstStyle/>
          <a:p>
            <a:pPr indent="0" marL="0">
              <a:buNone/>
            </a:pPr>
            <a:r>
              <a:rPr lang="en-US" sz="1500" dirty="0">
                <a:solidFill>
                  <a:schemeClr val="tx1"/>
                </a:solidFill>
              </a:rPr>
              <a:t>At most one cost-driven change every 3 seconds. Failures skip this wait.</a:t>
            </a:r>
            <a:endParaRPr lang="en-US" sz="1500" dirty="0"/>
          </a:p>
        </p:txBody>
      </p:sp>
      <p:sp>
        <p:nvSpPr>
          <p:cNvPr id="11" name="stab2"/>
          <p:cNvSpPr/>
          <p:nvPr/>
        </p:nvSpPr>
        <p:spPr>
          <a:xfrm>
            <a:off x="548640" y="3749040"/>
            <a:ext cx="5440680" cy="2011680"/>
          </a:xfrm>
          <a:prstGeom prst="roundRect">
            <a:avLst>
              <a:gd name="adj" fmla="val 5455"/>
            </a:avLst>
          </a:prstGeom>
          <a:solidFill>
            <a:srgbClr val="F3F6F6"/>
          </a:solidFill>
          <a:ln w="12700">
            <a:solidFill>
              <a:srgbClr val="F3F6F6"/>
            </a:solidFill>
            <a:prstDash val="solid"/>
          </a:ln>
        </p:spPr>
      </p:sp>
      <p:sp>
        <p:nvSpPr>
          <p:cNvPr id="12" name="Text 10"/>
          <p:cNvSpPr txBox="1"/>
          <p:nvPr/>
        </p:nvSpPr>
        <p:spPr>
          <a:xfrm>
            <a:off x="822960" y="402336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20 s</a:t>
            </a:r>
            <a:endParaRPr lang="en-US" sz="3400" dirty="0"/>
          </a:p>
        </p:txBody>
      </p:sp>
      <p:sp>
        <p:nvSpPr>
          <p:cNvPr id="13" name="Text 11"/>
          <p:cNvSpPr txBox="1"/>
          <p:nvPr/>
        </p:nvSpPr>
        <p:spPr>
          <a:xfrm>
            <a:off x="2834640" y="4023360"/>
            <a:ext cx="2971800" cy="411480"/>
          </a:xfrm>
          <a:prstGeom prst="rect">
            <a:avLst/>
          </a:prstGeom>
          <a:noFill/>
          <a:ln/>
        </p:spPr>
        <p:txBody>
          <a:bodyPr wrap="square" lIns="0" tIns="0" rIns="0" bIns="0" rtlCol="0" anchor="t"/>
          <a:lstStyle/>
          <a:p>
            <a:pPr indent="0" marL="0">
              <a:buNone/>
            </a:pPr>
            <a:r>
              <a:rPr lang="en-US" sz="1900" b="1" dirty="0">
                <a:solidFill>
                  <a:schemeClr val="tx2"/>
                </a:solidFill>
              </a:rPr>
              <a:t>Flap damping</a:t>
            </a:r>
            <a:endParaRPr lang="en-US" sz="1900" dirty="0"/>
          </a:p>
        </p:txBody>
      </p:sp>
      <p:sp>
        <p:nvSpPr>
          <p:cNvPr id="14" name="Text 12"/>
          <p:cNvSpPr txBox="1"/>
          <p:nvPr/>
        </p:nvSpPr>
        <p:spPr>
          <a:xfrm>
            <a:off x="2834640" y="4480560"/>
            <a:ext cx="2971800" cy="1143000"/>
          </a:xfrm>
          <a:prstGeom prst="rect">
            <a:avLst/>
          </a:prstGeom>
          <a:noFill/>
          <a:ln/>
        </p:spPr>
        <p:txBody>
          <a:bodyPr wrap="square" lIns="0" tIns="0" rIns="0" bIns="0" rtlCol="0" anchor="t"/>
          <a:lstStyle/>
          <a:p>
            <a:pPr indent="0" marL="0">
              <a:buNone/>
            </a:pPr>
            <a:r>
              <a:rPr lang="en-US" sz="1500" dirty="0">
                <a:solidFill>
                  <a:schemeClr val="tx1"/>
                </a:solidFill>
              </a:rPr>
              <a:t>A link that keeps failing gets a penalty that fades over time, so traffic stays away from it.</a:t>
            </a:r>
            <a:endParaRPr lang="en-US" sz="1500" dirty="0"/>
          </a:p>
        </p:txBody>
      </p:sp>
      <p:sp>
        <p:nvSpPr>
          <p:cNvPr id="15" name="stab3"/>
          <p:cNvSpPr/>
          <p:nvPr/>
        </p:nvSpPr>
        <p:spPr>
          <a:xfrm>
            <a:off x="6172200" y="3749040"/>
            <a:ext cx="5440680" cy="2011680"/>
          </a:xfrm>
          <a:prstGeom prst="roundRect">
            <a:avLst>
              <a:gd name="adj" fmla="val 5455"/>
            </a:avLst>
          </a:prstGeom>
          <a:solidFill>
            <a:srgbClr val="F3F6F6"/>
          </a:solidFill>
          <a:ln w="12700">
            <a:solidFill>
              <a:srgbClr val="F3F6F6"/>
            </a:solidFill>
            <a:prstDash val="solid"/>
          </a:ln>
        </p:spPr>
      </p:sp>
      <p:sp>
        <p:nvSpPr>
          <p:cNvPr id="16" name="Text 14"/>
          <p:cNvSpPr txBox="1"/>
          <p:nvPr/>
        </p:nvSpPr>
        <p:spPr>
          <a:xfrm>
            <a:off x="6446520" y="402336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probe</a:t>
            </a:r>
            <a:endParaRPr lang="en-US" sz="3400" dirty="0"/>
          </a:p>
        </p:txBody>
      </p:sp>
      <p:sp>
        <p:nvSpPr>
          <p:cNvPr id="17" name="Text 15"/>
          <p:cNvSpPr txBox="1"/>
          <p:nvPr/>
        </p:nvSpPr>
        <p:spPr>
          <a:xfrm>
            <a:off x="8458200" y="4023360"/>
            <a:ext cx="2971800" cy="411480"/>
          </a:xfrm>
          <a:prstGeom prst="rect">
            <a:avLst/>
          </a:prstGeom>
          <a:noFill/>
          <a:ln/>
        </p:spPr>
        <p:txBody>
          <a:bodyPr wrap="square" lIns="0" tIns="0" rIns="0" bIns="0" rtlCol="0" anchor="t"/>
          <a:lstStyle/>
          <a:p>
            <a:pPr indent="0" marL="0">
              <a:buNone/>
            </a:pPr>
            <a:r>
              <a:rPr lang="en-US" sz="1900" b="1" dirty="0">
                <a:solidFill>
                  <a:schemeClr val="tx2"/>
                </a:solidFill>
              </a:rPr>
              <a:t>Early failure detection</a:t>
            </a:r>
            <a:endParaRPr lang="en-US" sz="1900" dirty="0"/>
          </a:p>
        </p:txBody>
      </p:sp>
      <p:sp>
        <p:nvSpPr>
          <p:cNvPr id="18" name="Text 16"/>
          <p:cNvSpPr txBox="1"/>
          <p:nvPr/>
        </p:nvSpPr>
        <p:spPr>
          <a:xfrm>
            <a:off x="8458200" y="4480560"/>
            <a:ext cx="2971800" cy="1143000"/>
          </a:xfrm>
          <a:prstGeom prst="rect">
            <a:avLst/>
          </a:prstGeom>
          <a:noFill/>
          <a:ln/>
        </p:spPr>
        <p:txBody>
          <a:bodyPr wrap="square" lIns="0" tIns="0" rIns="0" bIns="0" rtlCol="0" anchor="t"/>
          <a:lstStyle/>
          <a:p>
            <a:pPr indent="0" marL="0">
              <a:buNone/>
            </a:pPr>
            <a:r>
              <a:rPr lang="en-US" sz="1500" dirty="0">
                <a:solidFill>
                  <a:schemeClr val="tx1"/>
                </a:solidFill>
              </a:rPr>
              <a:t>A missed probe counts as packet loss, so traffic leaves a dying link after 1 missed probe instead of 3.</a:t>
            </a:r>
            <a:endParaRPr lang="en-US" sz="1500" dirty="0"/>
          </a:p>
        </p:txBody>
      </p:sp>
      <p:sp>
        <p:nvSpPr>
          <p:cNvPr id="19" name="Text 17"/>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400" i="1" dirty="0">
                <a:solidFill>
                  <a:schemeClr val="accent4"/>
                </a:solidFill>
              </a:rPr>
              <a:t>A flow also ignores its own traffic when judging a link, so it does not run away from congestion it caused itself.</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How we tested it</a:t>
            </a:r>
            <a:endParaRPr lang="en-US" sz="3400" dirty="0"/>
          </a:p>
        </p:txBody>
      </p:sp>
      <p:sp>
        <p:nvSpPr>
          <p:cNvPr id="3" name="Shape 1"/>
          <p:cNvSpPr/>
          <p:nvPr/>
        </p:nvSpPr>
        <p:spPr>
          <a:xfrm flipV="1">
            <a:off x="914400" y="2468880"/>
            <a:ext cx="1280160" cy="1097280"/>
          </a:xfrm>
          <a:prstGeom prst="line">
            <a:avLst/>
          </a:prstGeom>
          <a:noFill/>
          <a:ln w="31750">
            <a:solidFill>
              <a:srgbClr val="B8C4C9"/>
            </a:solidFill>
            <a:prstDash val="solid"/>
          </a:ln>
        </p:spPr>
      </p:sp>
      <p:sp>
        <p:nvSpPr>
          <p:cNvPr id="4" name="Shape 2"/>
          <p:cNvSpPr/>
          <p:nvPr/>
        </p:nvSpPr>
        <p:spPr>
          <a:xfrm>
            <a:off x="914400" y="3566160"/>
            <a:ext cx="1280160" cy="914"/>
          </a:xfrm>
          <a:prstGeom prst="line">
            <a:avLst/>
          </a:prstGeom>
          <a:noFill/>
          <a:ln w="31750">
            <a:solidFill>
              <a:srgbClr val="B8C4C9"/>
            </a:solidFill>
            <a:prstDash val="solid"/>
          </a:ln>
        </p:spPr>
      </p:sp>
      <p:sp>
        <p:nvSpPr>
          <p:cNvPr id="5" name="Shape 3"/>
          <p:cNvSpPr/>
          <p:nvPr/>
        </p:nvSpPr>
        <p:spPr>
          <a:xfrm>
            <a:off x="914400" y="3566160"/>
            <a:ext cx="1280160" cy="1097280"/>
          </a:xfrm>
          <a:prstGeom prst="line">
            <a:avLst/>
          </a:prstGeom>
          <a:noFill/>
          <a:ln w="31750">
            <a:solidFill>
              <a:srgbClr val="B8C4C9"/>
            </a:solidFill>
            <a:prstDash val="solid"/>
          </a:ln>
        </p:spPr>
      </p:sp>
      <p:sp>
        <p:nvSpPr>
          <p:cNvPr id="6" name="Shape 4"/>
          <p:cNvSpPr/>
          <p:nvPr/>
        </p:nvSpPr>
        <p:spPr>
          <a:xfrm>
            <a:off x="2194560" y="2468880"/>
            <a:ext cx="2011680" cy="914"/>
          </a:xfrm>
          <a:prstGeom prst="line">
            <a:avLst/>
          </a:prstGeom>
          <a:noFill/>
          <a:ln w="31750">
            <a:solidFill>
              <a:srgbClr val="B8C4C9"/>
            </a:solidFill>
            <a:prstDash val="solid"/>
          </a:ln>
        </p:spPr>
      </p:sp>
      <p:sp>
        <p:nvSpPr>
          <p:cNvPr id="7" name="Shape 5"/>
          <p:cNvSpPr/>
          <p:nvPr/>
        </p:nvSpPr>
        <p:spPr>
          <a:xfrm>
            <a:off x="2194560" y="3566160"/>
            <a:ext cx="2011680" cy="914"/>
          </a:xfrm>
          <a:prstGeom prst="line">
            <a:avLst/>
          </a:prstGeom>
          <a:noFill/>
          <a:ln w="31750">
            <a:solidFill>
              <a:srgbClr val="B8C4C9"/>
            </a:solidFill>
            <a:prstDash val="solid"/>
          </a:ln>
        </p:spPr>
      </p:sp>
      <p:sp>
        <p:nvSpPr>
          <p:cNvPr id="8" name="Shape 6"/>
          <p:cNvSpPr/>
          <p:nvPr/>
        </p:nvSpPr>
        <p:spPr>
          <a:xfrm>
            <a:off x="2194560" y="4663440"/>
            <a:ext cx="2011680" cy="914"/>
          </a:xfrm>
          <a:prstGeom prst="line">
            <a:avLst/>
          </a:prstGeom>
          <a:noFill/>
          <a:ln w="31750">
            <a:solidFill>
              <a:srgbClr val="B8C4C9"/>
            </a:solidFill>
            <a:prstDash val="solid"/>
          </a:ln>
        </p:spPr>
      </p:sp>
      <p:sp>
        <p:nvSpPr>
          <p:cNvPr id="9" name="Shape 7"/>
          <p:cNvSpPr/>
          <p:nvPr/>
        </p:nvSpPr>
        <p:spPr>
          <a:xfrm>
            <a:off x="4206240" y="2468880"/>
            <a:ext cx="1280160" cy="1097280"/>
          </a:xfrm>
          <a:prstGeom prst="line">
            <a:avLst/>
          </a:prstGeom>
          <a:noFill/>
          <a:ln w="31750">
            <a:solidFill>
              <a:srgbClr val="B8C4C9"/>
            </a:solidFill>
            <a:prstDash val="solid"/>
          </a:ln>
        </p:spPr>
      </p:sp>
      <p:sp>
        <p:nvSpPr>
          <p:cNvPr id="10" name="Shape 8"/>
          <p:cNvSpPr/>
          <p:nvPr/>
        </p:nvSpPr>
        <p:spPr>
          <a:xfrm>
            <a:off x="4206240" y="3566160"/>
            <a:ext cx="1280160" cy="914"/>
          </a:xfrm>
          <a:prstGeom prst="line">
            <a:avLst/>
          </a:prstGeom>
          <a:noFill/>
          <a:ln w="31750">
            <a:solidFill>
              <a:srgbClr val="B8C4C9"/>
            </a:solidFill>
            <a:prstDash val="solid"/>
          </a:ln>
        </p:spPr>
      </p:sp>
      <p:sp>
        <p:nvSpPr>
          <p:cNvPr id="11" name="Shape 9"/>
          <p:cNvSpPr/>
          <p:nvPr/>
        </p:nvSpPr>
        <p:spPr>
          <a:xfrm flipV="1">
            <a:off x="4206240" y="3566160"/>
            <a:ext cx="1280160" cy="1097280"/>
          </a:xfrm>
          <a:prstGeom prst="line">
            <a:avLst/>
          </a:prstGeom>
          <a:noFill/>
          <a:ln w="31750">
            <a:solidFill>
              <a:srgbClr val="B8C4C9"/>
            </a:solidFill>
            <a:prstDash val="solid"/>
          </a:ln>
        </p:spPr>
      </p:sp>
      <p:sp>
        <p:nvSpPr>
          <p:cNvPr id="12" name="Shape 10"/>
          <p:cNvSpPr/>
          <p:nvPr/>
        </p:nvSpPr>
        <p:spPr>
          <a:xfrm>
            <a:off x="2194560" y="2468880"/>
            <a:ext cx="914" cy="1097280"/>
          </a:xfrm>
          <a:prstGeom prst="line">
            <a:avLst/>
          </a:prstGeom>
          <a:noFill/>
          <a:ln w="31750">
            <a:solidFill>
              <a:srgbClr val="B8C4C9"/>
            </a:solidFill>
            <a:prstDash val="solid"/>
          </a:ln>
        </p:spPr>
      </p:sp>
      <p:sp>
        <p:nvSpPr>
          <p:cNvPr id="13" name="Shape 11"/>
          <p:cNvSpPr/>
          <p:nvPr/>
        </p:nvSpPr>
        <p:spPr>
          <a:xfrm>
            <a:off x="2194560" y="3566160"/>
            <a:ext cx="914" cy="1097280"/>
          </a:xfrm>
          <a:prstGeom prst="line">
            <a:avLst/>
          </a:prstGeom>
          <a:noFill/>
          <a:ln w="31750">
            <a:solidFill>
              <a:srgbClr val="B8C4C9"/>
            </a:solidFill>
            <a:prstDash val="solid"/>
          </a:ln>
        </p:spPr>
      </p:sp>
      <p:sp>
        <p:nvSpPr>
          <p:cNvPr id="14" name="Shape 12"/>
          <p:cNvSpPr/>
          <p:nvPr/>
        </p:nvSpPr>
        <p:spPr>
          <a:xfrm>
            <a:off x="4206240" y="2468880"/>
            <a:ext cx="914" cy="1097280"/>
          </a:xfrm>
          <a:prstGeom prst="line">
            <a:avLst/>
          </a:prstGeom>
          <a:noFill/>
          <a:ln w="31750">
            <a:solidFill>
              <a:srgbClr val="B8C4C9"/>
            </a:solidFill>
            <a:prstDash val="solid"/>
          </a:ln>
        </p:spPr>
      </p:sp>
      <p:sp>
        <p:nvSpPr>
          <p:cNvPr id="15" name="Shape 13"/>
          <p:cNvSpPr/>
          <p:nvPr/>
        </p:nvSpPr>
        <p:spPr>
          <a:xfrm>
            <a:off x="4206240" y="3566160"/>
            <a:ext cx="914" cy="1097280"/>
          </a:xfrm>
          <a:prstGeom prst="line">
            <a:avLst/>
          </a:prstGeom>
          <a:noFill/>
          <a:ln w="31750">
            <a:solidFill>
              <a:srgbClr val="B8C4C9"/>
            </a:solidFill>
            <a:prstDash val="solid"/>
          </a:ln>
        </p:spPr>
      </p:sp>
      <p:sp>
        <p:nvSpPr>
          <p:cNvPr id="16" name="Shape 14"/>
          <p:cNvSpPr/>
          <p:nvPr/>
        </p:nvSpPr>
        <p:spPr>
          <a:xfrm flipV="1">
            <a:off x="914400" y="2468880"/>
            <a:ext cx="1280160" cy="1097280"/>
          </a:xfrm>
          <a:prstGeom prst="line">
            <a:avLst/>
          </a:prstGeom>
          <a:noFill/>
          <a:ln w="50800">
            <a:solidFill>
              <a:srgbClr val="0E8C7F"/>
            </a:solidFill>
            <a:prstDash val="solid"/>
          </a:ln>
        </p:spPr>
      </p:sp>
      <p:sp>
        <p:nvSpPr>
          <p:cNvPr id="17" name="Shape 15"/>
          <p:cNvSpPr/>
          <p:nvPr/>
        </p:nvSpPr>
        <p:spPr>
          <a:xfrm>
            <a:off x="2194560" y="2468880"/>
            <a:ext cx="2011680" cy="914"/>
          </a:xfrm>
          <a:prstGeom prst="line">
            <a:avLst/>
          </a:prstGeom>
          <a:noFill/>
          <a:ln w="50800">
            <a:solidFill>
              <a:srgbClr val="0E8C7F"/>
            </a:solidFill>
            <a:prstDash val="solid"/>
          </a:ln>
        </p:spPr>
      </p:sp>
      <p:sp>
        <p:nvSpPr>
          <p:cNvPr id="18" name="Shape 16"/>
          <p:cNvSpPr/>
          <p:nvPr/>
        </p:nvSpPr>
        <p:spPr>
          <a:xfrm>
            <a:off x="4206240" y="2468880"/>
            <a:ext cx="1280160" cy="1097280"/>
          </a:xfrm>
          <a:prstGeom prst="line">
            <a:avLst/>
          </a:prstGeom>
          <a:noFill/>
          <a:ln w="50800">
            <a:solidFill>
              <a:srgbClr val="0E8C7F"/>
            </a:solidFill>
            <a:prstDash val="solid"/>
          </a:ln>
        </p:spPr>
      </p:sp>
      <p:sp>
        <p:nvSpPr>
          <p:cNvPr id="19" name="Shape 17"/>
          <p:cNvSpPr/>
          <p:nvPr/>
        </p:nvSpPr>
        <p:spPr>
          <a:xfrm>
            <a:off x="662940" y="3314700"/>
            <a:ext cx="502920" cy="502920"/>
          </a:xfrm>
          <a:prstGeom prst="ellipse">
            <a:avLst/>
          </a:prstGeom>
          <a:solidFill>
            <a:schemeClr val="accent1"/>
          </a:solidFill>
          <a:ln w="25400">
            <a:solidFill>
              <a:schemeClr val="bg1"/>
            </a:solidFill>
            <a:prstDash val="solid"/>
          </a:ln>
        </p:spPr>
      </p:sp>
      <p:sp>
        <p:nvSpPr>
          <p:cNvPr id="20" name="Text 18"/>
          <p:cNvSpPr txBox="1"/>
          <p:nvPr/>
        </p:nvSpPr>
        <p:spPr>
          <a:xfrm>
            <a:off x="66294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1" name="Shape 19"/>
          <p:cNvSpPr/>
          <p:nvPr/>
        </p:nvSpPr>
        <p:spPr>
          <a:xfrm>
            <a:off x="1943100" y="2217420"/>
            <a:ext cx="502920" cy="502920"/>
          </a:xfrm>
          <a:prstGeom prst="ellipse">
            <a:avLst/>
          </a:prstGeom>
          <a:solidFill>
            <a:schemeClr val="tx2"/>
          </a:solidFill>
          <a:ln w="25400">
            <a:solidFill>
              <a:schemeClr val="bg1"/>
            </a:solidFill>
            <a:prstDash val="solid"/>
          </a:ln>
        </p:spPr>
      </p:sp>
      <p:sp>
        <p:nvSpPr>
          <p:cNvPr id="22" name="Text 20"/>
          <p:cNvSpPr txBox="1"/>
          <p:nvPr/>
        </p:nvSpPr>
        <p:spPr>
          <a:xfrm>
            <a:off x="1943100" y="22174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3" name="Shape 21"/>
          <p:cNvSpPr/>
          <p:nvPr/>
        </p:nvSpPr>
        <p:spPr>
          <a:xfrm>
            <a:off x="1943100" y="3314700"/>
            <a:ext cx="502920" cy="502920"/>
          </a:xfrm>
          <a:prstGeom prst="ellipse">
            <a:avLst/>
          </a:prstGeom>
          <a:solidFill>
            <a:schemeClr val="tx2"/>
          </a:solidFill>
          <a:ln w="25400">
            <a:solidFill>
              <a:schemeClr val="bg1"/>
            </a:solidFill>
            <a:prstDash val="solid"/>
          </a:ln>
        </p:spPr>
      </p:sp>
      <p:sp>
        <p:nvSpPr>
          <p:cNvPr id="24" name="Text 22"/>
          <p:cNvSpPr txBox="1"/>
          <p:nvPr/>
        </p:nvSpPr>
        <p:spPr>
          <a:xfrm>
            <a:off x="194310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25" name="Shape 23"/>
          <p:cNvSpPr/>
          <p:nvPr/>
        </p:nvSpPr>
        <p:spPr>
          <a:xfrm>
            <a:off x="1943100" y="4411980"/>
            <a:ext cx="502920" cy="502920"/>
          </a:xfrm>
          <a:prstGeom prst="ellipse">
            <a:avLst/>
          </a:prstGeom>
          <a:solidFill>
            <a:schemeClr val="tx2"/>
          </a:solidFill>
          <a:ln w="25400">
            <a:solidFill>
              <a:schemeClr val="bg1"/>
            </a:solidFill>
            <a:prstDash val="solid"/>
          </a:ln>
        </p:spPr>
      </p:sp>
      <p:sp>
        <p:nvSpPr>
          <p:cNvPr id="26" name="Text 24"/>
          <p:cNvSpPr txBox="1"/>
          <p:nvPr/>
        </p:nvSpPr>
        <p:spPr>
          <a:xfrm>
            <a:off x="1943100" y="44119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27" name="Shape 25"/>
          <p:cNvSpPr/>
          <p:nvPr/>
        </p:nvSpPr>
        <p:spPr>
          <a:xfrm>
            <a:off x="3954780" y="2217420"/>
            <a:ext cx="502920" cy="502920"/>
          </a:xfrm>
          <a:prstGeom prst="ellipse">
            <a:avLst/>
          </a:prstGeom>
          <a:solidFill>
            <a:schemeClr val="tx2"/>
          </a:solidFill>
          <a:ln w="25400">
            <a:solidFill>
              <a:schemeClr val="bg1"/>
            </a:solidFill>
            <a:prstDash val="solid"/>
          </a:ln>
        </p:spPr>
      </p:sp>
      <p:sp>
        <p:nvSpPr>
          <p:cNvPr id="28" name="Text 26"/>
          <p:cNvSpPr txBox="1"/>
          <p:nvPr/>
        </p:nvSpPr>
        <p:spPr>
          <a:xfrm>
            <a:off x="3954780" y="22174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E</a:t>
            </a:r>
            <a:endParaRPr lang="en-US" sz="1800" dirty="0"/>
          </a:p>
        </p:txBody>
      </p:sp>
      <p:sp>
        <p:nvSpPr>
          <p:cNvPr id="29" name="Shape 27"/>
          <p:cNvSpPr/>
          <p:nvPr/>
        </p:nvSpPr>
        <p:spPr>
          <a:xfrm>
            <a:off x="3954780" y="3314700"/>
            <a:ext cx="502920" cy="502920"/>
          </a:xfrm>
          <a:prstGeom prst="ellipse">
            <a:avLst/>
          </a:prstGeom>
          <a:solidFill>
            <a:schemeClr val="tx2"/>
          </a:solidFill>
          <a:ln w="25400">
            <a:solidFill>
              <a:schemeClr val="bg1"/>
            </a:solidFill>
            <a:prstDash val="solid"/>
          </a:ln>
        </p:spPr>
      </p:sp>
      <p:sp>
        <p:nvSpPr>
          <p:cNvPr id="30" name="Text 28"/>
          <p:cNvSpPr txBox="1"/>
          <p:nvPr/>
        </p:nvSpPr>
        <p:spPr>
          <a:xfrm>
            <a:off x="395478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F</a:t>
            </a:r>
            <a:endParaRPr lang="en-US" sz="1800" dirty="0"/>
          </a:p>
        </p:txBody>
      </p:sp>
      <p:sp>
        <p:nvSpPr>
          <p:cNvPr id="31" name="Shape 29"/>
          <p:cNvSpPr/>
          <p:nvPr/>
        </p:nvSpPr>
        <p:spPr>
          <a:xfrm>
            <a:off x="3954780" y="4411980"/>
            <a:ext cx="502920" cy="502920"/>
          </a:xfrm>
          <a:prstGeom prst="ellipse">
            <a:avLst/>
          </a:prstGeom>
          <a:solidFill>
            <a:schemeClr val="tx2"/>
          </a:solidFill>
          <a:ln w="25400">
            <a:solidFill>
              <a:schemeClr val="bg1"/>
            </a:solidFill>
            <a:prstDash val="solid"/>
          </a:ln>
        </p:spPr>
      </p:sp>
      <p:sp>
        <p:nvSpPr>
          <p:cNvPr id="32" name="Text 30"/>
          <p:cNvSpPr txBox="1"/>
          <p:nvPr/>
        </p:nvSpPr>
        <p:spPr>
          <a:xfrm>
            <a:off x="3954780" y="44119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G</a:t>
            </a:r>
            <a:endParaRPr lang="en-US" sz="1800" dirty="0"/>
          </a:p>
        </p:txBody>
      </p:sp>
      <p:sp>
        <p:nvSpPr>
          <p:cNvPr id="33" name="Shape 31"/>
          <p:cNvSpPr/>
          <p:nvPr/>
        </p:nvSpPr>
        <p:spPr>
          <a:xfrm>
            <a:off x="5234940" y="3314700"/>
            <a:ext cx="502920" cy="502920"/>
          </a:xfrm>
          <a:prstGeom prst="ellipse">
            <a:avLst/>
          </a:prstGeom>
          <a:solidFill>
            <a:schemeClr val="accent1"/>
          </a:solidFill>
          <a:ln w="25400">
            <a:solidFill>
              <a:schemeClr val="bg1"/>
            </a:solidFill>
            <a:prstDash val="solid"/>
          </a:ln>
        </p:spPr>
      </p:sp>
      <p:sp>
        <p:nvSpPr>
          <p:cNvPr id="34" name="Text 32"/>
          <p:cNvSpPr txBox="1"/>
          <p:nvPr/>
        </p:nvSpPr>
        <p:spPr>
          <a:xfrm>
            <a:off x="523494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35" name="Text 33"/>
          <p:cNvSpPr txBox="1"/>
          <p:nvPr/>
        </p:nvSpPr>
        <p:spPr>
          <a:xfrm>
            <a:off x="548640" y="5257800"/>
            <a:ext cx="5486400" cy="822960"/>
          </a:xfrm>
          <a:prstGeom prst="rect">
            <a:avLst/>
          </a:prstGeom>
          <a:noFill/>
          <a:ln/>
        </p:spPr>
        <p:txBody>
          <a:bodyPr wrap="square" lIns="0" tIns="0" rIns="0" bIns="0" rtlCol="0" anchor="t"/>
          <a:lstStyle/>
          <a:p>
            <a:pPr indent="0" marL="0">
              <a:buNone/>
            </a:pPr>
            <a:r>
              <a:rPr lang="en-US" sz="1400" dirty="0">
                <a:solidFill>
                  <a:schemeClr val="accent4"/>
                </a:solidFill>
              </a:rPr>
              <a:t>8 routers, 13 links. Test flow A → H at 40 Mb/s plus competing traffic C → E. Faults hit at 15 s and clear at 40 s.</a:t>
            </a:r>
            <a:endParaRPr lang="en-US" sz="1400" dirty="0"/>
          </a:p>
        </p:txBody>
      </p:sp>
      <p:sp>
        <p:nvSpPr>
          <p:cNvPr id="36" name="Text 34"/>
          <p:cNvSpPr txBox="1"/>
          <p:nvPr/>
        </p:nvSpPr>
        <p:spPr>
          <a:xfrm>
            <a:off x="6492240" y="1463040"/>
            <a:ext cx="5120640" cy="411480"/>
          </a:xfrm>
          <a:prstGeom prst="rect">
            <a:avLst/>
          </a:prstGeom>
          <a:noFill/>
          <a:ln/>
        </p:spPr>
        <p:txBody>
          <a:bodyPr wrap="square" lIns="0" tIns="0" rIns="0" bIns="0" rtlCol="0" anchor="t"/>
          <a:lstStyle/>
          <a:p>
            <a:pPr indent="0" marL="0">
              <a:buNone/>
            </a:pPr>
            <a:r>
              <a:rPr lang="en-US" sz="2000" b="1" dirty="0">
                <a:solidFill>
                  <a:schemeClr val="tx2"/>
                </a:solidFill>
              </a:rPr>
              <a:t>9 experiments</a:t>
            </a:r>
            <a:endParaRPr lang="en-US" sz="2000" dirty="0"/>
          </a:p>
        </p:txBody>
      </p:sp>
      <p:sp>
        <p:nvSpPr>
          <p:cNvPr id="37" name="Text 35"/>
          <p:cNvSpPr txBox="1"/>
          <p:nvPr/>
        </p:nvSpPr>
        <p:spPr>
          <a:xfrm>
            <a:off x="6492240" y="1920240"/>
            <a:ext cx="5120640" cy="25603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Steady network (no faults)</a:t>
            </a:r>
            <a:endParaRPr lang="en-US" sz="1500" dirty="0"/>
          </a:p>
          <a:p>
            <a:pPr marL="342900" indent="-342900">
              <a:spcAft>
                <a:spcPts val="300"/>
              </a:spcAft>
              <a:buSzPct val="100000"/>
              <a:buChar char="•"/>
            </a:pPr>
            <a:r>
              <a:rPr lang="en-US" sz="1500" dirty="0">
                <a:solidFill>
                  <a:schemeClr val="tx1"/>
                </a:solidFill>
              </a:rPr>
              <a:t>Latency spike: 10 → 150 ms</a:t>
            </a:r>
            <a:endParaRPr lang="en-US" sz="1500" dirty="0"/>
          </a:p>
          <a:p>
            <a:pPr marL="342900" indent="-342900">
              <a:spcAft>
                <a:spcPts val="300"/>
              </a:spcAft>
              <a:buSzPct val="100000"/>
              <a:buChar char="•"/>
            </a:pPr>
            <a:r>
              <a:rPr lang="en-US" sz="1500" dirty="0">
                <a:solidFill>
                  <a:schemeClr val="tx1"/>
                </a:solidFill>
              </a:rPr>
              <a:t>Bandwidth drop: 100 → 15 Mb/s</a:t>
            </a:r>
            <a:endParaRPr lang="en-US" sz="1500" dirty="0"/>
          </a:p>
          <a:p>
            <a:pPr marL="342900" indent="-342900">
              <a:spcAft>
                <a:spcPts val="300"/>
              </a:spcAft>
              <a:buSzPct val="100000"/>
              <a:buChar char="•"/>
            </a:pPr>
            <a:r>
              <a:rPr lang="en-US" sz="1500" dirty="0">
                <a:solidFill>
                  <a:schemeClr val="tx1"/>
                </a:solidFill>
              </a:rPr>
              <a:t>Packet loss rises to 12%</a:t>
            </a:r>
            <a:endParaRPr lang="en-US" sz="1500" dirty="0"/>
          </a:p>
          <a:p>
            <a:pPr marL="342900" indent="-342900">
              <a:spcAft>
                <a:spcPts val="300"/>
              </a:spcAft>
              <a:buSzPct val="100000"/>
              <a:buChar char="•"/>
            </a:pPr>
            <a:r>
              <a:rPr lang="en-US" sz="1500" dirty="0">
                <a:solidFill>
                  <a:schemeClr val="tx1"/>
                </a:solidFill>
              </a:rPr>
              <a:t>Link failure</a:t>
            </a:r>
            <a:endParaRPr lang="en-US" sz="1500" dirty="0"/>
          </a:p>
          <a:p>
            <a:pPr marL="342900" indent="-342900">
              <a:spcAft>
                <a:spcPts val="300"/>
              </a:spcAft>
              <a:buSzPct val="100000"/>
              <a:buChar char="•"/>
            </a:pPr>
            <a:r>
              <a:rPr lang="en-US" sz="1500" dirty="0">
                <a:solidFill>
                  <a:schemeClr val="tx1"/>
                </a:solidFill>
              </a:rPr>
              <a:t>Congestion build-up</a:t>
            </a:r>
            <a:endParaRPr lang="en-US" sz="1500" dirty="0"/>
          </a:p>
          <a:p>
            <a:pPr marL="342900" indent="-342900">
              <a:spcAft>
                <a:spcPts val="300"/>
              </a:spcAft>
              <a:buSzPct val="100000"/>
              <a:buChar char="•"/>
            </a:pPr>
            <a:r>
              <a:rPr lang="en-US" sz="1500" dirty="0">
                <a:solidFill>
                  <a:schemeClr val="tx1"/>
                </a:solidFill>
              </a:rPr>
              <a:t>Flapping link (down 2 s every 4 s)</a:t>
            </a:r>
            <a:endParaRPr lang="en-US" sz="1500" dirty="0"/>
          </a:p>
          <a:p>
            <a:pPr marL="342900" indent="-342900">
              <a:spcAft>
                <a:spcPts val="300"/>
              </a:spcAft>
              <a:buSzPct val="100000"/>
              <a:buChar char="•"/>
            </a:pPr>
            <a:r>
              <a:rPr lang="en-US" sz="1500" dirty="0">
                <a:solidFill>
                  <a:schemeClr val="tx1"/>
                </a:solidFill>
              </a:rPr>
              <a:t>7 random faults</a:t>
            </a:r>
            <a:endParaRPr lang="en-US" sz="1500" dirty="0"/>
          </a:p>
          <a:p>
            <a:pPr marL="342900" indent="-342900">
              <a:spcAft>
                <a:spcPts val="300"/>
              </a:spcAft>
              <a:buSzPct val="100000"/>
              <a:buChar char="•"/>
            </a:pPr>
            <a:r>
              <a:rPr lang="en-US" sz="1500" dirty="0">
                <a:solidFill>
                  <a:schemeClr val="tx1"/>
                </a:solidFill>
              </a:rPr>
              <a:t>Lossy shortcut (A-B-D example)</a:t>
            </a:r>
            <a:endParaRPr lang="en-US" sz="1500" dirty="0"/>
          </a:p>
        </p:txBody>
      </p:sp>
      <p:sp>
        <p:nvSpPr>
          <p:cNvPr id="38" name="baselines"/>
          <p:cNvSpPr/>
          <p:nvPr/>
        </p:nvSpPr>
        <p:spPr>
          <a:xfrm>
            <a:off x="6492240" y="4617720"/>
            <a:ext cx="5120640" cy="1463040"/>
          </a:xfrm>
          <a:prstGeom prst="roundRect">
            <a:avLst>
              <a:gd name="adj" fmla="val 7500"/>
            </a:avLst>
          </a:prstGeom>
          <a:solidFill>
            <a:srgbClr val="E3F2EF"/>
          </a:solidFill>
          <a:ln w="12700">
            <a:solidFill>
              <a:srgbClr val="E3F2EF"/>
            </a:solidFill>
            <a:prstDash val="solid"/>
          </a:ln>
        </p:spPr>
      </p:sp>
      <p:sp>
        <p:nvSpPr>
          <p:cNvPr id="39" name="Text 37"/>
          <p:cNvSpPr txBox="1"/>
          <p:nvPr/>
        </p:nvSpPr>
        <p:spPr>
          <a:xfrm>
            <a:off x="6720840" y="4754880"/>
            <a:ext cx="4663440" cy="1188720"/>
          </a:xfrm>
          <a:prstGeom prst="rect">
            <a:avLst/>
          </a:prstGeom>
          <a:noFill/>
          <a:ln/>
        </p:spPr>
        <p:txBody>
          <a:bodyPr wrap="square" lIns="0" tIns="0" rIns="0" bIns="0" rtlCol="0" anchor="ctr"/>
          <a:lstStyle/>
          <a:p>
            <a:pPr indent="0" marL="0">
              <a:buNone/>
            </a:pPr>
            <a:r>
              <a:rPr lang="en-US" sz="1500" b="1" dirty="0">
                <a:solidFill>
                  <a:schemeClr val="tx2"/>
                </a:solidFill>
              </a:rPr>
              <a:t>Compared against: </a:t>
            </a:r>
            <a:pPr indent="0" marL="0">
              <a:buNone/>
            </a:pPr>
            <a:r>
              <a:rPr lang="en-US" sz="1500" dirty="0">
                <a:solidFill>
                  <a:schemeClr val="tx1"/>
                </a:solidFill>
              </a:rPr>
              <a:t>OSPF-like static routing, latency-only dynamic routing, and RIP-like hop count. 10 random seeds each, Welch's t-test (p &lt; 0.05).</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Headline results vs. OSPF-like routing</a:t>
            </a:r>
            <a:endParaRPr lang="en-US" sz="3400" dirty="0"/>
          </a:p>
        </p:txBody>
      </p:sp>
      <p:sp>
        <p:nvSpPr>
          <p:cNvPr id="3" name="stat0"/>
          <p:cNvSpPr/>
          <p:nvPr/>
        </p:nvSpPr>
        <p:spPr>
          <a:xfrm>
            <a:off x="548640" y="1600200"/>
            <a:ext cx="2606040" cy="3017520"/>
          </a:xfrm>
          <a:prstGeom prst="roundRect">
            <a:avLst>
              <a:gd name="adj" fmla="val 4211"/>
            </a:avLst>
          </a:prstGeom>
          <a:solidFill>
            <a:srgbClr val="F3F6F6"/>
          </a:solidFill>
          <a:ln w="12700">
            <a:solidFill>
              <a:srgbClr val="F3F6F6"/>
            </a:solidFill>
            <a:prstDash val="solid"/>
          </a:ln>
        </p:spPr>
      </p:sp>
      <p:sp>
        <p:nvSpPr>
          <p:cNvPr id="4" name="Text 2"/>
          <p:cNvSpPr txBox="1"/>
          <p:nvPr/>
        </p:nvSpPr>
        <p:spPr>
          <a:xfrm>
            <a:off x="777240"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9×</a:t>
            </a:r>
            <a:endParaRPr lang="en-US" sz="4600" dirty="0"/>
          </a:p>
        </p:txBody>
      </p:sp>
      <p:sp>
        <p:nvSpPr>
          <p:cNvPr id="5" name="Text 3"/>
          <p:cNvSpPr txBox="1"/>
          <p:nvPr/>
        </p:nvSpPr>
        <p:spPr>
          <a:xfrm>
            <a:off x="777240"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faster recovery from a link failure</a:t>
            </a:r>
            <a:endParaRPr lang="en-US" sz="1600" dirty="0"/>
          </a:p>
        </p:txBody>
      </p:sp>
      <p:sp>
        <p:nvSpPr>
          <p:cNvPr id="6" name="Text 4"/>
          <p:cNvSpPr txBox="1"/>
          <p:nvPr/>
        </p:nvSpPr>
        <p:spPr>
          <a:xfrm>
            <a:off x="777240"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0.13 s vs 1.15 s</a:t>
            </a:r>
            <a:endParaRPr lang="en-US" sz="1400" dirty="0"/>
          </a:p>
        </p:txBody>
      </p:sp>
      <p:sp>
        <p:nvSpPr>
          <p:cNvPr id="7" name="stat1"/>
          <p:cNvSpPr/>
          <p:nvPr/>
        </p:nvSpPr>
        <p:spPr>
          <a:xfrm>
            <a:off x="3364992" y="1600200"/>
            <a:ext cx="2606040" cy="3017520"/>
          </a:xfrm>
          <a:prstGeom prst="roundRect">
            <a:avLst>
              <a:gd name="adj" fmla="val 4211"/>
            </a:avLst>
          </a:prstGeom>
          <a:solidFill>
            <a:srgbClr val="F3F6F6"/>
          </a:solidFill>
          <a:ln w="12700">
            <a:solidFill>
              <a:srgbClr val="F3F6F6"/>
            </a:solidFill>
            <a:prstDash val="solid"/>
          </a:ln>
        </p:spPr>
      </p:sp>
      <p:sp>
        <p:nvSpPr>
          <p:cNvPr id="8" name="Text 6"/>
          <p:cNvSpPr txBox="1"/>
          <p:nvPr/>
        </p:nvSpPr>
        <p:spPr>
          <a:xfrm>
            <a:off x="3593592"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99.6%</a:t>
            </a:r>
            <a:endParaRPr lang="en-US" sz="4600" dirty="0"/>
          </a:p>
        </p:txBody>
      </p:sp>
      <p:sp>
        <p:nvSpPr>
          <p:cNvPr id="9" name="Text 7"/>
          <p:cNvSpPr txBox="1"/>
          <p:nvPr/>
        </p:nvSpPr>
        <p:spPr>
          <a:xfrm>
            <a:off x="3593592"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packets delivered when bandwidth drops</a:t>
            </a:r>
            <a:endParaRPr lang="en-US" sz="1600" dirty="0"/>
          </a:p>
        </p:txBody>
      </p:sp>
      <p:sp>
        <p:nvSpPr>
          <p:cNvPr id="10" name="Text 8"/>
          <p:cNvSpPr txBox="1"/>
          <p:nvPr/>
        </p:nvSpPr>
        <p:spPr>
          <a:xfrm>
            <a:off x="3593592"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vs 86.7% for OSPF</a:t>
            </a:r>
            <a:endParaRPr lang="en-US" sz="1400" dirty="0"/>
          </a:p>
        </p:txBody>
      </p:sp>
      <p:sp>
        <p:nvSpPr>
          <p:cNvPr id="11" name="stat2"/>
          <p:cNvSpPr/>
          <p:nvPr/>
        </p:nvSpPr>
        <p:spPr>
          <a:xfrm>
            <a:off x="6181344" y="1600200"/>
            <a:ext cx="2606040" cy="3017520"/>
          </a:xfrm>
          <a:prstGeom prst="roundRect">
            <a:avLst>
              <a:gd name="adj" fmla="val 4211"/>
            </a:avLst>
          </a:prstGeom>
          <a:solidFill>
            <a:srgbClr val="F3F6F6"/>
          </a:solidFill>
          <a:ln w="12700">
            <a:solidFill>
              <a:srgbClr val="F3F6F6"/>
            </a:solidFill>
            <a:prstDash val="solid"/>
          </a:ln>
        </p:spPr>
      </p:sp>
      <p:sp>
        <p:nvSpPr>
          <p:cNvPr id="12" name="Text 10"/>
          <p:cNvSpPr txBox="1"/>
          <p:nvPr/>
        </p:nvSpPr>
        <p:spPr>
          <a:xfrm>
            <a:off x="6409944"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0 s</a:t>
            </a:r>
            <a:endParaRPr lang="en-US" sz="4600" dirty="0"/>
          </a:p>
        </p:txBody>
      </p:sp>
      <p:sp>
        <p:nvSpPr>
          <p:cNvPr id="13" name="Text 11"/>
          <p:cNvSpPr txBox="1"/>
          <p:nvPr/>
        </p:nvSpPr>
        <p:spPr>
          <a:xfrm>
            <a:off x="6409944"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of degraded service during congestion</a:t>
            </a:r>
            <a:endParaRPr lang="en-US" sz="1600" dirty="0"/>
          </a:p>
        </p:txBody>
      </p:sp>
      <p:sp>
        <p:nvSpPr>
          <p:cNvPr id="14" name="Text 12"/>
          <p:cNvSpPr txBox="1"/>
          <p:nvPr/>
        </p:nvSpPr>
        <p:spPr>
          <a:xfrm>
            <a:off x="6409944"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vs 19.5 s for OSPF</a:t>
            </a:r>
            <a:endParaRPr lang="en-US" sz="1400" dirty="0"/>
          </a:p>
        </p:txBody>
      </p:sp>
      <p:sp>
        <p:nvSpPr>
          <p:cNvPr id="15" name="stat3"/>
          <p:cNvSpPr/>
          <p:nvPr/>
        </p:nvSpPr>
        <p:spPr>
          <a:xfrm>
            <a:off x="8997696" y="1600200"/>
            <a:ext cx="2606040" cy="3017520"/>
          </a:xfrm>
          <a:prstGeom prst="roundRect">
            <a:avLst>
              <a:gd name="adj" fmla="val 4211"/>
            </a:avLst>
          </a:prstGeom>
          <a:solidFill>
            <a:srgbClr val="F3F6F6"/>
          </a:solidFill>
          <a:ln w="12700">
            <a:solidFill>
              <a:srgbClr val="F3F6F6"/>
            </a:solidFill>
            <a:prstDash val="solid"/>
          </a:ln>
        </p:spPr>
      </p:sp>
      <p:sp>
        <p:nvSpPr>
          <p:cNvPr id="16" name="Text 14"/>
          <p:cNvSpPr txBox="1"/>
          <p:nvPr/>
        </p:nvSpPr>
        <p:spPr>
          <a:xfrm>
            <a:off x="9226296"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2 vs 12</a:t>
            </a:r>
            <a:endParaRPr lang="en-US" sz="4600" dirty="0"/>
          </a:p>
        </p:txBody>
      </p:sp>
      <p:sp>
        <p:nvSpPr>
          <p:cNvPr id="17" name="Text 15"/>
          <p:cNvSpPr txBox="1"/>
          <p:nvPr/>
        </p:nvSpPr>
        <p:spPr>
          <a:xfrm>
            <a:off x="9226296"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route changes on a flapping link</a:t>
            </a:r>
            <a:endParaRPr lang="en-US" sz="1600" dirty="0"/>
          </a:p>
        </p:txBody>
      </p:sp>
      <p:sp>
        <p:nvSpPr>
          <p:cNvPr id="18" name="Text 16"/>
          <p:cNvSpPr txBox="1"/>
          <p:nvPr/>
        </p:nvSpPr>
        <p:spPr>
          <a:xfrm>
            <a:off x="9226296"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OSPF loses ~6% of traffic</a:t>
            </a:r>
            <a:endParaRPr lang="en-US" sz="1400" dirty="0"/>
          </a:p>
        </p:txBody>
      </p:sp>
      <p:sp>
        <p:nvSpPr>
          <p:cNvPr id="19" name="verdict"/>
          <p:cNvSpPr/>
          <p:nvPr/>
        </p:nvSpPr>
        <p:spPr>
          <a:xfrm>
            <a:off x="548640" y="4937760"/>
            <a:ext cx="11064240" cy="1097280"/>
          </a:xfrm>
          <a:prstGeom prst="roundRect">
            <a:avLst>
              <a:gd name="adj" fmla="val 10000"/>
            </a:avLst>
          </a:prstGeom>
          <a:solidFill>
            <a:srgbClr val="E3F2EF"/>
          </a:solidFill>
          <a:ln w="12700">
            <a:solidFill>
              <a:srgbClr val="E3F2EF"/>
            </a:solidFill>
            <a:prstDash val="solid"/>
          </a:ln>
        </p:spPr>
      </p:sp>
      <p:sp>
        <p:nvSpPr>
          <p:cNvPr id="20" name="Text 18"/>
          <p:cNvSpPr txBox="1"/>
          <p:nvPr/>
        </p:nvSpPr>
        <p:spPr>
          <a:xfrm>
            <a:off x="822960" y="5074920"/>
            <a:ext cx="10515600" cy="822960"/>
          </a:xfrm>
          <a:prstGeom prst="rect">
            <a:avLst/>
          </a:prstGeom>
          <a:noFill/>
          <a:ln/>
        </p:spPr>
        <p:txBody>
          <a:bodyPr wrap="square" lIns="0" tIns="0" rIns="0" bIns="0" rtlCol="0" anchor="ctr"/>
          <a:lstStyle/>
          <a:p>
            <a:pPr indent="0" marL="0">
              <a:buNone/>
            </a:pPr>
            <a:r>
              <a:rPr lang="en-US" sz="1600" b="1" dirty="0">
                <a:solidFill>
                  <a:schemeClr val="tx2"/>
                </a:solidFill>
              </a:rPr>
              <a:t>Statistically significant gains in every fault scenario (p &lt; 0.05), </a:t>
            </a:r>
            <a:pPr indent="0" marL="0">
              <a:buNone/>
            </a:pPr>
            <a:r>
              <a:rPr lang="en-US" sz="1600" dirty="0">
                <a:solidFill>
                  <a:schemeClr val="tx1"/>
                </a:solidFill>
              </a:rPr>
              <a:t>and exactly the same as OSPF on a healthy network, so adapting costs nothing when there are no faults.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Time with degraded service during a 25-second fault</a:t>
            </a:r>
            <a:endParaRPr lang="en-US" sz="3400" dirty="0"/>
          </a:p>
        </p:txBody>
      </p:sp>
      <p:graphicFrame>
        <p:nvGraphicFramePr>
          <p:cNvPr id="3" name="Chart 0" descr=""/>
          <p:cNvGraphicFramePr/>
          <p:nvPr/>
        </p:nvGraphicFramePr>
        <p:xfrm>
          <a:off x="548640" y="1371600"/>
          <a:ext cx="7680960" cy="4754880"/>
        </p:xfrm>
        <a:graphic xmlns:a="http://schemas.openxmlformats.org/drawingml/2006/main">
          <a:graphicData uri="http://schemas.openxmlformats.org/drawingml/2006/chart">
            <c:chart xmlns:c="http://schemas.openxmlformats.org/drawingml/2006/chart" r:id="rId1"/>
          </a:graphicData>
        </a:graphic>
      </p:graphicFrame>
      <p:sp>
        <p:nvSpPr>
          <p:cNvPr id="4" name="chartNote"/>
          <p:cNvSpPr/>
          <p:nvPr/>
        </p:nvSpPr>
        <p:spPr>
          <a:xfrm>
            <a:off x="8595360" y="1463040"/>
            <a:ext cx="3017520" cy="4572000"/>
          </a:xfrm>
          <a:prstGeom prst="roundRect">
            <a:avLst>
              <a:gd name="adj" fmla="val 3636"/>
            </a:avLst>
          </a:prstGeom>
          <a:solidFill>
            <a:srgbClr val="F3F6F6"/>
          </a:solidFill>
          <a:ln w="12700">
            <a:solidFill>
              <a:srgbClr val="F3F6F6"/>
            </a:solidFill>
            <a:prstDash val="solid"/>
          </a:ln>
        </p:spPr>
      </p:sp>
      <p:sp>
        <p:nvSpPr>
          <p:cNvPr id="5" name="Text 2"/>
          <p:cNvSpPr txBox="1"/>
          <p:nvPr/>
        </p:nvSpPr>
        <p:spPr>
          <a:xfrm>
            <a:off x="8823960" y="1645920"/>
            <a:ext cx="2606040" cy="411480"/>
          </a:xfrm>
          <a:prstGeom prst="rect">
            <a:avLst/>
          </a:prstGeom>
          <a:noFill/>
          <a:ln/>
        </p:spPr>
        <p:txBody>
          <a:bodyPr wrap="square" lIns="0" tIns="0" rIns="0" bIns="0" rtlCol="0" anchor="t"/>
          <a:lstStyle/>
          <a:p>
            <a:pPr indent="0" marL="0">
              <a:buNone/>
            </a:pPr>
            <a:r>
              <a:rPr lang="en-US" sz="1800" b="1" dirty="0">
                <a:solidFill>
                  <a:schemeClr val="tx2"/>
                </a:solidFill>
              </a:rPr>
              <a:t>What this shows</a:t>
            </a:r>
            <a:endParaRPr lang="en-US" sz="1800" dirty="0"/>
          </a:p>
        </p:txBody>
      </p:sp>
      <p:sp>
        <p:nvSpPr>
          <p:cNvPr id="6" name="Text 3"/>
          <p:cNvSpPr txBox="1"/>
          <p:nvPr/>
        </p:nvSpPr>
        <p:spPr>
          <a:xfrm>
            <a:off x="8823960" y="2148840"/>
            <a:ext cx="260604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OSPF keeps using a link that is slow, lossy or full for almost the whole fault.</a:t>
            </a:r>
            <a:endParaRPr lang="en-US" sz="1500" dirty="0"/>
          </a:p>
          <a:p>
            <a:pPr marL="342900" indent="-342900">
              <a:spcAft>
                <a:spcPts val="800"/>
              </a:spcAft>
              <a:buSzPct val="100000"/>
              <a:buChar char="•"/>
            </a:pPr>
            <a:r>
              <a:rPr lang="en-US" sz="1500" dirty="0">
                <a:solidFill>
                  <a:schemeClr val="tx1"/>
                </a:solidFill>
              </a:rPr>
              <a:t>Our protocol moves away in under a second in every case.</a:t>
            </a:r>
            <a:endParaRPr lang="en-US" sz="1500" dirty="0"/>
          </a:p>
          <a:p>
            <a:pPr marL="342900" indent="-342900">
              <a:spcAft>
                <a:spcPts val="800"/>
              </a:spcAft>
              <a:buSzPct val="100000"/>
              <a:buChar char="•"/>
            </a:pPr>
            <a:r>
              <a:rPr lang="en-US" sz="1500" dirty="0">
                <a:solidFill>
                  <a:schemeClr val="tx1"/>
                </a:solidFill>
              </a:rPr>
              <a:t>Latency spike: neither loses throughput, but ours cuts delay from 49 to 24 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What the test flow actually experienced</a:t>
            </a:r>
            <a:endParaRPr lang="en-US" sz="3400" dirty="0"/>
          </a:p>
        </p:txBody>
      </p:sp>
      <p:pic>
        <p:nvPicPr>
          <p:cNvPr id="3" name="Image 0" descr="Throughput and latency of the test flow over time in six fault scenarios for all four routing policies">    </p:cNvPr>
          <p:cNvPicPr>
            <a:picLocks noChangeAspect="1"/>
          </p:cNvPicPr>
          <p:nvPr/>
        </p:nvPicPr>
        <p:blipFill>
          <a:blip r:embed="rId1"/>
          <a:stretch>
            <a:fillRect/>
          </a:stretch>
        </p:blipFill>
        <p:spPr>
          <a:xfrm>
            <a:off x="1523848" y="1234440"/>
            <a:ext cx="9144000" cy="4783015"/>
          </a:xfrm>
          <a:prstGeom prst="rect">
            <a:avLst/>
          </a:prstGeom>
        </p:spPr>
      </p:pic>
      <p:sp>
        <p:nvSpPr>
          <p:cNvPr id="4" name="Text 1"/>
          <p:cNvSpPr txBox="1"/>
          <p:nvPr/>
        </p:nvSpPr>
        <p:spPr>
          <a:xfrm>
            <a:off x="548640" y="6127183"/>
            <a:ext cx="11064240" cy="365760"/>
          </a:xfrm>
          <a:prstGeom prst="rect">
            <a:avLst/>
          </a:prstGeom>
          <a:noFill/>
          <a:ln/>
        </p:spPr>
        <p:txBody>
          <a:bodyPr wrap="square" lIns="0" tIns="0" rIns="0" bIns="0" rtlCol="0" anchor="t"/>
          <a:lstStyle/>
          <a:p>
            <a:pPr algn="ctr" indent="0" marL="0">
              <a:buNone/>
            </a:pPr>
            <a:r>
              <a:rPr lang="en-US" sz="1400" i="1" dirty="0">
                <a:solidFill>
                  <a:schemeClr val="accent4"/>
                </a:solidFill>
              </a:rPr>
              <a:t>Blue = our protocol, orange = OSPF-like. Grey band = fault window. Blue stays at the full 40 Mb/s while the others drop.</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Every decision is explained, and you can watch it live</a:t>
            </a:r>
            <a:endParaRPr lang="en-US" sz="3400" dirty="0"/>
          </a:p>
        </p:txBody>
      </p:sp>
      <p:sp>
        <p:nvSpPr>
          <p:cNvPr id="3" name="log"/>
          <p:cNvSpPr/>
          <p:nvPr/>
        </p:nvSpPr>
        <p:spPr>
          <a:xfrm>
            <a:off x="548640" y="1463040"/>
            <a:ext cx="6400800" cy="4480560"/>
          </a:xfrm>
          <a:prstGeom prst="roundRect">
            <a:avLst>
              <a:gd name="adj" fmla="val 2449"/>
            </a:avLst>
          </a:prstGeom>
          <a:solidFill>
            <a:schemeClr val="tx2"/>
          </a:solidFill>
          <a:ln w="12700">
            <a:solidFill>
              <a:schemeClr val="tx2"/>
            </a:solidFill>
            <a:prstDash val="solid"/>
          </a:ln>
        </p:spPr>
      </p:sp>
      <p:sp>
        <p:nvSpPr>
          <p:cNvPr id="4" name="Text 2"/>
          <p:cNvSpPr txBox="1"/>
          <p:nvPr/>
        </p:nvSpPr>
        <p:spPr>
          <a:xfrm>
            <a:off x="822960" y="1691640"/>
            <a:ext cx="5852160" cy="365760"/>
          </a:xfrm>
          <a:prstGeom prst="rect">
            <a:avLst/>
          </a:prstGeom>
          <a:noFill/>
          <a:ln/>
        </p:spPr>
        <p:txBody>
          <a:bodyPr wrap="square" lIns="0" tIns="0" rIns="0" bIns="0" rtlCol="0" anchor="t"/>
          <a:lstStyle/>
          <a:p>
            <a:pPr indent="0" marL="0">
              <a:buNone/>
            </a:pPr>
            <a:r>
              <a:rPr lang="en-US" sz="1700" b="1" dirty="0">
                <a:solidFill>
                  <a:srgbClr val="B9D9D4"/>
                </a:solidFill>
              </a:rPr>
              <a:t>Route-change log: link B-E fails at 15 s</a:t>
            </a:r>
            <a:endParaRPr lang="en-US" sz="1700" dirty="0"/>
          </a:p>
        </p:txBody>
      </p:sp>
      <p:sp>
        <p:nvSpPr>
          <p:cNvPr id="5" name="Text 3"/>
          <p:cNvSpPr txBox="1"/>
          <p:nvPr/>
        </p:nvSpPr>
        <p:spPr>
          <a:xfrm>
            <a:off x="822960" y="2240280"/>
            <a:ext cx="5943600" cy="3474720"/>
          </a:xfrm>
          <a:prstGeom prst="rect">
            <a:avLst/>
          </a:prstGeom>
          <a:noFill/>
          <a:ln/>
        </p:spPr>
        <p:txBody>
          <a:bodyPr wrap="square" lIns="0" tIns="0" rIns="0" bIns="0" rtlCol="0" anchor="t"/>
          <a:lstStyle/>
          <a:p>
            <a:pPr indent="0" marL="0">
              <a:spcAft>
                <a:spcPts val="400"/>
              </a:spcAft>
              <a:buNone/>
            </a:pPr>
            <a:r>
              <a:rPr lang="en-US" sz="1600" b="1" dirty="0">
                <a:solidFill>
                  <a:srgbClr val="9FE0D5"/>
                </a:solidFill>
                <a:latin typeface="Calibri" pitchFamily="34" charset="0"/>
                <a:ea typeface="Calibri" pitchFamily="34" charset="-122"/>
                <a:cs typeface="Calibri" pitchFamily="34" charset="-120"/>
              </a:rPr>
              <a:t>Our protocol</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15.3 s  A-B-E-H  =&gt;  A-C-F-H</a:t>
            </a:r>
            <a:endParaRPr lang="en-US" sz="1500" dirty="0"/>
          </a:p>
          <a:p>
            <a:pPr indent="0" marL="0">
              <a:spcAft>
                <a:spcPts val="400"/>
              </a:spcAft>
              <a:buNone/>
            </a:pPr>
            <a:r>
              <a:rPr lang="en-US" sz="1500" dirty="0">
                <a:solidFill>
                  <a:srgbClr val="F6C08F"/>
                </a:solidFill>
                <a:latin typeface="Courier New" pitchFamily="34" charset="0"/>
                <a:ea typeface="Courier New" pitchFamily="34" charset="-122"/>
                <a:cs typeface="Courier New" pitchFamily="34" charset="-120"/>
              </a:rPr>
              <a:t>  loss on B-E ~30%, 73% cheaper path</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59.3 s  A-C-F-H  =&gt;  A-B-E-H</a:t>
            </a:r>
            <a:endParaRPr lang="en-US" sz="1500" dirty="0"/>
          </a:p>
          <a:p>
            <a:pPr indent="0" marL="0">
              <a:spcAft>
                <a:spcPts val="400"/>
              </a:spcAft>
              <a:buNone/>
            </a:pPr>
            <a:r>
              <a:rPr lang="en-US" sz="1500" dirty="0">
                <a:solidFill>
                  <a:srgbClr val="9FE0D5"/>
                </a:solidFill>
                <a:latin typeface="Courier New" pitchFamily="34" charset="0"/>
                <a:ea typeface="Courier New" pitchFamily="34" charset="-122"/>
                <a:cs typeface="Courier New" pitchFamily="34" charset="-120"/>
              </a:rPr>
              <a:t>  better path available (16% cheaper)</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 </a:t>
            </a:r>
            <a:endParaRPr lang="en-US" sz="1500" dirty="0"/>
          </a:p>
          <a:p>
            <a:pPr indent="0" marL="0">
              <a:spcAft>
                <a:spcPts val="400"/>
              </a:spcAft>
              <a:buNone/>
            </a:pPr>
            <a:r>
              <a:rPr lang="en-US" sz="1600" b="1" dirty="0">
                <a:solidFill>
                  <a:srgbClr val="F6C08F"/>
                </a:solidFill>
                <a:latin typeface="Calibri" pitchFamily="34" charset="0"/>
                <a:ea typeface="Calibri" pitchFamily="34" charset="-122"/>
                <a:cs typeface="Calibri" pitchFamily="34" charset="-120"/>
              </a:rPr>
              <a:t>OSPF-like</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16.3 s  A-B-E-H  =&gt;  A-C-F-H</a:t>
            </a:r>
            <a:endParaRPr lang="en-US" sz="1500" dirty="0"/>
          </a:p>
          <a:p>
            <a:pPr indent="0" marL="0">
              <a:spcAft>
                <a:spcPts val="400"/>
              </a:spcAft>
              <a:buNone/>
            </a:pPr>
            <a:r>
              <a:rPr lang="en-US" sz="1500" dirty="0">
                <a:solidFill>
                  <a:srgbClr val="F6C08F"/>
                </a:solidFill>
                <a:latin typeface="Courier New" pitchFamily="34" charset="0"/>
                <a:ea typeface="Courier New" pitchFamily="34" charset="-122"/>
                <a:cs typeface="Courier New" pitchFamily="34" charset="-120"/>
              </a:rPr>
              <a:t>  link B-E declared down (3 missed probes)</a:t>
            </a:r>
            <a:endParaRPr lang="en-US" sz="1500" dirty="0"/>
          </a:p>
        </p:txBody>
      </p:sp>
      <p:sp>
        <p:nvSpPr>
          <p:cNvPr id="6" name="Text 4"/>
          <p:cNvSpPr txBox="1"/>
          <p:nvPr/>
        </p:nvSpPr>
        <p:spPr>
          <a:xfrm>
            <a:off x="7315200" y="1463040"/>
            <a:ext cx="4297680" cy="411480"/>
          </a:xfrm>
          <a:prstGeom prst="rect">
            <a:avLst/>
          </a:prstGeom>
          <a:noFill/>
          <a:ln/>
        </p:spPr>
        <p:txBody>
          <a:bodyPr wrap="square" lIns="0" tIns="0" rIns="0" bIns="0" rtlCol="0" anchor="t"/>
          <a:lstStyle/>
          <a:p>
            <a:pPr indent="0" marL="0">
              <a:buNone/>
            </a:pPr>
            <a:r>
              <a:rPr lang="en-US" sz="2000" b="1" dirty="0">
                <a:solidFill>
                  <a:schemeClr val="tx2"/>
                </a:solidFill>
              </a:rPr>
              <a:t>Interactive dashboard</a:t>
            </a:r>
            <a:endParaRPr lang="en-US" sz="2000" dirty="0"/>
          </a:p>
        </p:txBody>
      </p:sp>
      <p:sp>
        <p:nvSpPr>
          <p:cNvPr id="7" name="Text 5"/>
          <p:cNvSpPr txBox="1"/>
          <p:nvPr/>
        </p:nvSpPr>
        <p:spPr>
          <a:xfrm>
            <a:off x="7315200" y="1965960"/>
            <a:ext cx="429768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See the topology and the chosen route</a:t>
            </a:r>
            <a:endParaRPr lang="en-US" sz="1600" dirty="0"/>
          </a:p>
          <a:p>
            <a:pPr marL="342900" indent="-342900">
              <a:spcAft>
                <a:spcPts val="600"/>
              </a:spcAft>
              <a:buSzPct val="100000"/>
              <a:buChar char="•"/>
            </a:pPr>
            <a:r>
              <a:rPr lang="en-US" sz="1600" dirty="0">
                <a:solidFill>
                  <a:schemeClr val="tx1"/>
                </a:solidFill>
              </a:rPr>
              <a:t>Watch link health change during a fault</a:t>
            </a:r>
            <a:endParaRPr lang="en-US" sz="1600" dirty="0"/>
          </a:p>
          <a:p>
            <a:pPr marL="342900" indent="-342900">
              <a:spcAft>
                <a:spcPts val="600"/>
              </a:spcAft>
              <a:buSzPct val="100000"/>
              <a:buChar char="•"/>
            </a:pPr>
            <a:r>
              <a:rPr lang="en-US" sz="1600" dirty="0">
                <a:solidFill>
                  <a:schemeClr val="tx1"/>
                </a:solidFill>
              </a:rPr>
              <a:t>Inject your own faults on any link</a:t>
            </a:r>
            <a:endParaRPr lang="en-US" sz="1600" dirty="0"/>
          </a:p>
          <a:p>
            <a:pPr marL="342900" indent="-342900">
              <a:spcAft>
                <a:spcPts val="600"/>
              </a:spcAft>
              <a:buSzPct val="100000"/>
              <a:buChar char="•"/>
            </a:pPr>
            <a:r>
              <a:rPr lang="en-US" sz="1600" dirty="0">
                <a:solidFill>
                  <a:schemeClr val="tx1"/>
                </a:solidFill>
              </a:rPr>
              <a:t>Change the cost weights and see the effect</a:t>
            </a:r>
            <a:endParaRPr lang="en-US" sz="1600" dirty="0"/>
          </a:p>
          <a:p>
            <a:pPr marL="342900" indent="-342900">
              <a:spcAft>
                <a:spcPts val="600"/>
              </a:spcAft>
              <a:buSzPct val="100000"/>
              <a:buChar char="•"/>
            </a:pPr>
            <a:r>
              <a:rPr lang="en-US" sz="1600" dirty="0">
                <a:solidFill>
                  <a:schemeClr val="tx1"/>
                </a:solidFill>
              </a:rPr>
              <a:t>Compare against any baseline</a:t>
            </a:r>
            <a:endParaRPr lang="en-US" sz="1600" dirty="0"/>
          </a:p>
        </p:txBody>
      </p:sp>
      <p:sp>
        <p:nvSpPr>
          <p:cNvPr id="8" name="runCmd"/>
          <p:cNvSpPr/>
          <p:nvPr/>
        </p:nvSpPr>
        <p:spPr>
          <a:xfrm>
            <a:off x="7315200" y="4572000"/>
            <a:ext cx="4297680" cy="1371600"/>
          </a:xfrm>
          <a:prstGeom prst="roundRect">
            <a:avLst>
              <a:gd name="adj" fmla="val 8000"/>
            </a:avLst>
          </a:prstGeom>
          <a:solidFill>
            <a:srgbClr val="E3F2EF"/>
          </a:solidFill>
          <a:ln w="12700">
            <a:solidFill>
              <a:srgbClr val="E3F2EF"/>
            </a:solidFill>
            <a:prstDash val="solid"/>
          </a:ln>
        </p:spPr>
      </p:sp>
      <p:sp>
        <p:nvSpPr>
          <p:cNvPr id="9" name="Text 7"/>
          <p:cNvSpPr txBox="1"/>
          <p:nvPr/>
        </p:nvSpPr>
        <p:spPr>
          <a:xfrm>
            <a:off x="7543800" y="4663440"/>
            <a:ext cx="3931920" cy="1188720"/>
          </a:xfrm>
          <a:prstGeom prst="rect">
            <a:avLst/>
          </a:prstGeom>
          <a:noFill/>
          <a:ln/>
        </p:spPr>
        <p:txBody>
          <a:bodyPr wrap="square" lIns="0" tIns="0" rIns="0" bIns="0" rtlCol="0" anchor="ctr"/>
          <a:lstStyle/>
          <a:p>
            <a:pPr indent="0" marL="0">
              <a:buNone/>
            </a:pPr>
            <a:r>
              <a:rPr lang="en-US" sz="1500" b="1" dirty="0">
                <a:solidFill>
                  <a:schemeClr val="tx2"/>
                </a:solidFill>
              </a:rPr>
              <a:t>Run it</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demo</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dashboard</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Trade-offs, limitations and next steps</a:t>
            </a:r>
            <a:endParaRPr lang="en-US" sz="3400" dirty="0"/>
          </a:p>
        </p:txBody>
      </p:sp>
      <p:sp>
        <p:nvSpPr>
          <p:cNvPr id="3" name="col0"/>
          <p:cNvSpPr/>
          <p:nvPr/>
        </p:nvSpPr>
        <p:spPr>
          <a:xfrm>
            <a:off x="548640" y="1508760"/>
            <a:ext cx="3520440" cy="3749040"/>
          </a:xfrm>
          <a:prstGeom prst="roundRect">
            <a:avLst>
              <a:gd name="adj" fmla="val 3117"/>
            </a:avLst>
          </a:prstGeom>
          <a:solidFill>
            <a:srgbClr val="FFF6E0"/>
          </a:solidFill>
          <a:ln w="12700">
            <a:solidFill>
              <a:srgbClr val="FFF6E0"/>
            </a:solidFill>
            <a:prstDash val="solid"/>
          </a:ln>
        </p:spPr>
      </p:sp>
      <p:sp>
        <p:nvSpPr>
          <p:cNvPr id="4" name="Shape 2"/>
          <p:cNvSpPr/>
          <p:nvPr/>
        </p:nvSpPr>
        <p:spPr>
          <a:xfrm>
            <a:off x="822960" y="1783080"/>
            <a:ext cx="365760" cy="365760"/>
          </a:xfrm>
          <a:prstGeom prst="ellipse">
            <a:avLst/>
          </a:prstGeom>
          <a:solidFill>
            <a:schemeClr val="accent3"/>
          </a:solidFill>
          <a:ln w="12700">
            <a:solidFill>
              <a:schemeClr val="accent3"/>
            </a:solidFill>
            <a:prstDash val="solid"/>
          </a:ln>
        </p:spPr>
      </p:sp>
      <p:sp>
        <p:nvSpPr>
          <p:cNvPr id="5" name="Text 3"/>
          <p:cNvSpPr txBox="1"/>
          <p:nvPr/>
        </p:nvSpPr>
        <p:spPr>
          <a:xfrm>
            <a:off x="132588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Trade-off</a:t>
            </a:r>
            <a:endParaRPr lang="en-US" sz="2000" dirty="0"/>
          </a:p>
        </p:txBody>
      </p:sp>
      <p:sp>
        <p:nvSpPr>
          <p:cNvPr id="6" name="Text 4"/>
          <p:cNvSpPr txBox="1"/>
          <p:nvPr/>
        </p:nvSpPr>
        <p:spPr>
          <a:xfrm>
            <a:off x="82296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Pays a few ms of extra latency in 4 scenarios to avoid loss (e.g. 23.6 vs 20.1 ms).</a:t>
            </a:r>
            <a:endParaRPr lang="en-US" sz="1600" dirty="0"/>
          </a:p>
          <a:p>
            <a:pPr marL="342900" indent="-342900">
              <a:spcAft>
                <a:spcPts val="800"/>
              </a:spcAft>
              <a:buSzPct val="100000"/>
              <a:buChar char="•"/>
            </a:pPr>
            <a:r>
              <a:rPr lang="en-US" sz="1600" dirty="0">
                <a:solidFill>
                  <a:schemeClr val="tx1"/>
                </a:solidFill>
              </a:rPr>
              <a:t>This is deliberate and controlled by the weights.</a:t>
            </a:r>
            <a:endParaRPr lang="en-US" sz="1600" dirty="0"/>
          </a:p>
        </p:txBody>
      </p:sp>
      <p:sp>
        <p:nvSpPr>
          <p:cNvPr id="7" name="col1"/>
          <p:cNvSpPr/>
          <p:nvPr/>
        </p:nvSpPr>
        <p:spPr>
          <a:xfrm>
            <a:off x="4297680" y="1508760"/>
            <a:ext cx="3520440" cy="3749040"/>
          </a:xfrm>
          <a:prstGeom prst="roundRect">
            <a:avLst>
              <a:gd name="adj" fmla="val 3117"/>
            </a:avLst>
          </a:prstGeom>
          <a:solidFill>
            <a:srgbClr val="FCEDE4"/>
          </a:solidFill>
          <a:ln w="12700">
            <a:solidFill>
              <a:srgbClr val="FCEDE4"/>
            </a:solidFill>
            <a:prstDash val="solid"/>
          </a:ln>
        </p:spPr>
      </p:sp>
      <p:sp>
        <p:nvSpPr>
          <p:cNvPr id="8" name="Shape 6"/>
          <p:cNvSpPr/>
          <p:nvPr/>
        </p:nvSpPr>
        <p:spPr>
          <a:xfrm>
            <a:off x="4572000" y="1783080"/>
            <a:ext cx="365760" cy="365760"/>
          </a:xfrm>
          <a:prstGeom prst="ellipse">
            <a:avLst/>
          </a:prstGeom>
          <a:solidFill>
            <a:schemeClr val="accent2"/>
          </a:solidFill>
          <a:ln w="12700">
            <a:solidFill>
              <a:schemeClr val="accent2"/>
            </a:solidFill>
            <a:prstDash val="solid"/>
          </a:ln>
        </p:spPr>
      </p:sp>
      <p:sp>
        <p:nvSpPr>
          <p:cNvPr id="9" name="Text 7"/>
          <p:cNvSpPr txBox="1"/>
          <p:nvPr/>
        </p:nvSpPr>
        <p:spPr>
          <a:xfrm>
            <a:off x="507492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10" name="Text 8"/>
          <p:cNvSpPr txBox="1"/>
          <p:nvPr/>
        </p:nvSpPr>
        <p:spPr>
          <a:xfrm>
            <a:off x="457200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Flow-level simulator, not packet-level (no TCP behaviour).</a:t>
            </a:r>
            <a:endParaRPr lang="en-US" sz="1600" dirty="0"/>
          </a:p>
          <a:p>
            <a:pPr marL="342900" indent="-342900">
              <a:spcAft>
                <a:spcPts val="800"/>
              </a:spcAft>
              <a:buSzPct val="100000"/>
              <a:buChar char="•"/>
            </a:pPr>
            <a:r>
              <a:rPr lang="en-US" sz="1600" dirty="0">
                <a:solidFill>
                  <a:schemeClr val="tx1"/>
                </a:solidFill>
              </a:rPr>
              <a:t>Routes use global link-state knowledge; message flooding is not modelled.</a:t>
            </a:r>
            <a:endParaRPr lang="en-US" sz="1600" dirty="0"/>
          </a:p>
          <a:p>
            <a:pPr marL="342900" indent="-342900">
              <a:spcAft>
                <a:spcPts val="800"/>
              </a:spcAft>
              <a:buSzPct val="100000"/>
              <a:buChar char="•"/>
            </a:pPr>
            <a:r>
              <a:rPr lang="en-US" sz="1600" dirty="0">
                <a:solidFill>
                  <a:schemeClr val="tx1"/>
                </a:solidFill>
              </a:rPr>
              <a:t>Weights are tuned by hand.</a:t>
            </a:r>
            <a:endParaRPr lang="en-US" sz="1600" dirty="0"/>
          </a:p>
        </p:txBody>
      </p:sp>
      <p:sp>
        <p:nvSpPr>
          <p:cNvPr id="11" name="col2"/>
          <p:cNvSpPr/>
          <p:nvPr/>
        </p:nvSpPr>
        <p:spPr>
          <a:xfrm>
            <a:off x="8046720" y="1508760"/>
            <a:ext cx="3520440" cy="3749040"/>
          </a:xfrm>
          <a:prstGeom prst="roundRect">
            <a:avLst>
              <a:gd name="adj" fmla="val 3117"/>
            </a:avLst>
          </a:prstGeom>
          <a:solidFill>
            <a:srgbClr val="E3F2EF"/>
          </a:solidFill>
          <a:ln w="12700">
            <a:solidFill>
              <a:srgbClr val="E3F2EF"/>
            </a:solidFill>
            <a:prstDash val="solid"/>
          </a:ln>
        </p:spPr>
      </p:sp>
      <p:sp>
        <p:nvSpPr>
          <p:cNvPr id="12" name="Shape 10"/>
          <p:cNvSpPr/>
          <p:nvPr/>
        </p:nvSpPr>
        <p:spPr>
          <a:xfrm>
            <a:off x="8321040" y="1783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882396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Next steps</a:t>
            </a:r>
            <a:endParaRPr lang="en-US" sz="2000" dirty="0"/>
          </a:p>
        </p:txBody>
      </p:sp>
      <p:sp>
        <p:nvSpPr>
          <p:cNvPr id="14" name="Text 12"/>
          <p:cNvSpPr txBox="1"/>
          <p:nvPr/>
        </p:nvSpPr>
        <p:spPr>
          <a:xfrm>
            <a:off x="832104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Learn the weights automatically (e.g. Bayesian optimisation).</a:t>
            </a:r>
            <a:endParaRPr lang="en-US" sz="1600" dirty="0"/>
          </a:p>
          <a:p>
            <a:pPr marL="342900" indent="-342900">
              <a:spcAft>
                <a:spcPts val="800"/>
              </a:spcAft>
              <a:buSzPct val="100000"/>
              <a:buChar char="•"/>
            </a:pPr>
            <a:r>
              <a:rPr lang="en-US" sz="1600" dirty="0">
                <a:solidFill>
                  <a:schemeClr val="tx1"/>
                </a:solidFill>
              </a:rPr>
              <a:t>Test in a packet-level emulator such as Mininet or ns-3.</a:t>
            </a:r>
            <a:endParaRPr lang="en-US" sz="1600" dirty="0"/>
          </a:p>
          <a:p>
            <a:pPr marL="342900" indent="-342900">
              <a:spcAft>
                <a:spcPts val="800"/>
              </a:spcAft>
              <a:buSzPct val="100000"/>
              <a:buChar char="•"/>
            </a:pPr>
            <a:r>
              <a:rPr lang="en-US" sz="1600" dirty="0">
                <a:solidFill>
                  <a:schemeClr val="tx1"/>
                </a:solidFill>
              </a:rPr>
              <a:t>Make it a distributed protocol between routers.</a:t>
            </a:r>
            <a:endParaRPr lang="en-US" sz="1600" dirty="0"/>
          </a:p>
        </p:txBody>
      </p:sp>
      <p:sp>
        <p:nvSpPr>
          <p:cNvPr id="15" name="Text 13"/>
          <p:cNvSpPr txBox="1"/>
          <p:nvPr/>
        </p:nvSpPr>
        <p:spPr>
          <a:xfrm>
            <a:off x="548640" y="55778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The weights set the balance: raise the latency weight to favour speed, or the loss weight to favour reliability.</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800" b="1" dirty="0">
                <a:solidFill>
                  <a:schemeClr val="bg1"/>
                </a:solidFill>
              </a:rPr>
              <a:t>Routing that reacts to how the network really behaves</a:t>
            </a: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lIns="0" tIns="0" rIns="0" bIns="0" rtlCol="0" anchor="t"/>
          <a:lstStyle/>
          <a:p>
            <a:pPr algn="l" indent="0" marL="0">
              <a:buNone/>
            </a:pPr>
            <a:r>
              <a:rPr lang="en-US" sz="2200" dirty="0">
                <a:solidFill>
                  <a:srgbClr val="B9D9D4"/>
                </a:solidFill>
              </a:rPr>
              <a:t>Same as OSPF when the network is healthy. Far more reliable when it is not.</a:t>
            </a:r>
            <a:endParaRPr lang="en-US" sz="2200" dirty="0"/>
          </a:p>
          <a:p>
            <a:pPr algn="l" indent="0" marL="0">
              <a:buNone/>
            </a:pPr>
            <a:r>
              <a:rPr lang="en-US" sz="2200" b="1" dirty="0">
                <a:solidFill>
                  <a:srgbClr val="FFFFFF"/>
                </a:solidFill>
              </a:rPr>
              <a:t>Thank you. Questions?</a:t>
            </a:r>
            <a:endParaRPr lang="en-US" sz="2200" dirty="0"/>
          </a:p>
        </p:txBody>
      </p:sp>
    </p:spTree>
  </p:cSld>
  <p:clrMapOvr>
    <a:masterClrMapping/>
  </p:clrMapOvr>
</p:sld>
</file>

<file path=ppt/theme/theme1.xml><?xml version="1.0" encoding="utf-8"?>
<a:theme xmlns:a="http://schemas.openxmlformats.org/drawingml/2006/main" name="Intelligent Routing">
  <a:themeElements>
    <a:clrScheme name="Intelligent Routing">
      <a:dk1>
        <a:srgbClr val="1A1F24"/>
      </a:dk1>
      <a:lt1>
        <a:srgbClr val="FFFFFF"/>
      </a:lt1>
      <a:dk2>
        <a:srgbClr val="123A40"/>
      </a:dk2>
      <a:lt2>
        <a:srgbClr val="EEF4F3"/>
      </a:lt2>
      <a:accent1>
        <a:srgbClr val="0E8C7F"/>
      </a:accent1>
      <a:accent2>
        <a:srgbClr val="E8743B"/>
      </a:accent2>
      <a:accent3>
        <a:srgbClr val="F2B134"/>
      </a:accent3>
      <a:accent4>
        <a:srgbClr val="5B6770"/>
      </a:accent4>
      <a:accent5>
        <a:srgbClr val="2F6F8F"/>
      </a:accent5>
      <a:accent6>
        <a:srgbClr val="9BC53D"/>
      </a:accent6>
      <a:hlink>
        <a:srgbClr val="0E8C7F"/>
      </a:hlink>
      <a:folHlink>
        <a:srgbClr val="5B6770"/>
      </a:folHlink>
    </a:clrScheme>
    <a:fontScheme name="Intelligent Rou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Routing Protocol</dc:title>
  <dc:subject>PptxGenJS Presentation</dc:subject>
  <dc:creator>Neha Damani</dc:creator>
  <cp:lastModifiedBy>Neha Damani</cp:lastModifiedBy>
  <cp:revision>1</cp:revision>
  <dcterms:created xsi:type="dcterms:W3CDTF">2026-10-24T13:41:52Z</dcterms:created>
  <dcterms:modified xsi:type="dcterms:W3CDTF">2026-10-24T13:41:52Z</dcterms:modified>
</cp:coreProperties>
</file>