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69" r:id="rId4"/>
    <p:sldId id="258" r:id="rId5"/>
    <p:sldId id="259" r:id="rId6"/>
    <p:sldId id="260" r:id="rId7"/>
    <p:sldId id="261" r:id="rId8"/>
    <p:sldId id="270" r:id="rId9"/>
    <p:sldId id="262" r:id="rId10"/>
    <p:sldId id="263" r:id="rId11"/>
    <p:sldId id="271" r:id="rId12"/>
    <p:sldId id="264" r:id="rId13"/>
    <p:sldId id="265" r:id="rId14"/>
    <p:sldId id="266" r:id="rId15"/>
    <p:sldId id="267" r:id="rId16"/>
    <p:sldId id="272" r:id="rId17"/>
    <p:sldId id="268"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D1EB06F8-D4B2-0D21-4A6B-7A2D74A2EF0A}">
          <p14:sldIdLst>
            <p14:sldId id="256"/>
            <p14:sldId id="257"/>
            <p14:sldId id="269"/>
            <p14:sldId id="258"/>
          </p14:sldIdLst>
        </p14:section>
        <p14:section name="How it works" id="{76C02F79-EC90-09D8-107B-F9A2B793F99E}">
          <p14:sldIdLst>
            <p14:sldId id="259"/>
            <p14:sldId id="260"/>
            <p14:sldId id="261"/>
            <p14:sldId id="270"/>
          </p14:sldIdLst>
        </p14:section>
        <p14:section name="Results" id="{47AC7530-CEB0-92FB-A2CC-10DA697D753B}">
          <p14:sldIdLst>
            <p14:sldId id="262"/>
            <p14:sldId id="263"/>
            <p14:sldId id="271"/>
            <p14:sldId id="264"/>
            <p14:sldId id="265"/>
          </p14:sldIdLst>
        </p14:section>
        <p14:section name="Wrap-up" id="{98A16B53-6ACA-E42A-8A07-03E786D7ABD5}">
          <p14:sldIdLst>
            <p14:sldId id="266"/>
            <p14:sldId id="267"/>
            <p14:sldId id="272"/>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8" d="100"/>
          <a:sy n="98" d="100"/>
        </p:scale>
        <p:origin x="37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col"/>
        <c:grouping val="clustered"/>
        <c:varyColors val="0"/>
        <c:ser>
          <c:idx val="0"/>
          <c:order val="0"/>
          <c:tx>
            <c:strRef>
              <c:f>Sheet1!$B$1</c:f>
              <c:strCache>
                <c:ptCount val="1"/>
                <c:pt idx="0">
                  <c:v>Adaptive (ours)</c:v>
                </c:pt>
              </c:strCache>
            </c:strRef>
          </c:tx>
          <c:spPr>
            <a:solidFill>
              <a:srgbClr val="0E8C7F"/>
            </a:solidFill>
            <a:effectLst/>
          </c:spPr>
          <c:invertIfNegative val="0"/>
          <c:dLbls>
            <c:numFmt formatCode="0.0" sourceLinked="0"/>
            <c:spPr>
              <a:noFill/>
              <a:ln>
                <a:noFill/>
              </a:ln>
              <a:effectLst/>
            </c:spPr>
            <c:txPr>
              <a:bodyPr/>
              <a:lstStyle/>
              <a:p>
                <a:pPr>
                  <a:defRPr sz="1100" b="0" i="0" u="none" strike="noStrike">
                    <a:solidFill>
                      <a:srgbClr val="5B6770"/>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Latency spike</c:v>
                </c:pt>
                <c:pt idx="1">
                  <c:v>Bandwidth drop</c:v>
                </c:pt>
                <c:pt idx="2">
                  <c:v>Loss increase</c:v>
                </c:pt>
                <c:pt idx="3">
                  <c:v>Link failure</c:v>
                </c:pt>
                <c:pt idx="4">
                  <c:v>Congestion</c:v>
                </c:pt>
                <c:pt idx="5">
                  <c:v>Flapping link</c:v>
                </c:pt>
              </c:strCache>
            </c:strRef>
          </c:cat>
          <c:val>
            <c:numRef>
              <c:f>Sheet1!$B$2:$B$7</c:f>
              <c:numCache>
                <c:formatCode>General</c:formatCode>
                <c:ptCount val="6"/>
                <c:pt idx="0">
                  <c:v>0</c:v>
                </c:pt>
                <c:pt idx="1">
                  <c:v>0.51</c:v>
                </c:pt>
                <c:pt idx="2">
                  <c:v>0.1</c:v>
                </c:pt>
                <c:pt idx="3">
                  <c:v>0.74</c:v>
                </c:pt>
                <c:pt idx="4">
                  <c:v>0</c:v>
                </c:pt>
                <c:pt idx="5">
                  <c:v>0.74</c:v>
                </c:pt>
              </c:numCache>
            </c:numRef>
          </c:val>
          <c:extLst>
            <c:ext xmlns:c16="http://schemas.microsoft.com/office/drawing/2014/chart" uri="{C3380CC4-5D6E-409C-BE32-E72D297353CC}">
              <c16:uniqueId val="{00000000-E5FD-944B-BDBB-AF21C381E0ED}"/>
            </c:ext>
          </c:extLst>
        </c:ser>
        <c:ser>
          <c:idx val="1"/>
          <c:order val="1"/>
          <c:tx>
            <c:strRef>
              <c:f>Sheet1!$C$1</c:f>
              <c:strCache>
                <c:ptCount val="1"/>
                <c:pt idx="0">
                  <c:v>OSPF-like</c:v>
                </c:pt>
              </c:strCache>
            </c:strRef>
          </c:tx>
          <c:spPr>
            <a:solidFill>
              <a:srgbClr val="E8743B"/>
            </a:solidFill>
            <a:effectLst/>
          </c:spPr>
          <c:invertIfNegative val="0"/>
          <c:dLbls>
            <c:numFmt formatCode="0.0" sourceLinked="0"/>
            <c:spPr>
              <a:noFill/>
              <a:ln>
                <a:noFill/>
              </a:ln>
              <a:effectLst/>
            </c:spPr>
            <c:txPr>
              <a:bodyPr/>
              <a:lstStyle/>
              <a:p>
                <a:pPr>
                  <a:defRPr sz="1100" b="0" i="0" u="none" strike="noStrike">
                    <a:solidFill>
                      <a:srgbClr val="5B6770"/>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Latency spike</c:v>
                </c:pt>
                <c:pt idx="1">
                  <c:v>Bandwidth drop</c:v>
                </c:pt>
                <c:pt idx="2">
                  <c:v>Loss increase</c:v>
                </c:pt>
                <c:pt idx="3">
                  <c:v>Link failure</c:v>
                </c:pt>
                <c:pt idx="4">
                  <c:v>Congestion</c:v>
                </c:pt>
                <c:pt idx="5">
                  <c:v>Flapping link</c:v>
                </c:pt>
              </c:strCache>
            </c:strRef>
          </c:cat>
          <c:val>
            <c:numRef>
              <c:f>Sheet1!$C$2:$C$7</c:f>
              <c:numCache>
                <c:formatCode>General</c:formatCode>
                <c:ptCount val="6"/>
                <c:pt idx="0">
                  <c:v>0</c:v>
                </c:pt>
                <c:pt idx="1">
                  <c:v>24.9</c:v>
                </c:pt>
                <c:pt idx="2">
                  <c:v>23.58</c:v>
                </c:pt>
                <c:pt idx="3">
                  <c:v>2</c:v>
                </c:pt>
                <c:pt idx="4">
                  <c:v>19.46</c:v>
                </c:pt>
                <c:pt idx="5">
                  <c:v>12.04</c:v>
                </c:pt>
              </c:numCache>
            </c:numRef>
          </c:val>
          <c:extLst>
            <c:ext xmlns:c16="http://schemas.microsoft.com/office/drawing/2014/chart" uri="{C3380CC4-5D6E-409C-BE32-E72D297353CC}">
              <c16:uniqueId val="{00000001-E5FD-944B-BDBB-AF21C381E0ED}"/>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770"/>
                </a:solidFill>
                <a:latin typeface="+mn-lt"/>
              </a:defRPr>
            </a:pPr>
            <a:endParaRPr lang="en-US"/>
          </a:p>
        </c:txPr>
        <c:crossAx val="2094734552"/>
        <c:crosses val="autoZero"/>
        <c:auto val="1"/>
        <c:lblAlgn val="ctr"/>
        <c:lblOffset val="100"/>
        <c:noMultiLvlLbl val="1"/>
      </c:catAx>
      <c:valAx>
        <c:axId val="2094734552"/>
        <c:scaling>
          <c:orientation val="minMax"/>
          <c:max val="28"/>
          <c:min val="0"/>
        </c:scaling>
        <c:delete val="0"/>
        <c:axPos val="l"/>
        <c:majorGridlines>
          <c:spPr>
            <a:ln w="9525" cap="flat">
              <a:solidFill>
                <a:srgbClr val="E3E8EA"/>
              </a:solidFill>
              <a:prstDash val="solid"/>
              <a:round/>
            </a:ln>
          </c:spPr>
        </c:majorGridlines>
        <c:title>
          <c:tx>
            <c:rich>
              <a:bodyPr/>
              <a:lstStyle/>
              <a:p>
                <a:pPr>
                  <a:defRPr sz="1200" b="0" i="0" u="none" strike="noStrike">
                    <a:solidFill>
                      <a:srgbClr val="5B6770"/>
                    </a:solidFill>
                    <a:latin typeface="+mn-lt"/>
                  </a:defRPr>
                </a:pPr>
                <a:r>
                  <a:rPr lang="en-IN" sz="1200" b="0" i="0" u="none" strike="noStrike">
                    <a:solidFill>
                      <a:srgbClr val="5B6770"/>
                    </a:solidFill>
                    <a:latin typeface="+mn-lt"/>
                  </a:rPr>
                  <a:t>seconds (lower is better)</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770"/>
                </a:solidFill>
                <a:latin typeface="+mn-lt"/>
              </a:defRPr>
            </a:pPr>
            <a:endParaRPr lang="en-US"/>
          </a:p>
        </c:txPr>
        <c:crossAx val="2094734554"/>
        <c:crosses val="autoZero"/>
        <c:crossBetween val="between"/>
        <c:majorUnit val="5"/>
      </c:valAx>
      <c:spPr>
        <a:noFill/>
        <a:ln>
          <a:noFill/>
        </a:ln>
        <a:effectLst/>
      </c:spPr>
    </c:plotArea>
    <c:legend>
      <c:legendPos val="t"/>
      <c:overlay val="0"/>
      <c:txPr>
        <a:bodyPr/>
        <a:lstStyle/>
        <a:p>
          <a:pPr>
            <a:defRPr sz="1300">
              <a:solidFill>
                <a:srgbClr val="1A1F24"/>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616983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in one line: a routing protocol that looks at how the network is actually behaving right now (delay, packet loss, bandwidth, failures) and picks the best path, instead of always taking the shortest one.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with the diagram. OSPF and RIP choose paths using a fixed number (configured delay or hop count). They do not notice that a link is dropping packets or is congested. They only react when a link completely fails. Here the top path is shorter but loses 15% of packets, so it is actually worse for users.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link gets a score built from four things we can measure: delay, loss, free bandwidth, and how stable the link has been. Lower score is better. We then run Dijkstra, the same shortest-path algorithm OSPF uses, but on our smarter score.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The simulator is the real network. The monitor sends probes every half second and averages them (EWMA) so one bad reading does not cause panic. The cost function combines the four metrics. Dijkstra picks the cheapest path. Then stability rules decide whether switching is worth it. Point out that the engine only sees measurements, never the true state, so the test is fair and realistic.</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is measured in 'effective milliseconds' so the parts can be added. Delay is already in ms. Loss is weighted heavily (300) because lost packets hurt users a lot. The minus-log form is a maths trick: delivery probability multiplies along a path, and taking the log turns that product into a sum, which is what Dijkstra needs. The weights are hand-tuned and can be changed in the dashboard.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protocol that reacts to everything would keep jumping between paths (route flapping), which is bad. These four rules keep it calm: a minimum improvement, a minimum time between switches, a memory of links that keep failing, and early detection of failing links. The last line is a subtle bug many adaptive designs have: a flow sees the load it created and runs away from itself.</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Built a simulator with an 8-router mesh. The highlighted path A-B-E-H is the shortest. We inject nine kinds of problems and compare our protocol against three standard approaches. Each experiment is repeated with 10 random seeds and checked with a statistical test, so the differences are not luck.</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four numbers to remember. Recovery from failure is about nine times faster because we move after one missed probe instead of three. In the bandwidth and congestion cases OSPF keeps sending traffic into a link that cannot carry it. On a flapping link OSPF keeps jumping back; we stay put. And on a healthy network both behave identically.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Degraded means the test flow was getting less than 90% of its normal throughput. The fault lasts 25 seconds. Orange bars near 25 mean OSPF was degraded almost the entire time. Our bars are all under one second.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panel is one experiment over 60 seconds. The flow wants 40 Mb/s. Blue (ours) dips for a moment when the fault starts, then goes straight back to 40. Orange (OSPF) stays down for the whole fault in bandwidth drop and congestion, and keeps crashing to zero on the flapping link.</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real output from the demo. Our protocol noticed loss on B-E one second before OSPF declared the link dead, and it records why it switched. If time allows, open the dashboard (python -m irp dashboard) and inject a failure live.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about the trade-off: avoiding loss sometimes means a slightly longer path. Limitations are about the simulator, which is a simplification. Future work: learn the weights instead of hand-tuning, test on a packet-level emulator, and turn it into a real distributed protocol.</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one-line takeaway, then take questions.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2011680"/>
            <a:ext cx="10698480" cy="1371600"/>
          </a:xfrm>
          <a:prstGeom prst="rect">
            <a:avLst/>
          </a:prstGeom>
          <a:noFill/>
          <a:ln/>
        </p:spPr>
        <p:txBody>
          <a:bodyPr wrap="square" rtlCol="0"/>
          <a:lstStyle>
            <a:lvl1pPr marL="0" indent="0" algn="l">
              <a:buNone/>
              <a:defRPr lang="en-US" sz="4800" b="1" dirty="0">
                <a:solidFill>
                  <a:schemeClr val="bg1"/>
                </a:solidFill>
              </a:defRPr>
            </a:lvl1pPr>
          </a:lstStyle>
          <a:p>
            <a:pPr marL="0" indent="0" algn="l">
              <a:buNone/>
            </a:pPr>
            <a:endParaRPr lang="en-US" sz="4800" dirty="0"/>
          </a:p>
        </p:txBody>
      </p:sp>
      <p:sp>
        <p:nvSpPr>
          <p:cNvPr id="3" name="Text 0"/>
          <p:cNvSpPr>
            <a:spLocks noGrp="1"/>
          </p:cNvSpPr>
          <p:nvPr>
            <p:ph type="body" idx="101" hasCustomPrompt="1"/>
          </p:nvPr>
        </p:nvSpPr>
        <p:spPr>
          <a:xfrm>
            <a:off x="731520" y="3520440"/>
            <a:ext cx="10698480" cy="914400"/>
          </a:xfrm>
          <a:prstGeom prst="rect">
            <a:avLst/>
          </a:prstGeom>
          <a:noFill/>
          <a:ln/>
        </p:spPr>
        <p:txBody>
          <a:bodyPr wrap="square" rtlCol="0"/>
          <a:lstStyle>
            <a:lvl1pPr marL="0" indent="0" algn="l">
              <a:buNone/>
              <a:defRPr lang="en-US" sz="2200" dirty="0">
                <a:solidFill>
                  <a:srgbClr val="B9D9D4"/>
                </a:solidFill>
              </a:defRPr>
            </a:lvl1pPr>
          </a:lstStyle>
          <a:p>
            <a:pPr marL="0" indent="0" algn="l">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rtlCol="0"/>
          <a:lstStyle>
            <a:lvl1pPr marL="0" indent="0" algn="l">
              <a:buNone/>
              <a:defRPr lang="en-US" sz="3400" b="1" dirty="0">
                <a:solidFill>
                  <a:schemeClr val="tx2"/>
                </a:solidFill>
              </a:defRPr>
            </a:lvl1pPr>
          </a:lstStyle>
          <a:p>
            <a:pPr marL="0" indent="0" algn="l">
              <a:buNone/>
            </a:pPr>
            <a:endParaRPr lang="en-US" sz="34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9B"/>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9B"/>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2011680"/>
            <a:ext cx="10698480" cy="1371600"/>
          </a:xfrm>
          <a:prstGeom prst="rect">
            <a:avLst/>
          </a:prstGeom>
          <a:noFill/>
          <a:ln/>
        </p:spPr>
        <p:txBody>
          <a:bodyPr wrap="square" lIns="0" tIns="0" rIns="0" bIns="0" rtlCol="0" anchor="b"/>
          <a:lstStyle/>
          <a:p>
            <a:pPr marL="0" indent="0" algn="l">
              <a:buNone/>
            </a:pPr>
            <a:r>
              <a:rPr lang="en-US" sz="4800" b="1" dirty="0">
                <a:solidFill>
                  <a:schemeClr val="bg1"/>
                </a:solidFill>
              </a:rPr>
              <a:t>Intelligent Routing Protocol</a:t>
            </a:r>
            <a:endParaRPr lang="en-US" sz="4800" dirty="0"/>
          </a:p>
        </p:txBody>
      </p:sp>
      <p:sp>
        <p:nvSpPr>
          <p:cNvPr id="3" name="Text 0"/>
          <p:cNvSpPr>
            <a:spLocks noGrp="1"/>
          </p:cNvSpPr>
          <p:nvPr>
            <p:ph type="body" idx="101" hasCustomPrompt="1"/>
          </p:nvPr>
        </p:nvSpPr>
        <p:spPr>
          <a:xfrm>
            <a:off x="731520" y="3520440"/>
            <a:ext cx="10698480" cy="914400"/>
          </a:xfrm>
          <a:prstGeom prst="rect">
            <a:avLst/>
          </a:prstGeom>
          <a:noFill/>
          <a:ln/>
        </p:spPr>
        <p:txBody>
          <a:bodyPr wrap="square" lIns="0" tIns="0" rIns="0" bIns="0" rtlCol="0" anchor="t"/>
          <a:lstStyle/>
          <a:p>
            <a:pPr marL="0" indent="0" algn="l">
              <a:buNone/>
            </a:pPr>
            <a:r>
              <a:rPr lang="en-US" sz="2200" dirty="0">
                <a:solidFill>
                  <a:srgbClr val="B9D9D4"/>
                </a:solidFill>
              </a:rPr>
              <a:t>Routing that picks paths from live network conditions, not just distance</a:t>
            </a:r>
            <a:endParaRPr lang="en-US" sz="2200" dirty="0"/>
          </a:p>
        </p:txBody>
      </p:sp>
      <p:sp>
        <p:nvSpPr>
          <p:cNvPr id="4" name="Shape 2"/>
          <p:cNvSpPr/>
          <p:nvPr/>
        </p:nvSpPr>
        <p:spPr>
          <a:xfrm flipV="1">
            <a:off x="9326880" y="548640"/>
            <a:ext cx="1005840" cy="365760"/>
          </a:xfrm>
          <a:prstGeom prst="line">
            <a:avLst/>
          </a:prstGeom>
          <a:noFill/>
          <a:ln w="25400">
            <a:solidFill>
              <a:srgbClr val="3E7C78"/>
            </a:solidFill>
            <a:prstDash val="solid"/>
          </a:ln>
        </p:spPr>
        <p:txBody>
          <a:bodyPr/>
          <a:lstStyle/>
          <a:p>
            <a:endParaRPr lang="en-US"/>
          </a:p>
        </p:txBody>
      </p:sp>
      <p:sp>
        <p:nvSpPr>
          <p:cNvPr id="5" name="Shape 3"/>
          <p:cNvSpPr/>
          <p:nvPr/>
        </p:nvSpPr>
        <p:spPr>
          <a:xfrm>
            <a:off x="10332720" y="548640"/>
            <a:ext cx="914400" cy="548640"/>
          </a:xfrm>
          <a:prstGeom prst="line">
            <a:avLst/>
          </a:prstGeom>
          <a:noFill/>
          <a:ln w="25400">
            <a:solidFill>
              <a:srgbClr val="3E7C78"/>
            </a:solidFill>
            <a:prstDash val="solid"/>
          </a:ln>
        </p:spPr>
        <p:txBody>
          <a:bodyPr/>
          <a:lstStyle/>
          <a:p>
            <a:endParaRPr lang="en-US"/>
          </a:p>
        </p:txBody>
      </p:sp>
      <p:sp>
        <p:nvSpPr>
          <p:cNvPr id="6" name="Shape 4"/>
          <p:cNvSpPr/>
          <p:nvPr/>
        </p:nvSpPr>
        <p:spPr>
          <a:xfrm flipV="1">
            <a:off x="10058400" y="1097280"/>
            <a:ext cx="1188720" cy="457200"/>
          </a:xfrm>
          <a:prstGeom prst="line">
            <a:avLst/>
          </a:prstGeom>
          <a:noFill/>
          <a:ln w="25400">
            <a:solidFill>
              <a:srgbClr val="3E7C78"/>
            </a:solidFill>
            <a:prstDash val="solid"/>
          </a:ln>
        </p:spPr>
        <p:txBody>
          <a:bodyPr/>
          <a:lstStyle/>
          <a:p>
            <a:endParaRPr lang="en-US"/>
          </a:p>
        </p:txBody>
      </p:sp>
      <p:sp>
        <p:nvSpPr>
          <p:cNvPr id="7" name="Shape 5"/>
          <p:cNvSpPr/>
          <p:nvPr/>
        </p:nvSpPr>
        <p:spPr>
          <a:xfrm>
            <a:off x="9326880" y="914400"/>
            <a:ext cx="731520" cy="640080"/>
          </a:xfrm>
          <a:prstGeom prst="line">
            <a:avLst/>
          </a:prstGeom>
          <a:noFill/>
          <a:ln w="25400">
            <a:solidFill>
              <a:srgbClr val="3E7C78"/>
            </a:solidFill>
            <a:prstDash val="solid"/>
          </a:ln>
        </p:spPr>
        <p:txBody>
          <a:bodyPr/>
          <a:lstStyle/>
          <a:p>
            <a:endParaRPr lang="en-US"/>
          </a:p>
        </p:txBody>
      </p:sp>
      <p:sp>
        <p:nvSpPr>
          <p:cNvPr id="8" name="Shape 6"/>
          <p:cNvSpPr/>
          <p:nvPr/>
        </p:nvSpPr>
        <p:spPr>
          <a:xfrm>
            <a:off x="9198864" y="786384"/>
            <a:ext cx="256032" cy="256032"/>
          </a:xfrm>
          <a:prstGeom prst="ellipse">
            <a:avLst/>
          </a:prstGeom>
          <a:solidFill>
            <a:schemeClr val="accent1"/>
          </a:solidFill>
          <a:ln w="12700">
            <a:solidFill>
              <a:schemeClr val="accent1"/>
            </a:solidFill>
            <a:prstDash val="solid"/>
          </a:ln>
        </p:spPr>
        <p:txBody>
          <a:bodyPr/>
          <a:lstStyle/>
          <a:p>
            <a:endParaRPr lang="en-US"/>
          </a:p>
        </p:txBody>
      </p:sp>
      <p:sp>
        <p:nvSpPr>
          <p:cNvPr id="9" name="Shape 7"/>
          <p:cNvSpPr/>
          <p:nvPr/>
        </p:nvSpPr>
        <p:spPr>
          <a:xfrm>
            <a:off x="10204704" y="420624"/>
            <a:ext cx="256032" cy="256032"/>
          </a:xfrm>
          <a:prstGeom prst="ellipse">
            <a:avLst/>
          </a:prstGeom>
          <a:solidFill>
            <a:schemeClr val="accent1"/>
          </a:solidFill>
          <a:ln w="12700">
            <a:solidFill>
              <a:schemeClr val="accent1"/>
            </a:solidFill>
            <a:prstDash val="solid"/>
          </a:ln>
        </p:spPr>
        <p:txBody>
          <a:bodyPr/>
          <a:lstStyle/>
          <a:p>
            <a:endParaRPr lang="en-US"/>
          </a:p>
        </p:txBody>
      </p:sp>
      <p:sp>
        <p:nvSpPr>
          <p:cNvPr id="10" name="Shape 8"/>
          <p:cNvSpPr/>
          <p:nvPr/>
        </p:nvSpPr>
        <p:spPr>
          <a:xfrm>
            <a:off x="11119104" y="969264"/>
            <a:ext cx="256032" cy="256032"/>
          </a:xfrm>
          <a:prstGeom prst="ellipse">
            <a:avLst/>
          </a:prstGeom>
          <a:solidFill>
            <a:schemeClr val="accent1"/>
          </a:solidFill>
          <a:ln w="12700">
            <a:solidFill>
              <a:schemeClr val="accent1"/>
            </a:solidFill>
            <a:prstDash val="solid"/>
          </a:ln>
        </p:spPr>
        <p:txBody>
          <a:bodyPr/>
          <a:lstStyle/>
          <a:p>
            <a:endParaRPr lang="en-US"/>
          </a:p>
        </p:txBody>
      </p:sp>
      <p:sp>
        <p:nvSpPr>
          <p:cNvPr id="11" name="Shape 9"/>
          <p:cNvSpPr/>
          <p:nvPr/>
        </p:nvSpPr>
        <p:spPr>
          <a:xfrm>
            <a:off x="9930384" y="1426464"/>
            <a:ext cx="256032" cy="256032"/>
          </a:xfrm>
          <a:prstGeom prst="ellipse">
            <a:avLst/>
          </a:prstGeom>
          <a:solidFill>
            <a:schemeClr val="accent1"/>
          </a:solidFill>
          <a:ln w="12700">
            <a:solidFill>
              <a:schemeClr val="accent1"/>
            </a:solidFill>
            <a:prstDash val="solid"/>
          </a:ln>
        </p:spPr>
        <p:txBody>
          <a:bodyPr/>
          <a:lstStyle/>
          <a:p>
            <a:endParaRPr lang="en-US"/>
          </a:p>
        </p:txBody>
      </p:sp>
      <p:sp>
        <p:nvSpPr>
          <p:cNvPr id="12" name="Text 10"/>
          <p:cNvSpPr txBox="1"/>
          <p:nvPr/>
        </p:nvSpPr>
        <p:spPr>
          <a:xfrm>
            <a:off x="731520" y="4754880"/>
            <a:ext cx="9144000" cy="1645920"/>
          </a:xfrm>
          <a:prstGeom prst="rect">
            <a:avLst/>
          </a:prstGeom>
          <a:noFill/>
          <a:ln/>
        </p:spPr>
        <p:txBody>
          <a:bodyPr wrap="square" lIns="0" tIns="0" rIns="0" bIns="0" rtlCol="0" anchor="t"/>
          <a:lstStyle/>
          <a:p>
            <a:pPr marL="0" indent="0">
              <a:buNone/>
            </a:pPr>
            <a:r>
              <a:rPr lang="en-US" sz="1600" b="1" dirty="0">
                <a:solidFill>
                  <a:srgbClr val="B9D9D4"/>
                </a:solidFill>
              </a:rPr>
              <a:t>BCSE308P Computer Networks Lab  ·  Fall Semester 2026-27  ·  Slot F2  ·  Team 18</a:t>
            </a:r>
          </a:p>
          <a:p>
            <a:pPr marL="0" indent="0">
              <a:buNone/>
            </a:pPr>
            <a:r>
              <a:rPr lang="en-US" sz="1400" dirty="0">
                <a:solidFill>
                  <a:srgbClr val="B9D9D4"/>
                </a:solidFill>
              </a:rPr>
              <a:t>24BCE2430  ·  Thipireddy Bhuvana Kruthi</a:t>
            </a:r>
          </a:p>
          <a:p>
            <a:pPr marL="0" indent="0">
              <a:buNone/>
            </a:pPr>
            <a:r>
              <a:rPr lang="en-US" sz="1400" dirty="0">
                <a:solidFill>
                  <a:srgbClr val="B9D9D4"/>
                </a:solidFill>
              </a:rPr>
              <a:t>24BCE2431  ·  Neha Damani</a:t>
            </a:r>
          </a:p>
          <a:p>
            <a:pPr marL="0" indent="0">
              <a:buNone/>
            </a:pPr>
            <a:r>
              <a:rPr lang="en-US" sz="1400" dirty="0">
                <a:solidFill>
                  <a:srgbClr val="B9D9D4"/>
                </a:solidFill>
              </a:rPr>
              <a:t>24BCE2514  ·  Afreen Faizal</a:t>
            </a:r>
          </a:p>
          <a:p>
            <a:pPr marL="0" indent="0">
              <a:buNone/>
            </a:pPr>
            <a:r>
              <a:rPr lang="en-US" sz="1400" dirty="0">
                <a:solidFill>
                  <a:srgbClr val="B9D9D4"/>
                </a:solidFill>
              </a:rPr>
              <a:t>School of Computer Science and Engineering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400" b="1" dirty="0">
                <a:solidFill>
                  <a:schemeClr val="tx2"/>
                </a:solidFill>
              </a:rPr>
              <a:t>Problem and motivation: shortest is not always best</a:t>
            </a:r>
            <a:endParaRPr lang="en-US" sz="3400" dirty="0"/>
          </a:p>
        </p:txBody>
      </p:sp>
      <p:sp>
        <p:nvSpPr>
          <p:cNvPr id="3" name="Shape 1"/>
          <p:cNvSpPr/>
          <p:nvPr/>
        </p:nvSpPr>
        <p:spPr>
          <a:xfrm flipV="1">
            <a:off x="1280160" y="2194560"/>
            <a:ext cx="2103120" cy="1371600"/>
          </a:xfrm>
          <a:prstGeom prst="line">
            <a:avLst/>
          </a:prstGeom>
          <a:noFill/>
          <a:ln w="50800">
            <a:solidFill>
              <a:srgbClr val="E8743B"/>
            </a:solidFill>
            <a:prstDash val="solid"/>
          </a:ln>
        </p:spPr>
        <p:txBody>
          <a:bodyPr/>
          <a:lstStyle/>
          <a:p>
            <a:endParaRPr lang="en-US"/>
          </a:p>
        </p:txBody>
      </p:sp>
      <p:sp>
        <p:nvSpPr>
          <p:cNvPr id="4" name="Shape 2"/>
          <p:cNvSpPr/>
          <p:nvPr/>
        </p:nvSpPr>
        <p:spPr>
          <a:xfrm>
            <a:off x="3383280" y="2194560"/>
            <a:ext cx="2103120" cy="1371600"/>
          </a:xfrm>
          <a:prstGeom prst="line">
            <a:avLst/>
          </a:prstGeom>
          <a:noFill/>
          <a:ln w="50800">
            <a:solidFill>
              <a:srgbClr val="E8743B"/>
            </a:solidFill>
            <a:prstDash val="solid"/>
          </a:ln>
        </p:spPr>
        <p:txBody>
          <a:bodyPr/>
          <a:lstStyle/>
          <a:p>
            <a:endParaRPr lang="en-US"/>
          </a:p>
        </p:txBody>
      </p:sp>
      <p:sp>
        <p:nvSpPr>
          <p:cNvPr id="5" name="Shape 3"/>
          <p:cNvSpPr/>
          <p:nvPr/>
        </p:nvSpPr>
        <p:spPr>
          <a:xfrm>
            <a:off x="1280160" y="3566160"/>
            <a:ext cx="2103120" cy="1371600"/>
          </a:xfrm>
          <a:prstGeom prst="line">
            <a:avLst/>
          </a:prstGeom>
          <a:noFill/>
          <a:ln w="50800">
            <a:solidFill>
              <a:srgbClr val="0E8C7F"/>
            </a:solidFill>
            <a:prstDash val="solid"/>
          </a:ln>
        </p:spPr>
        <p:txBody>
          <a:bodyPr/>
          <a:lstStyle/>
          <a:p>
            <a:endParaRPr lang="en-US"/>
          </a:p>
        </p:txBody>
      </p:sp>
      <p:sp>
        <p:nvSpPr>
          <p:cNvPr id="6" name="Shape 4"/>
          <p:cNvSpPr/>
          <p:nvPr/>
        </p:nvSpPr>
        <p:spPr>
          <a:xfrm flipV="1">
            <a:off x="3383280" y="3566160"/>
            <a:ext cx="2103120" cy="1371600"/>
          </a:xfrm>
          <a:prstGeom prst="line">
            <a:avLst/>
          </a:prstGeom>
          <a:noFill/>
          <a:ln w="50800">
            <a:solidFill>
              <a:srgbClr val="0E8C7F"/>
            </a:solidFill>
            <a:prstDash val="solid"/>
          </a:ln>
        </p:spPr>
        <p:txBody>
          <a:bodyPr/>
          <a:lstStyle/>
          <a:p>
            <a:endParaRPr lang="en-US"/>
          </a:p>
        </p:txBody>
      </p:sp>
      <p:sp>
        <p:nvSpPr>
          <p:cNvPr id="7" name="Shape 5"/>
          <p:cNvSpPr/>
          <p:nvPr/>
        </p:nvSpPr>
        <p:spPr>
          <a:xfrm>
            <a:off x="1005840" y="3291840"/>
            <a:ext cx="548640" cy="548640"/>
          </a:xfrm>
          <a:prstGeom prst="ellipse">
            <a:avLst/>
          </a:prstGeom>
          <a:solidFill>
            <a:schemeClr val="tx2"/>
          </a:solidFill>
          <a:ln w="25400">
            <a:solidFill>
              <a:schemeClr val="bg1"/>
            </a:solidFill>
            <a:prstDash val="solid"/>
          </a:ln>
        </p:spPr>
        <p:txBody>
          <a:bodyPr/>
          <a:lstStyle/>
          <a:p>
            <a:endParaRPr lang="en-US"/>
          </a:p>
        </p:txBody>
      </p:sp>
      <p:sp>
        <p:nvSpPr>
          <p:cNvPr id="8" name="Text 6"/>
          <p:cNvSpPr txBox="1"/>
          <p:nvPr/>
        </p:nvSpPr>
        <p:spPr>
          <a:xfrm>
            <a:off x="1005840" y="3291840"/>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A</a:t>
            </a:r>
            <a:endParaRPr lang="en-US" sz="1800" dirty="0"/>
          </a:p>
        </p:txBody>
      </p:sp>
      <p:sp>
        <p:nvSpPr>
          <p:cNvPr id="9" name="Shape 7"/>
          <p:cNvSpPr/>
          <p:nvPr/>
        </p:nvSpPr>
        <p:spPr>
          <a:xfrm>
            <a:off x="3108960" y="1920240"/>
            <a:ext cx="548640" cy="548640"/>
          </a:xfrm>
          <a:prstGeom prst="ellipse">
            <a:avLst/>
          </a:prstGeom>
          <a:solidFill>
            <a:schemeClr val="tx2"/>
          </a:solidFill>
          <a:ln w="25400">
            <a:solidFill>
              <a:schemeClr val="bg1"/>
            </a:solidFill>
            <a:prstDash val="solid"/>
          </a:ln>
        </p:spPr>
        <p:txBody>
          <a:bodyPr/>
          <a:lstStyle/>
          <a:p>
            <a:endParaRPr lang="en-US"/>
          </a:p>
        </p:txBody>
      </p:sp>
      <p:sp>
        <p:nvSpPr>
          <p:cNvPr id="10" name="Text 8"/>
          <p:cNvSpPr txBox="1"/>
          <p:nvPr/>
        </p:nvSpPr>
        <p:spPr>
          <a:xfrm>
            <a:off x="3108960" y="1920240"/>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B</a:t>
            </a:r>
            <a:endParaRPr lang="en-US" sz="1800" dirty="0"/>
          </a:p>
        </p:txBody>
      </p:sp>
      <p:sp>
        <p:nvSpPr>
          <p:cNvPr id="11" name="Shape 9"/>
          <p:cNvSpPr/>
          <p:nvPr/>
        </p:nvSpPr>
        <p:spPr>
          <a:xfrm>
            <a:off x="3108960" y="4663440"/>
            <a:ext cx="548640" cy="548640"/>
          </a:xfrm>
          <a:prstGeom prst="ellipse">
            <a:avLst/>
          </a:prstGeom>
          <a:solidFill>
            <a:schemeClr val="tx2"/>
          </a:solidFill>
          <a:ln w="25400">
            <a:solidFill>
              <a:schemeClr val="bg1"/>
            </a:solidFill>
            <a:prstDash val="solid"/>
          </a:ln>
        </p:spPr>
        <p:txBody>
          <a:bodyPr/>
          <a:lstStyle/>
          <a:p>
            <a:endParaRPr lang="en-US"/>
          </a:p>
        </p:txBody>
      </p:sp>
      <p:sp>
        <p:nvSpPr>
          <p:cNvPr id="12" name="Text 10"/>
          <p:cNvSpPr txBox="1"/>
          <p:nvPr/>
        </p:nvSpPr>
        <p:spPr>
          <a:xfrm>
            <a:off x="3108960" y="4663440"/>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C</a:t>
            </a:r>
            <a:endParaRPr lang="en-US" sz="1800" dirty="0"/>
          </a:p>
        </p:txBody>
      </p:sp>
      <p:sp>
        <p:nvSpPr>
          <p:cNvPr id="13" name="Shape 11"/>
          <p:cNvSpPr/>
          <p:nvPr/>
        </p:nvSpPr>
        <p:spPr>
          <a:xfrm>
            <a:off x="5212080" y="3291840"/>
            <a:ext cx="548640" cy="548640"/>
          </a:xfrm>
          <a:prstGeom prst="ellipse">
            <a:avLst/>
          </a:prstGeom>
          <a:solidFill>
            <a:schemeClr val="tx2"/>
          </a:solidFill>
          <a:ln w="25400">
            <a:solidFill>
              <a:schemeClr val="bg1"/>
            </a:solidFill>
            <a:prstDash val="solid"/>
          </a:ln>
        </p:spPr>
        <p:txBody>
          <a:bodyPr/>
          <a:lstStyle/>
          <a:p>
            <a:endParaRPr lang="en-US"/>
          </a:p>
        </p:txBody>
      </p:sp>
      <p:sp>
        <p:nvSpPr>
          <p:cNvPr id="14" name="Text 12"/>
          <p:cNvSpPr txBox="1"/>
          <p:nvPr/>
        </p:nvSpPr>
        <p:spPr>
          <a:xfrm>
            <a:off x="5212080" y="3291840"/>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D</a:t>
            </a:r>
            <a:endParaRPr lang="en-US" sz="1800" dirty="0"/>
          </a:p>
        </p:txBody>
      </p:sp>
      <p:sp>
        <p:nvSpPr>
          <p:cNvPr id="15" name="Text 13"/>
          <p:cNvSpPr txBox="1"/>
          <p:nvPr/>
        </p:nvSpPr>
        <p:spPr>
          <a:xfrm>
            <a:off x="2377440" y="1600200"/>
            <a:ext cx="2194560" cy="320040"/>
          </a:xfrm>
          <a:prstGeom prst="rect">
            <a:avLst/>
          </a:prstGeom>
          <a:noFill/>
          <a:ln/>
        </p:spPr>
        <p:txBody>
          <a:bodyPr wrap="square" lIns="0" tIns="0" rIns="0" bIns="0" rtlCol="0" anchor="t"/>
          <a:lstStyle/>
          <a:p>
            <a:pPr marL="0" indent="0" algn="ctr">
              <a:buNone/>
            </a:pPr>
            <a:r>
              <a:rPr lang="en-US" sz="1500" b="1" dirty="0">
                <a:solidFill>
                  <a:schemeClr val="accent2"/>
                </a:solidFill>
              </a:rPr>
              <a:t>20 ms · 15% loss</a:t>
            </a:r>
            <a:endParaRPr lang="en-US" sz="1500" dirty="0"/>
          </a:p>
        </p:txBody>
      </p:sp>
      <p:sp>
        <p:nvSpPr>
          <p:cNvPr id="16" name="Text 14"/>
          <p:cNvSpPr txBox="1"/>
          <p:nvPr/>
        </p:nvSpPr>
        <p:spPr>
          <a:xfrm>
            <a:off x="2377440" y="5349240"/>
            <a:ext cx="2194560" cy="320040"/>
          </a:xfrm>
          <a:prstGeom prst="rect">
            <a:avLst/>
          </a:prstGeom>
          <a:noFill/>
          <a:ln/>
        </p:spPr>
        <p:txBody>
          <a:bodyPr wrap="square" lIns="0" tIns="0" rIns="0" bIns="0" rtlCol="0" anchor="t"/>
          <a:lstStyle/>
          <a:p>
            <a:pPr marL="0" indent="0" algn="ctr">
              <a:buNone/>
            </a:pPr>
            <a:r>
              <a:rPr lang="en-US" sz="1500" b="1" dirty="0">
                <a:solidFill>
                  <a:schemeClr val="accent1"/>
                </a:solidFill>
              </a:rPr>
              <a:t>35 ms · 1% loss</a:t>
            </a:r>
            <a:endParaRPr lang="en-US" sz="1500" dirty="0"/>
          </a:p>
        </p:txBody>
      </p:sp>
      <p:sp>
        <p:nvSpPr>
          <p:cNvPr id="17" name="ospfCard"/>
          <p:cNvSpPr/>
          <p:nvPr/>
        </p:nvSpPr>
        <p:spPr>
          <a:xfrm>
            <a:off x="6583680" y="1554480"/>
            <a:ext cx="5029200" cy="1828800"/>
          </a:xfrm>
          <a:prstGeom prst="roundRect">
            <a:avLst>
              <a:gd name="adj" fmla="val 6000"/>
            </a:avLst>
          </a:prstGeom>
          <a:solidFill>
            <a:srgbClr val="FCEDE4"/>
          </a:solidFill>
          <a:ln w="12700">
            <a:solidFill>
              <a:srgbClr val="FCEDE4"/>
            </a:solidFill>
            <a:prstDash val="solid"/>
          </a:ln>
        </p:spPr>
        <p:txBody>
          <a:bodyPr/>
          <a:lstStyle/>
          <a:p>
            <a:endParaRPr lang="en-US"/>
          </a:p>
        </p:txBody>
      </p:sp>
      <p:sp>
        <p:nvSpPr>
          <p:cNvPr id="18" name="Text 16"/>
          <p:cNvSpPr txBox="1"/>
          <p:nvPr/>
        </p:nvSpPr>
        <p:spPr>
          <a:xfrm>
            <a:off x="6858000" y="1737360"/>
            <a:ext cx="4572000" cy="365760"/>
          </a:xfrm>
          <a:prstGeom prst="rect">
            <a:avLst/>
          </a:prstGeom>
          <a:noFill/>
          <a:ln/>
        </p:spPr>
        <p:txBody>
          <a:bodyPr wrap="square" lIns="0" tIns="0" rIns="0" bIns="0" rtlCol="0" anchor="t"/>
          <a:lstStyle/>
          <a:p>
            <a:pPr marL="0" indent="0">
              <a:buNone/>
            </a:pPr>
            <a:r>
              <a:rPr lang="en-US" sz="1800" b="1" dirty="0">
                <a:solidFill>
                  <a:schemeClr val="accent2"/>
                </a:solidFill>
              </a:rPr>
              <a:t>Shortest-path routing (OSPF, RIP)</a:t>
            </a:r>
            <a:endParaRPr lang="en-US" sz="1800" dirty="0"/>
          </a:p>
        </p:txBody>
      </p:sp>
      <p:sp>
        <p:nvSpPr>
          <p:cNvPr id="19" name="Text 17"/>
          <p:cNvSpPr txBox="1"/>
          <p:nvPr/>
        </p:nvSpPr>
        <p:spPr>
          <a:xfrm>
            <a:off x="6858000" y="2194560"/>
            <a:ext cx="4572000" cy="1005840"/>
          </a:xfrm>
          <a:prstGeom prst="rect">
            <a:avLst/>
          </a:prstGeom>
          <a:noFill/>
          <a:ln/>
        </p:spPr>
        <p:txBody>
          <a:bodyPr wrap="square" lIns="0" tIns="0" rIns="0" bIns="0" rtlCol="0" anchor="t"/>
          <a:lstStyle/>
          <a:p>
            <a:pPr marL="0" indent="0">
              <a:buNone/>
            </a:pPr>
            <a:r>
              <a:rPr lang="en-US" sz="1600" dirty="0">
                <a:solidFill>
                  <a:schemeClr val="tx1"/>
                </a:solidFill>
              </a:rPr>
              <a:t>Picks A → B → D because it is 15 ms faster, and loses 15 of every 100 packets.</a:t>
            </a:r>
            <a:endParaRPr lang="en-US" sz="1600" dirty="0"/>
          </a:p>
        </p:txBody>
      </p:sp>
      <p:sp>
        <p:nvSpPr>
          <p:cNvPr id="20" name="irpCard"/>
          <p:cNvSpPr/>
          <p:nvPr/>
        </p:nvSpPr>
        <p:spPr>
          <a:xfrm>
            <a:off x="6583680" y="3657600"/>
            <a:ext cx="5029200" cy="1828800"/>
          </a:xfrm>
          <a:prstGeom prst="roundRect">
            <a:avLst>
              <a:gd name="adj" fmla="val 6000"/>
            </a:avLst>
          </a:prstGeom>
          <a:solidFill>
            <a:srgbClr val="E3F2EF"/>
          </a:solidFill>
          <a:ln w="12700">
            <a:solidFill>
              <a:srgbClr val="E3F2EF"/>
            </a:solidFill>
            <a:prstDash val="solid"/>
          </a:ln>
        </p:spPr>
        <p:txBody>
          <a:bodyPr/>
          <a:lstStyle/>
          <a:p>
            <a:endParaRPr lang="en-US"/>
          </a:p>
        </p:txBody>
      </p:sp>
      <p:sp>
        <p:nvSpPr>
          <p:cNvPr id="21" name="Text 19"/>
          <p:cNvSpPr txBox="1"/>
          <p:nvPr/>
        </p:nvSpPr>
        <p:spPr>
          <a:xfrm>
            <a:off x="6858000" y="3840480"/>
            <a:ext cx="4572000" cy="365760"/>
          </a:xfrm>
          <a:prstGeom prst="rect">
            <a:avLst/>
          </a:prstGeom>
          <a:noFill/>
          <a:ln/>
        </p:spPr>
        <p:txBody>
          <a:bodyPr wrap="square" lIns="0" tIns="0" rIns="0" bIns="0" rtlCol="0" anchor="t"/>
          <a:lstStyle/>
          <a:p>
            <a:pPr marL="0" indent="0">
              <a:buNone/>
            </a:pPr>
            <a:r>
              <a:rPr lang="en-US" sz="1800" b="1" dirty="0">
                <a:solidFill>
                  <a:schemeClr val="accent1"/>
                </a:solidFill>
              </a:rPr>
              <a:t>Our protocol</a:t>
            </a:r>
            <a:endParaRPr lang="en-US" sz="1800" dirty="0"/>
          </a:p>
        </p:txBody>
      </p:sp>
      <p:sp>
        <p:nvSpPr>
          <p:cNvPr id="22" name="Text 20"/>
          <p:cNvSpPr txBox="1"/>
          <p:nvPr/>
        </p:nvSpPr>
        <p:spPr>
          <a:xfrm>
            <a:off x="6858000" y="4297680"/>
            <a:ext cx="4572000" cy="1005840"/>
          </a:xfrm>
          <a:prstGeom prst="rect">
            <a:avLst/>
          </a:prstGeom>
          <a:noFill/>
          <a:ln/>
        </p:spPr>
        <p:txBody>
          <a:bodyPr wrap="square" lIns="0" tIns="0" rIns="0" bIns="0" rtlCol="0" anchor="t"/>
          <a:lstStyle/>
          <a:p>
            <a:pPr marL="0" indent="0">
              <a:buNone/>
            </a:pPr>
            <a:r>
              <a:rPr lang="en-US" sz="1600" dirty="0">
                <a:solidFill>
                  <a:schemeClr val="tx1"/>
                </a:solidFill>
              </a:rPr>
              <a:t>Picks A → C → D. 15 ms of extra delay is a small price for not losing packets.</a:t>
            </a:r>
            <a:endParaRPr lang="en-US" sz="1600" dirty="0"/>
          </a:p>
        </p:txBody>
      </p:sp>
      <p:sp>
        <p:nvSpPr>
          <p:cNvPr id="23" name="Text 21"/>
          <p:cNvSpPr txBox="1"/>
          <p:nvPr/>
        </p:nvSpPr>
        <p:spPr>
          <a:xfrm>
            <a:off x="548640" y="5897880"/>
            <a:ext cx="10972800" cy="365760"/>
          </a:xfrm>
          <a:prstGeom prst="rect">
            <a:avLst/>
          </a:prstGeom>
          <a:noFill/>
          <a:ln/>
        </p:spPr>
        <p:txBody>
          <a:bodyPr wrap="square" lIns="0" tIns="0" rIns="0" bIns="0" rtlCol="0" anchor="t"/>
          <a:lstStyle/>
          <a:p>
            <a:pPr marL="0" indent="0">
              <a:buNone/>
            </a:pPr>
            <a:r>
              <a:rPr lang="en-US" sz="1400" i="1" dirty="0">
                <a:solidFill>
                  <a:schemeClr val="accent4"/>
                </a:solidFill>
              </a:rPr>
              <a:t>Classic protocols use a fixed metric (distance or hop count) and only react when a link fully goes down.</a:t>
            </a:r>
            <a:endParaRPr lang="en-US" sz="14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9B"/>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400" b="1" dirty="0">
                <a:solidFill>
                  <a:schemeClr val="tx2"/>
                </a:solidFill>
              </a:rPr>
              <a:t>Existing approach (baseline) and its gap</a:t>
            </a:r>
            <a:endParaRPr lang="en-US" sz="3400" dirty="0"/>
          </a:p>
        </p:txBody>
      </p:sp>
      <p:sp>
        <p:nvSpPr>
          <p:cNvPr id="3" name="col0"/>
          <p:cNvSpPr/>
          <p:nvPr/>
        </p:nvSpPr>
        <p:spPr>
          <a:xfrm>
            <a:off x="548640" y="1508760"/>
            <a:ext cx="3520440" cy="3749040"/>
          </a:xfrm>
          <a:prstGeom prst="roundRect">
            <a:avLst>
              <a:gd name="adj" fmla="val 3117"/>
            </a:avLst>
          </a:prstGeom>
          <a:solidFill>
            <a:srgbClr val="FFF6E0"/>
          </a:solidFill>
          <a:ln w="12700">
            <a:solidFill>
              <a:srgbClr val="FFF6E0"/>
            </a:solidFill>
            <a:prstDash val="solid"/>
          </a:ln>
        </p:spPr>
        <p:txBody>
          <a:bodyPr/>
          <a:lstStyle/>
          <a:p>
            <a:endParaRPr lang="en-US"/>
          </a:p>
        </p:txBody>
      </p:sp>
      <p:sp>
        <p:nvSpPr>
          <p:cNvPr id="4" name="Shape 2"/>
          <p:cNvSpPr/>
          <p:nvPr/>
        </p:nvSpPr>
        <p:spPr>
          <a:xfrm>
            <a:off x="822960" y="1783080"/>
            <a:ext cx="365760" cy="365760"/>
          </a:xfrm>
          <a:prstGeom prst="ellipse">
            <a:avLst/>
          </a:prstGeom>
          <a:solidFill>
            <a:schemeClr val="accent3"/>
          </a:solidFill>
          <a:ln w="12700">
            <a:solidFill>
              <a:schemeClr val="accent3"/>
            </a:solidFill>
            <a:prstDash val="solid"/>
          </a:ln>
        </p:spPr>
        <p:txBody>
          <a:bodyPr/>
          <a:lstStyle/>
          <a:p>
            <a:endParaRPr lang="en-US"/>
          </a:p>
        </p:txBody>
      </p:sp>
      <p:sp>
        <p:nvSpPr>
          <p:cNvPr id="5" name="Text 3"/>
          <p:cNvSpPr txBox="1"/>
          <p:nvPr/>
        </p:nvSpPr>
        <p:spPr>
          <a:xfrm>
            <a:off x="1325880" y="1755648"/>
            <a:ext cx="2560320" cy="411480"/>
          </a:xfrm>
          <a:prstGeom prst="rect">
            <a:avLst/>
          </a:prstGeom>
          <a:noFill/>
          <a:ln/>
        </p:spPr>
        <p:txBody>
          <a:bodyPr wrap="square" lIns="0" tIns="0" rIns="0" bIns="0" rtlCol="0" anchor="ctr"/>
          <a:lstStyle/>
          <a:p>
            <a:pPr marL="0" indent="0">
              <a:buNone/>
            </a:pPr>
            <a:r>
              <a:rPr lang="en-US" sz="2000" b="1" dirty="0">
                <a:solidFill>
                  <a:schemeClr val="tx2"/>
                </a:solidFill>
              </a:rPr>
              <a:t>OSPF (link-state)</a:t>
            </a:r>
            <a:endParaRPr lang="en-US" sz="2000" dirty="0"/>
          </a:p>
        </p:txBody>
      </p:sp>
      <p:sp>
        <p:nvSpPr>
          <p:cNvPr id="6" name="Text 4"/>
          <p:cNvSpPr txBox="1"/>
          <p:nvPr/>
        </p:nvSpPr>
        <p:spPr>
          <a:xfrm>
            <a:off x="822960" y="2423160"/>
            <a:ext cx="3017520" cy="27432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Static cost per link; Dijkstra picks the shortest path.</a:t>
            </a:r>
            <a:endParaRPr lang="en-US" sz="1600" dirty="0"/>
          </a:p>
          <a:p>
            <a:pPr marL="342900" indent="-342900">
              <a:spcAft>
                <a:spcPts val="800"/>
              </a:spcAft>
              <a:buSzPct val="100000"/>
              <a:buChar char="•"/>
            </a:pPr>
            <a:r>
              <a:rPr lang="en-US" sz="1500" dirty="0">
                <a:solidFill>
                  <a:schemeClr val="tx1"/>
                </a:solidFill>
              </a:rPr>
              <a:t>Reacts only when a link is declared down by the dead timer.</a:t>
            </a:r>
            <a:endParaRPr lang="en-US" sz="1600" dirty="0"/>
          </a:p>
          <a:p>
            <a:pPr marL="342900" indent="-342900">
              <a:spcAft>
                <a:spcPts val="800"/>
              </a:spcAft>
              <a:buSzPct val="100000"/>
              <a:buChar char="•"/>
            </a:pPr>
            <a:r>
              <a:rPr lang="en-US" sz="1500" dirty="0">
                <a:solidFill>
                  <a:schemeClr val="tx1"/>
                </a:solidFill>
              </a:rPr>
              <a:t>Gap: keeps using links that are lossy, congested or flapping.</a:t>
            </a:r>
            <a:endParaRPr lang="en-US" sz="1600" dirty="0"/>
          </a:p>
        </p:txBody>
      </p:sp>
      <p:sp>
        <p:nvSpPr>
          <p:cNvPr id="7" name="col1"/>
          <p:cNvSpPr/>
          <p:nvPr/>
        </p:nvSpPr>
        <p:spPr>
          <a:xfrm>
            <a:off x="4297680" y="1508760"/>
            <a:ext cx="3520440" cy="3749040"/>
          </a:xfrm>
          <a:prstGeom prst="roundRect">
            <a:avLst>
              <a:gd name="adj" fmla="val 3117"/>
            </a:avLst>
          </a:prstGeom>
          <a:solidFill>
            <a:srgbClr val="FCEDE4"/>
          </a:solidFill>
          <a:ln w="12700">
            <a:solidFill>
              <a:srgbClr val="FCEDE4"/>
            </a:solidFill>
            <a:prstDash val="solid"/>
          </a:ln>
        </p:spPr>
        <p:txBody>
          <a:bodyPr/>
          <a:lstStyle/>
          <a:p>
            <a:endParaRPr lang="en-US"/>
          </a:p>
        </p:txBody>
      </p:sp>
      <p:sp>
        <p:nvSpPr>
          <p:cNvPr id="8" name="Shape 6"/>
          <p:cNvSpPr/>
          <p:nvPr/>
        </p:nvSpPr>
        <p:spPr>
          <a:xfrm>
            <a:off x="4572000" y="1783080"/>
            <a:ext cx="365760" cy="365760"/>
          </a:xfrm>
          <a:prstGeom prst="ellipse">
            <a:avLst/>
          </a:prstGeom>
          <a:solidFill>
            <a:schemeClr val="accent2"/>
          </a:solidFill>
          <a:ln w="12700">
            <a:solidFill>
              <a:schemeClr val="accent2"/>
            </a:solidFill>
            <a:prstDash val="solid"/>
          </a:ln>
        </p:spPr>
        <p:txBody>
          <a:bodyPr/>
          <a:lstStyle/>
          <a:p>
            <a:endParaRPr lang="en-US"/>
          </a:p>
        </p:txBody>
      </p:sp>
      <p:sp>
        <p:nvSpPr>
          <p:cNvPr id="9" name="Text 7"/>
          <p:cNvSpPr txBox="1"/>
          <p:nvPr/>
        </p:nvSpPr>
        <p:spPr>
          <a:xfrm>
            <a:off x="5074920" y="1755648"/>
            <a:ext cx="2560320" cy="411480"/>
          </a:xfrm>
          <a:prstGeom prst="rect">
            <a:avLst/>
          </a:prstGeom>
          <a:noFill/>
          <a:ln/>
        </p:spPr>
        <p:txBody>
          <a:bodyPr wrap="square" lIns="0" tIns="0" rIns="0" bIns="0" rtlCol="0" anchor="ctr"/>
          <a:lstStyle/>
          <a:p>
            <a:pPr marL="0" indent="0">
              <a:buNone/>
            </a:pPr>
            <a:r>
              <a:rPr lang="en-US" sz="2000" b="1" dirty="0">
                <a:solidFill>
                  <a:schemeClr val="tx2"/>
                </a:solidFill>
              </a:rPr>
              <a:t>RIP (distance-vector)</a:t>
            </a:r>
            <a:endParaRPr lang="en-US" sz="2000" dirty="0"/>
          </a:p>
        </p:txBody>
      </p:sp>
      <p:sp>
        <p:nvSpPr>
          <p:cNvPr id="10" name="Text 8"/>
          <p:cNvSpPr txBox="1"/>
          <p:nvPr/>
        </p:nvSpPr>
        <p:spPr>
          <a:xfrm>
            <a:off x="4572000" y="2423160"/>
            <a:ext cx="3017520" cy="27432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Hop count only: every link costs 1.</a:t>
            </a:r>
            <a:endParaRPr lang="en-US" sz="1600" dirty="0"/>
          </a:p>
          <a:p>
            <a:pPr marL="342900" indent="-342900">
              <a:spcAft>
                <a:spcPts val="800"/>
              </a:spcAft>
              <a:buSzPct val="100000"/>
              <a:buChar char="•"/>
            </a:pPr>
            <a:r>
              <a:rPr lang="en-US" sz="1500" dirty="0">
                <a:solidFill>
                  <a:schemeClr val="tx1"/>
                </a:solidFill>
              </a:rPr>
              <a:t>Ignores delay, bandwidth and loss.</a:t>
            </a:r>
            <a:endParaRPr lang="en-US" sz="1600" dirty="0"/>
          </a:p>
          <a:p>
            <a:pPr marL="342900" indent="-342900">
              <a:spcAft>
                <a:spcPts val="800"/>
              </a:spcAft>
              <a:buSzPct val="100000"/>
              <a:buChar char="•"/>
            </a:pPr>
            <a:r>
              <a:rPr lang="en-US" sz="1500" dirty="0">
                <a:solidFill>
                  <a:schemeClr val="tx1"/>
                </a:solidFill>
              </a:rPr>
              <a:t>Gap: blind to link quality and slow to converge.</a:t>
            </a:r>
            <a:endParaRPr lang="en-US" sz="1600" dirty="0"/>
          </a:p>
        </p:txBody>
      </p:sp>
      <p:sp>
        <p:nvSpPr>
          <p:cNvPr id="11" name="col2"/>
          <p:cNvSpPr/>
          <p:nvPr/>
        </p:nvSpPr>
        <p:spPr>
          <a:xfrm>
            <a:off x="8046720" y="1508760"/>
            <a:ext cx="3520440" cy="3749040"/>
          </a:xfrm>
          <a:prstGeom prst="roundRect">
            <a:avLst>
              <a:gd name="adj" fmla="val 3117"/>
            </a:avLst>
          </a:prstGeom>
          <a:solidFill>
            <a:srgbClr val="E3F2EF"/>
          </a:solidFill>
          <a:ln w="12700">
            <a:solidFill>
              <a:srgbClr val="E3F2EF"/>
            </a:solidFill>
            <a:prstDash val="solid"/>
          </a:ln>
        </p:spPr>
        <p:txBody>
          <a:bodyPr/>
          <a:lstStyle/>
          <a:p>
            <a:endParaRPr lang="en-US"/>
          </a:p>
        </p:txBody>
      </p:sp>
      <p:sp>
        <p:nvSpPr>
          <p:cNvPr id="12" name="Shape 10"/>
          <p:cNvSpPr/>
          <p:nvPr/>
        </p:nvSpPr>
        <p:spPr>
          <a:xfrm>
            <a:off x="8321040" y="1783080"/>
            <a:ext cx="365760" cy="365760"/>
          </a:xfrm>
          <a:prstGeom prst="ellipse">
            <a:avLst/>
          </a:prstGeom>
          <a:solidFill>
            <a:schemeClr val="accent1"/>
          </a:solidFill>
          <a:ln w="12700">
            <a:solidFill>
              <a:schemeClr val="accent1"/>
            </a:solidFill>
            <a:prstDash val="solid"/>
          </a:ln>
        </p:spPr>
        <p:txBody>
          <a:bodyPr/>
          <a:lstStyle/>
          <a:p>
            <a:endParaRPr lang="en-US"/>
          </a:p>
        </p:txBody>
      </p:sp>
      <p:sp>
        <p:nvSpPr>
          <p:cNvPr id="13" name="Text 11"/>
          <p:cNvSpPr txBox="1"/>
          <p:nvPr/>
        </p:nvSpPr>
        <p:spPr>
          <a:xfrm>
            <a:off x="8823960" y="1755648"/>
            <a:ext cx="2560320" cy="411480"/>
          </a:xfrm>
          <a:prstGeom prst="rect">
            <a:avLst/>
          </a:prstGeom>
          <a:noFill/>
          <a:ln/>
        </p:spPr>
        <p:txBody>
          <a:bodyPr wrap="square" lIns="0" tIns="0" rIns="0" bIns="0" rtlCol="0" anchor="ctr"/>
          <a:lstStyle/>
          <a:p>
            <a:pPr marL="0" indent="0">
              <a:buNone/>
            </a:pPr>
            <a:r>
              <a:rPr lang="en-US" sz="2000" b="1" dirty="0">
                <a:solidFill>
                  <a:schemeClr val="tx2"/>
                </a:solidFill>
              </a:rPr>
              <a:t>Latency-only dynamic</a:t>
            </a:r>
            <a:endParaRPr lang="en-US" sz="2000" dirty="0"/>
          </a:p>
        </p:txBody>
      </p:sp>
      <p:sp>
        <p:nvSpPr>
          <p:cNvPr id="14" name="Text 12"/>
          <p:cNvSpPr txBox="1"/>
          <p:nvPr/>
        </p:nvSpPr>
        <p:spPr>
          <a:xfrm>
            <a:off x="8321040" y="2423160"/>
            <a:ext cx="3017520" cy="27432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Re-routes on measured delay and queueing.</a:t>
            </a:r>
            <a:endParaRPr lang="en-US" sz="1600" dirty="0"/>
          </a:p>
          <a:p>
            <a:pPr marL="342900" indent="-342900">
              <a:spcAft>
                <a:spcPts val="800"/>
              </a:spcAft>
              <a:buSzPct val="100000"/>
              <a:buChar char="•"/>
            </a:pPr>
            <a:r>
              <a:rPr lang="en-US" sz="1500" dirty="0">
                <a:solidFill>
                  <a:schemeClr val="tx1"/>
                </a:solidFill>
              </a:rPr>
              <a:t>Handles delay spikes and congestion.</a:t>
            </a:r>
            <a:endParaRPr lang="en-US" sz="1600" dirty="0"/>
          </a:p>
          <a:p>
            <a:pPr marL="342900" indent="-342900">
              <a:spcAft>
                <a:spcPts val="800"/>
              </a:spcAft>
              <a:buSzPct val="100000"/>
              <a:buChar char="•"/>
            </a:pPr>
            <a:r>
              <a:rPr lang="en-US" sz="1500" dirty="0">
                <a:solidFill>
                  <a:schemeClr val="tx1"/>
                </a:solidFill>
              </a:rPr>
              <a:t>Gap: misses packet loss and flapping, which do not raise delay.</a:t>
            </a:r>
            <a:endParaRPr lang="en-US" sz="1600" dirty="0"/>
          </a:p>
        </p:txBody>
      </p:sp>
      <p:sp>
        <p:nvSpPr>
          <p:cNvPr id="15" name="Text 13"/>
          <p:cNvSpPr txBox="1"/>
          <p:nvPr/>
        </p:nvSpPr>
        <p:spPr>
          <a:xfrm>
            <a:off x="548640" y="5577840"/>
            <a:ext cx="11064240" cy="411480"/>
          </a:xfrm>
          <a:prstGeom prst="rect">
            <a:avLst/>
          </a:prstGeom>
          <a:noFill/>
          <a:ln/>
        </p:spPr>
        <p:txBody>
          <a:bodyPr wrap="square" lIns="0" tIns="0" rIns="0" bIns="0" rtlCol="0" anchor="t"/>
          <a:lstStyle/>
          <a:p>
            <a:pPr marL="0" indent="0">
              <a:buNone/>
            </a:pPr>
            <a:r>
              <a:rPr lang="en-US" sz="1500" i="1" dirty="0">
                <a:solidFill>
                  <a:schemeClr val="accent4"/>
                </a:solidFill>
              </a:rPr>
              <a:t>Main baseline: OSPF-like static routing. All policies share the same probes and dead timer, so only the routing logic differs.</a:t>
            </a:r>
            <a:endParaRPr lang="en-US" sz="15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9B"/>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400" b="1" dirty="0">
                <a:solidFill>
                  <a:schemeClr val="tx2"/>
                </a:solidFill>
              </a:rPr>
              <a:t>Proposed novelty: four live measurements per link</a:t>
            </a:r>
            <a:endParaRPr lang="en-US" sz="3400" dirty="0"/>
          </a:p>
        </p:txBody>
      </p:sp>
      <p:sp>
        <p:nvSpPr>
          <p:cNvPr id="3" name="metric0"/>
          <p:cNvSpPr/>
          <p:nvPr/>
        </p:nvSpPr>
        <p:spPr>
          <a:xfrm>
            <a:off x="548640" y="1554480"/>
            <a:ext cx="2606040" cy="2743200"/>
          </a:xfrm>
          <a:prstGeom prst="roundRect">
            <a:avLst>
              <a:gd name="adj" fmla="val 4211"/>
            </a:avLst>
          </a:prstGeom>
          <a:solidFill>
            <a:srgbClr val="F3F6F6"/>
          </a:solidFill>
          <a:ln w="12700">
            <a:solidFill>
              <a:srgbClr val="F3F6F6"/>
            </a:solidFill>
            <a:prstDash val="solid"/>
          </a:ln>
        </p:spPr>
        <p:txBody>
          <a:bodyPr/>
          <a:lstStyle/>
          <a:p>
            <a:endParaRPr lang="en-US"/>
          </a:p>
        </p:txBody>
      </p:sp>
      <p:sp>
        <p:nvSpPr>
          <p:cNvPr id="4" name="Shape 2"/>
          <p:cNvSpPr/>
          <p:nvPr/>
        </p:nvSpPr>
        <p:spPr>
          <a:xfrm>
            <a:off x="822960" y="1783080"/>
            <a:ext cx="640080" cy="640080"/>
          </a:xfrm>
          <a:prstGeom prst="ellipse">
            <a:avLst/>
          </a:prstGeom>
          <a:solidFill>
            <a:schemeClr val="accent1"/>
          </a:solidFill>
          <a:ln w="12700">
            <a:solidFill>
              <a:schemeClr val="accent1"/>
            </a:solidFill>
            <a:prstDash val="solid"/>
          </a:ln>
        </p:spPr>
        <p:txBody>
          <a:bodyPr/>
          <a:lstStyle/>
          <a:p>
            <a:endParaRPr lang="en-US"/>
          </a:p>
        </p:txBody>
      </p:sp>
      <p:sp>
        <p:nvSpPr>
          <p:cNvPr id="5" name="Text 3"/>
          <p:cNvSpPr txBox="1"/>
          <p:nvPr/>
        </p:nvSpPr>
        <p:spPr>
          <a:xfrm>
            <a:off x="822960" y="1783080"/>
            <a:ext cx="640080" cy="640080"/>
          </a:xfrm>
          <a:prstGeom prst="rect">
            <a:avLst/>
          </a:prstGeom>
          <a:noFill/>
          <a:ln/>
        </p:spPr>
        <p:txBody>
          <a:bodyPr wrap="square" lIns="0" tIns="0" rIns="0" bIns="0" rtlCol="0" anchor="ctr"/>
          <a:lstStyle/>
          <a:p>
            <a:pPr marL="0" indent="0" algn="ctr">
              <a:buNone/>
            </a:pPr>
            <a:r>
              <a:rPr lang="en-US" sz="2200" b="1" dirty="0">
                <a:solidFill>
                  <a:schemeClr val="bg1"/>
                </a:solidFill>
              </a:rPr>
              <a:t>1</a:t>
            </a:r>
            <a:endParaRPr lang="en-US" sz="2200" dirty="0"/>
          </a:p>
        </p:txBody>
      </p:sp>
      <p:sp>
        <p:nvSpPr>
          <p:cNvPr id="6" name="Text 4"/>
          <p:cNvSpPr txBox="1"/>
          <p:nvPr/>
        </p:nvSpPr>
        <p:spPr>
          <a:xfrm>
            <a:off x="822960" y="2606040"/>
            <a:ext cx="2103120" cy="411480"/>
          </a:xfrm>
          <a:prstGeom prst="rect">
            <a:avLst/>
          </a:prstGeom>
          <a:noFill/>
          <a:ln/>
        </p:spPr>
        <p:txBody>
          <a:bodyPr wrap="square" lIns="0" tIns="0" rIns="0" bIns="0" rtlCol="0" anchor="t"/>
          <a:lstStyle/>
          <a:p>
            <a:pPr marL="0" indent="0">
              <a:buNone/>
            </a:pPr>
            <a:r>
              <a:rPr lang="en-US" sz="2000" b="1" dirty="0">
                <a:solidFill>
                  <a:schemeClr val="tx2"/>
                </a:solidFill>
              </a:rPr>
              <a:t>Delay</a:t>
            </a:r>
            <a:endParaRPr lang="en-US" sz="2000" dirty="0"/>
          </a:p>
        </p:txBody>
      </p:sp>
      <p:sp>
        <p:nvSpPr>
          <p:cNvPr id="7" name="Text 5"/>
          <p:cNvSpPr txBox="1"/>
          <p:nvPr/>
        </p:nvSpPr>
        <p:spPr>
          <a:xfrm>
            <a:off x="822960" y="3063240"/>
            <a:ext cx="2103120" cy="1188720"/>
          </a:xfrm>
          <a:prstGeom prst="rect">
            <a:avLst/>
          </a:prstGeom>
          <a:noFill/>
          <a:ln/>
        </p:spPr>
        <p:txBody>
          <a:bodyPr wrap="square" lIns="0" tIns="0" rIns="0" bIns="0" rtlCol="0" anchor="t"/>
          <a:lstStyle/>
          <a:p>
            <a:pPr marL="0" indent="0">
              <a:buNone/>
            </a:pPr>
            <a:r>
              <a:rPr lang="en-US" sz="1500" dirty="0">
                <a:solidFill>
                  <a:schemeClr val="tx1"/>
                </a:solidFill>
              </a:rPr>
              <a:t>How long packets take, including queueing delay when the link is busy</a:t>
            </a:r>
            <a:endParaRPr lang="en-US" sz="1500" dirty="0"/>
          </a:p>
        </p:txBody>
      </p:sp>
      <p:sp>
        <p:nvSpPr>
          <p:cNvPr id="8" name="metric1"/>
          <p:cNvSpPr/>
          <p:nvPr/>
        </p:nvSpPr>
        <p:spPr>
          <a:xfrm>
            <a:off x="3364992" y="1554480"/>
            <a:ext cx="2606040" cy="2743200"/>
          </a:xfrm>
          <a:prstGeom prst="roundRect">
            <a:avLst>
              <a:gd name="adj" fmla="val 4211"/>
            </a:avLst>
          </a:prstGeom>
          <a:solidFill>
            <a:srgbClr val="F3F6F6"/>
          </a:solidFill>
          <a:ln w="12700">
            <a:solidFill>
              <a:srgbClr val="F3F6F6"/>
            </a:solidFill>
            <a:prstDash val="solid"/>
          </a:ln>
        </p:spPr>
        <p:txBody>
          <a:bodyPr/>
          <a:lstStyle/>
          <a:p>
            <a:endParaRPr lang="en-US"/>
          </a:p>
        </p:txBody>
      </p:sp>
      <p:sp>
        <p:nvSpPr>
          <p:cNvPr id="9" name="Shape 7"/>
          <p:cNvSpPr/>
          <p:nvPr/>
        </p:nvSpPr>
        <p:spPr>
          <a:xfrm>
            <a:off x="3639312" y="1783080"/>
            <a:ext cx="640080" cy="640080"/>
          </a:xfrm>
          <a:prstGeom prst="ellipse">
            <a:avLst/>
          </a:prstGeom>
          <a:solidFill>
            <a:schemeClr val="accent2"/>
          </a:solidFill>
          <a:ln w="12700">
            <a:solidFill>
              <a:schemeClr val="accent2"/>
            </a:solidFill>
            <a:prstDash val="solid"/>
          </a:ln>
        </p:spPr>
        <p:txBody>
          <a:bodyPr/>
          <a:lstStyle/>
          <a:p>
            <a:endParaRPr lang="en-US"/>
          </a:p>
        </p:txBody>
      </p:sp>
      <p:sp>
        <p:nvSpPr>
          <p:cNvPr id="10" name="Text 8"/>
          <p:cNvSpPr txBox="1"/>
          <p:nvPr/>
        </p:nvSpPr>
        <p:spPr>
          <a:xfrm>
            <a:off x="3639312" y="1783080"/>
            <a:ext cx="640080" cy="640080"/>
          </a:xfrm>
          <a:prstGeom prst="rect">
            <a:avLst/>
          </a:prstGeom>
          <a:noFill/>
          <a:ln/>
        </p:spPr>
        <p:txBody>
          <a:bodyPr wrap="square" lIns="0" tIns="0" rIns="0" bIns="0" rtlCol="0" anchor="ctr"/>
          <a:lstStyle/>
          <a:p>
            <a:pPr marL="0" indent="0" algn="ctr">
              <a:buNone/>
            </a:pPr>
            <a:r>
              <a:rPr lang="en-US" sz="2200" b="1" dirty="0">
                <a:solidFill>
                  <a:schemeClr val="bg1"/>
                </a:solidFill>
              </a:rPr>
              <a:t>2</a:t>
            </a:r>
            <a:endParaRPr lang="en-US" sz="2200" dirty="0"/>
          </a:p>
        </p:txBody>
      </p:sp>
      <p:sp>
        <p:nvSpPr>
          <p:cNvPr id="11" name="Text 9"/>
          <p:cNvSpPr txBox="1"/>
          <p:nvPr/>
        </p:nvSpPr>
        <p:spPr>
          <a:xfrm>
            <a:off x="3639312" y="2606040"/>
            <a:ext cx="2103120" cy="411480"/>
          </a:xfrm>
          <a:prstGeom prst="rect">
            <a:avLst/>
          </a:prstGeom>
          <a:noFill/>
          <a:ln/>
        </p:spPr>
        <p:txBody>
          <a:bodyPr wrap="square" lIns="0" tIns="0" rIns="0" bIns="0" rtlCol="0" anchor="t"/>
          <a:lstStyle/>
          <a:p>
            <a:pPr marL="0" indent="0">
              <a:buNone/>
            </a:pPr>
            <a:r>
              <a:rPr lang="en-US" sz="2000" b="1" dirty="0">
                <a:solidFill>
                  <a:schemeClr val="tx2"/>
                </a:solidFill>
              </a:rPr>
              <a:t>Packet loss</a:t>
            </a:r>
            <a:endParaRPr lang="en-US" sz="2000" dirty="0"/>
          </a:p>
        </p:txBody>
      </p:sp>
      <p:sp>
        <p:nvSpPr>
          <p:cNvPr id="12" name="Text 10"/>
          <p:cNvSpPr txBox="1"/>
          <p:nvPr/>
        </p:nvSpPr>
        <p:spPr>
          <a:xfrm>
            <a:off x="3639312" y="3063240"/>
            <a:ext cx="2103120" cy="1188720"/>
          </a:xfrm>
          <a:prstGeom prst="rect">
            <a:avLst/>
          </a:prstGeom>
          <a:noFill/>
          <a:ln/>
        </p:spPr>
        <p:txBody>
          <a:bodyPr wrap="square" lIns="0" tIns="0" rIns="0" bIns="0" rtlCol="0" anchor="t"/>
          <a:lstStyle/>
          <a:p>
            <a:pPr marL="0" indent="0">
              <a:buNone/>
            </a:pPr>
            <a:r>
              <a:rPr lang="en-US" sz="1500" dirty="0">
                <a:solidFill>
                  <a:schemeClr val="tx1"/>
                </a:solidFill>
              </a:rPr>
              <a:t>What fraction of packets are being dropped on the link</a:t>
            </a:r>
            <a:endParaRPr lang="en-US" sz="1500" dirty="0"/>
          </a:p>
        </p:txBody>
      </p:sp>
      <p:sp>
        <p:nvSpPr>
          <p:cNvPr id="13" name="metric2"/>
          <p:cNvSpPr/>
          <p:nvPr/>
        </p:nvSpPr>
        <p:spPr>
          <a:xfrm>
            <a:off x="6181344" y="1554480"/>
            <a:ext cx="2606040" cy="2743200"/>
          </a:xfrm>
          <a:prstGeom prst="roundRect">
            <a:avLst>
              <a:gd name="adj" fmla="val 4211"/>
            </a:avLst>
          </a:prstGeom>
          <a:solidFill>
            <a:srgbClr val="F3F6F6"/>
          </a:solidFill>
          <a:ln w="12700">
            <a:solidFill>
              <a:srgbClr val="F3F6F6"/>
            </a:solidFill>
            <a:prstDash val="solid"/>
          </a:ln>
        </p:spPr>
        <p:txBody>
          <a:bodyPr/>
          <a:lstStyle/>
          <a:p>
            <a:endParaRPr lang="en-US"/>
          </a:p>
        </p:txBody>
      </p:sp>
      <p:sp>
        <p:nvSpPr>
          <p:cNvPr id="14" name="Shape 12"/>
          <p:cNvSpPr/>
          <p:nvPr/>
        </p:nvSpPr>
        <p:spPr>
          <a:xfrm>
            <a:off x="6455664" y="1783080"/>
            <a:ext cx="640080" cy="640080"/>
          </a:xfrm>
          <a:prstGeom prst="ellipse">
            <a:avLst/>
          </a:prstGeom>
          <a:solidFill>
            <a:schemeClr val="accent5"/>
          </a:solidFill>
          <a:ln w="12700">
            <a:solidFill>
              <a:schemeClr val="accent5"/>
            </a:solidFill>
            <a:prstDash val="solid"/>
          </a:ln>
        </p:spPr>
        <p:txBody>
          <a:bodyPr/>
          <a:lstStyle/>
          <a:p>
            <a:endParaRPr lang="en-US"/>
          </a:p>
        </p:txBody>
      </p:sp>
      <p:sp>
        <p:nvSpPr>
          <p:cNvPr id="15" name="Text 13"/>
          <p:cNvSpPr txBox="1"/>
          <p:nvPr/>
        </p:nvSpPr>
        <p:spPr>
          <a:xfrm>
            <a:off x="6455664" y="1783080"/>
            <a:ext cx="640080" cy="640080"/>
          </a:xfrm>
          <a:prstGeom prst="rect">
            <a:avLst/>
          </a:prstGeom>
          <a:noFill/>
          <a:ln/>
        </p:spPr>
        <p:txBody>
          <a:bodyPr wrap="square" lIns="0" tIns="0" rIns="0" bIns="0" rtlCol="0" anchor="ctr"/>
          <a:lstStyle/>
          <a:p>
            <a:pPr marL="0" indent="0" algn="ctr">
              <a:buNone/>
            </a:pPr>
            <a:r>
              <a:rPr lang="en-US" sz="2200" b="1" dirty="0">
                <a:solidFill>
                  <a:schemeClr val="bg1"/>
                </a:solidFill>
              </a:rPr>
              <a:t>3</a:t>
            </a:r>
            <a:endParaRPr lang="en-US" sz="2200" dirty="0"/>
          </a:p>
        </p:txBody>
      </p:sp>
      <p:sp>
        <p:nvSpPr>
          <p:cNvPr id="16" name="Text 14"/>
          <p:cNvSpPr txBox="1"/>
          <p:nvPr/>
        </p:nvSpPr>
        <p:spPr>
          <a:xfrm>
            <a:off x="6455664" y="2606040"/>
            <a:ext cx="2103120" cy="411480"/>
          </a:xfrm>
          <a:prstGeom prst="rect">
            <a:avLst/>
          </a:prstGeom>
          <a:noFill/>
          <a:ln/>
        </p:spPr>
        <p:txBody>
          <a:bodyPr wrap="square" lIns="0" tIns="0" rIns="0" bIns="0" rtlCol="0" anchor="t"/>
          <a:lstStyle/>
          <a:p>
            <a:pPr marL="0" indent="0">
              <a:buNone/>
            </a:pPr>
            <a:r>
              <a:rPr lang="en-US" sz="2000" b="1" dirty="0">
                <a:solidFill>
                  <a:schemeClr val="tx2"/>
                </a:solidFill>
              </a:rPr>
              <a:t>Free bandwidth</a:t>
            </a:r>
            <a:endParaRPr lang="en-US" sz="2000" dirty="0"/>
          </a:p>
        </p:txBody>
      </p:sp>
      <p:sp>
        <p:nvSpPr>
          <p:cNvPr id="17" name="Text 15"/>
          <p:cNvSpPr txBox="1"/>
          <p:nvPr/>
        </p:nvSpPr>
        <p:spPr>
          <a:xfrm>
            <a:off x="6455664" y="3063240"/>
            <a:ext cx="2103120" cy="1188720"/>
          </a:xfrm>
          <a:prstGeom prst="rect">
            <a:avLst/>
          </a:prstGeom>
          <a:noFill/>
          <a:ln/>
        </p:spPr>
        <p:txBody>
          <a:bodyPr wrap="square" lIns="0" tIns="0" rIns="0" bIns="0" rtlCol="0" anchor="t"/>
          <a:lstStyle/>
          <a:p>
            <a:pPr marL="0" indent="0">
              <a:buNone/>
            </a:pPr>
            <a:r>
              <a:rPr lang="en-US" sz="1500" dirty="0">
                <a:solidFill>
                  <a:schemeClr val="tx1"/>
                </a:solidFill>
              </a:rPr>
              <a:t>How much spare capacity is left for our traffic</a:t>
            </a:r>
            <a:endParaRPr lang="en-US" sz="1500" dirty="0"/>
          </a:p>
        </p:txBody>
      </p:sp>
      <p:sp>
        <p:nvSpPr>
          <p:cNvPr id="18" name="metric3"/>
          <p:cNvSpPr/>
          <p:nvPr/>
        </p:nvSpPr>
        <p:spPr>
          <a:xfrm>
            <a:off x="8997696" y="1554480"/>
            <a:ext cx="2606040" cy="2743200"/>
          </a:xfrm>
          <a:prstGeom prst="roundRect">
            <a:avLst>
              <a:gd name="adj" fmla="val 4211"/>
            </a:avLst>
          </a:prstGeom>
          <a:solidFill>
            <a:srgbClr val="F3F6F6"/>
          </a:solidFill>
          <a:ln w="12700">
            <a:solidFill>
              <a:srgbClr val="F3F6F6"/>
            </a:solidFill>
            <a:prstDash val="solid"/>
          </a:ln>
        </p:spPr>
        <p:txBody>
          <a:bodyPr/>
          <a:lstStyle/>
          <a:p>
            <a:endParaRPr lang="en-US"/>
          </a:p>
        </p:txBody>
      </p:sp>
      <p:sp>
        <p:nvSpPr>
          <p:cNvPr id="19" name="Shape 17"/>
          <p:cNvSpPr/>
          <p:nvPr/>
        </p:nvSpPr>
        <p:spPr>
          <a:xfrm>
            <a:off x="9272016" y="1783080"/>
            <a:ext cx="640080" cy="640080"/>
          </a:xfrm>
          <a:prstGeom prst="ellipse">
            <a:avLst/>
          </a:prstGeom>
          <a:solidFill>
            <a:schemeClr val="accent3"/>
          </a:solidFill>
          <a:ln w="12700">
            <a:solidFill>
              <a:schemeClr val="accent3"/>
            </a:solidFill>
            <a:prstDash val="solid"/>
          </a:ln>
        </p:spPr>
        <p:txBody>
          <a:bodyPr/>
          <a:lstStyle/>
          <a:p>
            <a:endParaRPr lang="en-US"/>
          </a:p>
        </p:txBody>
      </p:sp>
      <p:sp>
        <p:nvSpPr>
          <p:cNvPr id="20" name="Text 18"/>
          <p:cNvSpPr txBox="1"/>
          <p:nvPr/>
        </p:nvSpPr>
        <p:spPr>
          <a:xfrm>
            <a:off x="9272016" y="1783080"/>
            <a:ext cx="640080" cy="640080"/>
          </a:xfrm>
          <a:prstGeom prst="rect">
            <a:avLst/>
          </a:prstGeom>
          <a:noFill/>
          <a:ln/>
        </p:spPr>
        <p:txBody>
          <a:bodyPr wrap="square" lIns="0" tIns="0" rIns="0" bIns="0" rtlCol="0" anchor="ctr"/>
          <a:lstStyle/>
          <a:p>
            <a:pPr marL="0" indent="0" algn="ctr">
              <a:buNone/>
            </a:pPr>
            <a:r>
              <a:rPr lang="en-US" sz="2200" b="1" dirty="0">
                <a:solidFill>
                  <a:schemeClr val="bg1"/>
                </a:solidFill>
              </a:rPr>
              <a:t>4</a:t>
            </a:r>
            <a:endParaRPr lang="en-US" sz="2200" dirty="0"/>
          </a:p>
        </p:txBody>
      </p:sp>
      <p:sp>
        <p:nvSpPr>
          <p:cNvPr id="21" name="Text 19"/>
          <p:cNvSpPr txBox="1"/>
          <p:nvPr/>
        </p:nvSpPr>
        <p:spPr>
          <a:xfrm>
            <a:off x="9272016" y="2606040"/>
            <a:ext cx="2103120" cy="411480"/>
          </a:xfrm>
          <a:prstGeom prst="rect">
            <a:avLst/>
          </a:prstGeom>
          <a:noFill/>
          <a:ln/>
        </p:spPr>
        <p:txBody>
          <a:bodyPr wrap="square" lIns="0" tIns="0" rIns="0" bIns="0" rtlCol="0" anchor="t"/>
          <a:lstStyle/>
          <a:p>
            <a:pPr marL="0" indent="0">
              <a:buNone/>
            </a:pPr>
            <a:r>
              <a:rPr lang="en-US" sz="2000" b="1" dirty="0">
                <a:solidFill>
                  <a:schemeClr val="tx2"/>
                </a:solidFill>
              </a:rPr>
              <a:t>Stability</a:t>
            </a:r>
            <a:endParaRPr lang="en-US" sz="2000" dirty="0"/>
          </a:p>
        </p:txBody>
      </p:sp>
      <p:sp>
        <p:nvSpPr>
          <p:cNvPr id="22" name="Text 20"/>
          <p:cNvSpPr txBox="1"/>
          <p:nvPr/>
        </p:nvSpPr>
        <p:spPr>
          <a:xfrm>
            <a:off x="9272016" y="3063240"/>
            <a:ext cx="2103120" cy="1188720"/>
          </a:xfrm>
          <a:prstGeom prst="rect">
            <a:avLst/>
          </a:prstGeom>
          <a:noFill/>
          <a:ln/>
        </p:spPr>
        <p:txBody>
          <a:bodyPr wrap="square" lIns="0" tIns="0" rIns="0" bIns="0" rtlCol="0" anchor="t"/>
          <a:lstStyle/>
          <a:p>
            <a:pPr marL="0" indent="0">
              <a:buNone/>
            </a:pPr>
            <a:r>
              <a:rPr lang="en-US" sz="1500" dirty="0">
                <a:solidFill>
                  <a:schemeClr val="tx1"/>
                </a:solidFill>
              </a:rPr>
              <a:t>Has the link gone up and down recently (flapping)?</a:t>
            </a:r>
            <a:endParaRPr lang="en-US" sz="1500" dirty="0"/>
          </a:p>
        </p:txBody>
      </p:sp>
      <p:sp>
        <p:nvSpPr>
          <p:cNvPr id="23" name="ideaBox"/>
          <p:cNvSpPr/>
          <p:nvPr/>
        </p:nvSpPr>
        <p:spPr>
          <a:xfrm>
            <a:off x="548640" y="4617720"/>
            <a:ext cx="11064240" cy="1371600"/>
          </a:xfrm>
          <a:prstGeom prst="roundRect">
            <a:avLst>
              <a:gd name="adj" fmla="val 8000"/>
            </a:avLst>
          </a:prstGeom>
          <a:solidFill>
            <a:srgbClr val="E3F2EF"/>
          </a:solidFill>
          <a:ln w="12700">
            <a:solidFill>
              <a:srgbClr val="E3F2EF"/>
            </a:solidFill>
            <a:prstDash val="solid"/>
          </a:ln>
        </p:spPr>
        <p:txBody>
          <a:bodyPr/>
          <a:lstStyle/>
          <a:p>
            <a:endParaRPr lang="en-US"/>
          </a:p>
        </p:txBody>
      </p:sp>
      <p:sp>
        <p:nvSpPr>
          <p:cNvPr id="24" name="Text 22"/>
          <p:cNvSpPr txBox="1"/>
          <p:nvPr/>
        </p:nvSpPr>
        <p:spPr>
          <a:xfrm>
            <a:off x="822960" y="4846320"/>
            <a:ext cx="10515600" cy="914400"/>
          </a:xfrm>
          <a:prstGeom prst="rect">
            <a:avLst/>
          </a:prstGeom>
          <a:noFill/>
          <a:ln/>
        </p:spPr>
        <p:txBody>
          <a:bodyPr wrap="square" lIns="0" tIns="0" rIns="0" bIns="0" rtlCol="0" anchor="ctr"/>
          <a:lstStyle/>
          <a:p>
            <a:pPr marL="0" indent="0">
              <a:buNone/>
            </a:pPr>
            <a:r>
              <a:rPr lang="en-US" sz="1700" b="1" dirty="0">
                <a:solidFill>
                  <a:schemeClr val="tx2"/>
                </a:solidFill>
              </a:rPr>
              <a:t>These four are combined into one cost per link. </a:t>
            </a:r>
            <a:r>
              <a:rPr lang="en-US" sz="1700" dirty="0">
                <a:solidFill>
                  <a:schemeClr val="tx1"/>
                </a:solidFill>
              </a:rPr>
              <a:t>Dijkstra's algorithm then finds the cheapest path. When conditions change, costs change and the route is recalculated automatically.</a:t>
            </a:r>
            <a:endParaRPr lang="en-US" sz="17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9B"/>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400" b="1" dirty="0">
                <a:solidFill>
                  <a:schemeClr val="tx2"/>
                </a:solidFill>
              </a:rPr>
              <a:t>Architecture: measure, score, choose, stay stable</a:t>
            </a:r>
            <a:endParaRPr lang="en-US" sz="3400" dirty="0"/>
          </a:p>
        </p:txBody>
      </p:sp>
      <p:sp>
        <p:nvSpPr>
          <p:cNvPr id="3" name="step0"/>
          <p:cNvSpPr/>
          <p:nvPr/>
        </p:nvSpPr>
        <p:spPr>
          <a:xfrm>
            <a:off x="548640" y="1828800"/>
            <a:ext cx="2011680" cy="2651760"/>
          </a:xfrm>
          <a:prstGeom prst="roundRect">
            <a:avLst>
              <a:gd name="adj" fmla="val 5455"/>
            </a:avLst>
          </a:prstGeom>
          <a:solidFill>
            <a:srgbClr val="F3F6F6"/>
          </a:solidFill>
          <a:ln w="12700">
            <a:solidFill>
              <a:srgbClr val="F3F6F6"/>
            </a:solidFill>
            <a:prstDash val="solid"/>
          </a:ln>
        </p:spPr>
        <p:txBody>
          <a:bodyPr/>
          <a:lstStyle/>
          <a:p>
            <a:endParaRPr lang="en-US"/>
          </a:p>
        </p:txBody>
      </p:sp>
      <p:sp>
        <p:nvSpPr>
          <p:cNvPr id="4" name="Shape 2"/>
          <p:cNvSpPr/>
          <p:nvPr/>
        </p:nvSpPr>
        <p:spPr>
          <a:xfrm>
            <a:off x="731520" y="2011680"/>
            <a:ext cx="502920" cy="502920"/>
          </a:xfrm>
          <a:prstGeom prst="ellipse">
            <a:avLst/>
          </a:prstGeom>
          <a:solidFill>
            <a:schemeClr val="accent4"/>
          </a:solidFill>
          <a:ln w="12700">
            <a:solidFill>
              <a:schemeClr val="accent4"/>
            </a:solidFill>
            <a:prstDash val="solid"/>
          </a:ln>
        </p:spPr>
        <p:txBody>
          <a:bodyPr/>
          <a:lstStyle/>
          <a:p>
            <a:endParaRPr lang="en-US"/>
          </a:p>
        </p:txBody>
      </p:sp>
      <p:sp>
        <p:nvSpPr>
          <p:cNvPr id="5" name="Text 3"/>
          <p:cNvSpPr txBox="1"/>
          <p:nvPr/>
        </p:nvSpPr>
        <p:spPr>
          <a:xfrm>
            <a:off x="731520" y="2011680"/>
            <a:ext cx="502920" cy="502920"/>
          </a:xfrm>
          <a:prstGeom prst="rect">
            <a:avLst/>
          </a:prstGeom>
          <a:no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6" name="Text 4"/>
          <p:cNvSpPr txBox="1"/>
          <p:nvPr/>
        </p:nvSpPr>
        <p:spPr>
          <a:xfrm>
            <a:off x="731520" y="2697480"/>
            <a:ext cx="1691640" cy="411480"/>
          </a:xfrm>
          <a:prstGeom prst="rect">
            <a:avLst/>
          </a:prstGeom>
          <a:noFill/>
          <a:ln/>
        </p:spPr>
        <p:txBody>
          <a:bodyPr wrap="square" lIns="0" tIns="0" rIns="0" bIns="0" rtlCol="0" anchor="t"/>
          <a:lstStyle/>
          <a:p>
            <a:pPr marL="0" indent="0">
              <a:buNone/>
            </a:pPr>
            <a:r>
              <a:rPr lang="en-US" sz="1800" b="1" dirty="0">
                <a:solidFill>
                  <a:schemeClr val="tx2"/>
                </a:solidFill>
              </a:rPr>
              <a:t>Network</a:t>
            </a:r>
            <a:endParaRPr lang="en-US" sz="1800" dirty="0"/>
          </a:p>
        </p:txBody>
      </p:sp>
      <p:sp>
        <p:nvSpPr>
          <p:cNvPr id="7" name="Text 5"/>
          <p:cNvSpPr txBox="1"/>
          <p:nvPr/>
        </p:nvSpPr>
        <p:spPr>
          <a:xfrm>
            <a:off x="731520" y="3154680"/>
            <a:ext cx="1691640" cy="1280160"/>
          </a:xfrm>
          <a:prstGeom prst="rect">
            <a:avLst/>
          </a:prstGeom>
          <a:noFill/>
          <a:ln/>
        </p:spPr>
        <p:txBody>
          <a:bodyPr wrap="square" lIns="0" tIns="0" rIns="0" bIns="0" rtlCol="0" anchor="t"/>
          <a:lstStyle/>
          <a:p>
            <a:pPr marL="0" indent="0">
              <a:buNone/>
            </a:pPr>
            <a:r>
              <a:rPr lang="en-US" sz="1400" dirty="0">
                <a:solidFill>
                  <a:schemeClr val="tx1"/>
                </a:solidFill>
              </a:rPr>
              <a:t>Simulated routers and links. Faults happen here (delay spikes, loss, failures)</a:t>
            </a:r>
            <a:endParaRPr lang="en-US" sz="1400" dirty="0"/>
          </a:p>
        </p:txBody>
      </p:sp>
      <p:sp>
        <p:nvSpPr>
          <p:cNvPr id="8" name="Shape 6"/>
          <p:cNvSpPr/>
          <p:nvPr/>
        </p:nvSpPr>
        <p:spPr>
          <a:xfrm>
            <a:off x="2596896" y="3017520"/>
            <a:ext cx="201168" cy="274320"/>
          </a:xfrm>
          <a:prstGeom prst="rightArrow">
            <a:avLst/>
          </a:prstGeom>
          <a:solidFill>
            <a:schemeClr val="accent4"/>
          </a:solidFill>
          <a:ln w="12700">
            <a:solidFill>
              <a:schemeClr val="accent4"/>
            </a:solidFill>
            <a:prstDash val="solid"/>
          </a:ln>
        </p:spPr>
        <p:txBody>
          <a:bodyPr/>
          <a:lstStyle/>
          <a:p>
            <a:endParaRPr lang="en-US"/>
          </a:p>
        </p:txBody>
      </p:sp>
      <p:sp>
        <p:nvSpPr>
          <p:cNvPr id="9" name="step1"/>
          <p:cNvSpPr/>
          <p:nvPr/>
        </p:nvSpPr>
        <p:spPr>
          <a:xfrm>
            <a:off x="2834640" y="1828800"/>
            <a:ext cx="2011680" cy="2651760"/>
          </a:xfrm>
          <a:prstGeom prst="roundRect">
            <a:avLst>
              <a:gd name="adj" fmla="val 5455"/>
            </a:avLst>
          </a:prstGeom>
          <a:solidFill>
            <a:srgbClr val="E3F2EF"/>
          </a:solidFill>
          <a:ln w="12700">
            <a:solidFill>
              <a:srgbClr val="E3F2EF"/>
            </a:solidFill>
            <a:prstDash val="solid"/>
          </a:ln>
        </p:spPr>
        <p:txBody>
          <a:bodyPr/>
          <a:lstStyle/>
          <a:p>
            <a:endParaRPr lang="en-US"/>
          </a:p>
        </p:txBody>
      </p:sp>
      <p:sp>
        <p:nvSpPr>
          <p:cNvPr id="10" name="Shape 8"/>
          <p:cNvSpPr/>
          <p:nvPr/>
        </p:nvSpPr>
        <p:spPr>
          <a:xfrm>
            <a:off x="3017520" y="2011680"/>
            <a:ext cx="502920" cy="502920"/>
          </a:xfrm>
          <a:prstGeom prst="ellipse">
            <a:avLst/>
          </a:prstGeom>
          <a:solidFill>
            <a:schemeClr val="accent1"/>
          </a:solidFill>
          <a:ln w="12700">
            <a:solidFill>
              <a:schemeClr val="accent1"/>
            </a:solidFill>
            <a:prstDash val="solid"/>
          </a:ln>
        </p:spPr>
        <p:txBody>
          <a:bodyPr/>
          <a:lstStyle/>
          <a:p>
            <a:endParaRPr lang="en-US"/>
          </a:p>
        </p:txBody>
      </p:sp>
      <p:sp>
        <p:nvSpPr>
          <p:cNvPr id="11" name="Text 9"/>
          <p:cNvSpPr txBox="1"/>
          <p:nvPr/>
        </p:nvSpPr>
        <p:spPr>
          <a:xfrm>
            <a:off x="3017520" y="2011680"/>
            <a:ext cx="502920" cy="502920"/>
          </a:xfrm>
          <a:prstGeom prst="rect">
            <a:avLst/>
          </a:prstGeom>
          <a:no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12" name="Text 10"/>
          <p:cNvSpPr txBox="1"/>
          <p:nvPr/>
        </p:nvSpPr>
        <p:spPr>
          <a:xfrm>
            <a:off x="3017520" y="2697480"/>
            <a:ext cx="1691640" cy="411480"/>
          </a:xfrm>
          <a:prstGeom prst="rect">
            <a:avLst/>
          </a:prstGeom>
          <a:noFill/>
          <a:ln/>
        </p:spPr>
        <p:txBody>
          <a:bodyPr wrap="square" lIns="0" tIns="0" rIns="0" bIns="0" rtlCol="0" anchor="t"/>
          <a:lstStyle/>
          <a:p>
            <a:pPr marL="0" indent="0">
              <a:buNone/>
            </a:pPr>
            <a:r>
              <a:rPr lang="en-US" sz="1800" b="1" dirty="0">
                <a:solidFill>
                  <a:schemeClr val="tx2"/>
                </a:solidFill>
              </a:rPr>
              <a:t>Link Monitor</a:t>
            </a:r>
            <a:endParaRPr lang="en-US" sz="1800" dirty="0"/>
          </a:p>
        </p:txBody>
      </p:sp>
      <p:sp>
        <p:nvSpPr>
          <p:cNvPr id="13" name="Text 11"/>
          <p:cNvSpPr txBox="1"/>
          <p:nvPr/>
        </p:nvSpPr>
        <p:spPr>
          <a:xfrm>
            <a:off x="3017520" y="3154680"/>
            <a:ext cx="1691640" cy="1280160"/>
          </a:xfrm>
          <a:prstGeom prst="rect">
            <a:avLst/>
          </a:prstGeom>
          <a:noFill/>
          <a:ln/>
        </p:spPr>
        <p:txBody>
          <a:bodyPr wrap="square" lIns="0" tIns="0" rIns="0" bIns="0" rtlCol="0" anchor="t"/>
          <a:lstStyle/>
          <a:p>
            <a:pPr marL="0" indent="0">
              <a:buNone/>
            </a:pPr>
            <a:r>
              <a:rPr lang="en-US" sz="1400" dirty="0">
                <a:solidFill>
                  <a:schemeClr val="tx1"/>
                </a:solidFill>
              </a:rPr>
              <a:t>Probes every link every 0.5 s and smooths the noisy readings</a:t>
            </a:r>
            <a:endParaRPr lang="en-US" sz="1400" dirty="0"/>
          </a:p>
        </p:txBody>
      </p:sp>
      <p:sp>
        <p:nvSpPr>
          <p:cNvPr id="14" name="Shape 12"/>
          <p:cNvSpPr/>
          <p:nvPr/>
        </p:nvSpPr>
        <p:spPr>
          <a:xfrm>
            <a:off x="4882896" y="3017520"/>
            <a:ext cx="201168" cy="274320"/>
          </a:xfrm>
          <a:prstGeom prst="rightArrow">
            <a:avLst/>
          </a:prstGeom>
          <a:solidFill>
            <a:schemeClr val="accent4"/>
          </a:solidFill>
          <a:ln w="12700">
            <a:solidFill>
              <a:schemeClr val="accent4"/>
            </a:solidFill>
            <a:prstDash val="solid"/>
          </a:ln>
        </p:spPr>
        <p:txBody>
          <a:bodyPr/>
          <a:lstStyle/>
          <a:p>
            <a:endParaRPr lang="en-US"/>
          </a:p>
        </p:txBody>
      </p:sp>
      <p:sp>
        <p:nvSpPr>
          <p:cNvPr id="15" name="step2"/>
          <p:cNvSpPr/>
          <p:nvPr/>
        </p:nvSpPr>
        <p:spPr>
          <a:xfrm>
            <a:off x="5120640" y="1828800"/>
            <a:ext cx="2011680" cy="2651760"/>
          </a:xfrm>
          <a:prstGeom prst="roundRect">
            <a:avLst>
              <a:gd name="adj" fmla="val 5455"/>
            </a:avLst>
          </a:prstGeom>
          <a:solidFill>
            <a:srgbClr val="E3F2EF"/>
          </a:solidFill>
          <a:ln w="12700">
            <a:solidFill>
              <a:srgbClr val="E3F2EF"/>
            </a:solidFill>
            <a:prstDash val="solid"/>
          </a:ln>
        </p:spPr>
        <p:txBody>
          <a:bodyPr/>
          <a:lstStyle/>
          <a:p>
            <a:endParaRPr lang="en-US"/>
          </a:p>
        </p:txBody>
      </p:sp>
      <p:sp>
        <p:nvSpPr>
          <p:cNvPr id="16" name="Shape 14"/>
          <p:cNvSpPr/>
          <p:nvPr/>
        </p:nvSpPr>
        <p:spPr>
          <a:xfrm>
            <a:off x="5303520" y="2011680"/>
            <a:ext cx="502920" cy="502920"/>
          </a:xfrm>
          <a:prstGeom prst="ellipse">
            <a:avLst/>
          </a:prstGeom>
          <a:solidFill>
            <a:schemeClr val="accent1"/>
          </a:solidFill>
          <a:ln w="12700">
            <a:solidFill>
              <a:schemeClr val="accent1"/>
            </a:solidFill>
            <a:prstDash val="solid"/>
          </a:ln>
        </p:spPr>
        <p:txBody>
          <a:bodyPr/>
          <a:lstStyle/>
          <a:p>
            <a:endParaRPr lang="en-US"/>
          </a:p>
        </p:txBody>
      </p:sp>
      <p:sp>
        <p:nvSpPr>
          <p:cNvPr id="17" name="Text 15"/>
          <p:cNvSpPr txBox="1"/>
          <p:nvPr/>
        </p:nvSpPr>
        <p:spPr>
          <a:xfrm>
            <a:off x="5303520" y="2011680"/>
            <a:ext cx="502920" cy="502920"/>
          </a:xfrm>
          <a:prstGeom prst="rect">
            <a:avLst/>
          </a:prstGeom>
          <a:no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18" name="Text 16"/>
          <p:cNvSpPr txBox="1"/>
          <p:nvPr/>
        </p:nvSpPr>
        <p:spPr>
          <a:xfrm>
            <a:off x="5303520" y="2697480"/>
            <a:ext cx="1691640" cy="411480"/>
          </a:xfrm>
          <a:prstGeom prst="rect">
            <a:avLst/>
          </a:prstGeom>
          <a:noFill/>
          <a:ln/>
        </p:spPr>
        <p:txBody>
          <a:bodyPr wrap="square" lIns="0" tIns="0" rIns="0" bIns="0" rtlCol="0" anchor="t"/>
          <a:lstStyle/>
          <a:p>
            <a:pPr marL="0" indent="0">
              <a:buNone/>
            </a:pPr>
            <a:r>
              <a:rPr lang="en-US" sz="1800" b="1" dirty="0">
                <a:solidFill>
                  <a:schemeClr val="tx2"/>
                </a:solidFill>
              </a:rPr>
              <a:t>Cost function</a:t>
            </a:r>
            <a:endParaRPr lang="en-US" sz="1800" dirty="0"/>
          </a:p>
        </p:txBody>
      </p:sp>
      <p:sp>
        <p:nvSpPr>
          <p:cNvPr id="19" name="Text 17"/>
          <p:cNvSpPr txBox="1"/>
          <p:nvPr/>
        </p:nvSpPr>
        <p:spPr>
          <a:xfrm>
            <a:off x="5303520" y="3154680"/>
            <a:ext cx="1691640" cy="1280160"/>
          </a:xfrm>
          <a:prstGeom prst="rect">
            <a:avLst/>
          </a:prstGeom>
          <a:noFill/>
          <a:ln/>
        </p:spPr>
        <p:txBody>
          <a:bodyPr wrap="square" lIns="0" tIns="0" rIns="0" bIns="0" rtlCol="0" anchor="t"/>
          <a:lstStyle/>
          <a:p>
            <a:pPr marL="0" indent="0">
              <a:buNone/>
            </a:pPr>
            <a:r>
              <a:rPr lang="en-US" sz="1400" dirty="0">
                <a:solidFill>
                  <a:schemeClr val="tx1"/>
                </a:solidFill>
              </a:rPr>
              <a:t>Turns delay, loss, bandwidth and stability into one number per link</a:t>
            </a:r>
            <a:endParaRPr lang="en-US" sz="1400" dirty="0"/>
          </a:p>
        </p:txBody>
      </p:sp>
      <p:sp>
        <p:nvSpPr>
          <p:cNvPr id="20" name="Shape 18"/>
          <p:cNvSpPr/>
          <p:nvPr/>
        </p:nvSpPr>
        <p:spPr>
          <a:xfrm>
            <a:off x="7168896" y="3017520"/>
            <a:ext cx="201168" cy="274320"/>
          </a:xfrm>
          <a:prstGeom prst="rightArrow">
            <a:avLst/>
          </a:prstGeom>
          <a:solidFill>
            <a:schemeClr val="accent4"/>
          </a:solidFill>
          <a:ln w="12700">
            <a:solidFill>
              <a:schemeClr val="accent4"/>
            </a:solidFill>
            <a:prstDash val="solid"/>
          </a:ln>
        </p:spPr>
        <p:txBody>
          <a:bodyPr/>
          <a:lstStyle/>
          <a:p>
            <a:endParaRPr lang="en-US"/>
          </a:p>
        </p:txBody>
      </p:sp>
      <p:sp>
        <p:nvSpPr>
          <p:cNvPr id="21" name="step3"/>
          <p:cNvSpPr/>
          <p:nvPr/>
        </p:nvSpPr>
        <p:spPr>
          <a:xfrm>
            <a:off x="7406640" y="1828800"/>
            <a:ext cx="2011680" cy="2651760"/>
          </a:xfrm>
          <a:prstGeom prst="roundRect">
            <a:avLst>
              <a:gd name="adj" fmla="val 5455"/>
            </a:avLst>
          </a:prstGeom>
          <a:solidFill>
            <a:srgbClr val="E3F2EF"/>
          </a:solidFill>
          <a:ln w="12700">
            <a:solidFill>
              <a:srgbClr val="E3F2EF"/>
            </a:solidFill>
            <a:prstDash val="solid"/>
          </a:ln>
        </p:spPr>
        <p:txBody>
          <a:bodyPr/>
          <a:lstStyle/>
          <a:p>
            <a:endParaRPr lang="en-US"/>
          </a:p>
        </p:txBody>
      </p:sp>
      <p:sp>
        <p:nvSpPr>
          <p:cNvPr id="22" name="Shape 20"/>
          <p:cNvSpPr/>
          <p:nvPr/>
        </p:nvSpPr>
        <p:spPr>
          <a:xfrm>
            <a:off x="7589520" y="2011680"/>
            <a:ext cx="502920" cy="502920"/>
          </a:xfrm>
          <a:prstGeom prst="ellipse">
            <a:avLst/>
          </a:prstGeom>
          <a:solidFill>
            <a:schemeClr val="accent1"/>
          </a:solidFill>
          <a:ln w="12700">
            <a:solidFill>
              <a:schemeClr val="accent1"/>
            </a:solidFill>
            <a:prstDash val="solid"/>
          </a:ln>
        </p:spPr>
        <p:txBody>
          <a:bodyPr/>
          <a:lstStyle/>
          <a:p>
            <a:endParaRPr lang="en-US"/>
          </a:p>
        </p:txBody>
      </p:sp>
      <p:sp>
        <p:nvSpPr>
          <p:cNvPr id="23" name="Text 21"/>
          <p:cNvSpPr txBox="1"/>
          <p:nvPr/>
        </p:nvSpPr>
        <p:spPr>
          <a:xfrm>
            <a:off x="7589520" y="2011680"/>
            <a:ext cx="502920" cy="502920"/>
          </a:xfrm>
          <a:prstGeom prst="rect">
            <a:avLst/>
          </a:prstGeom>
          <a:noFill/>
          <a:ln/>
        </p:spPr>
        <p:txBody>
          <a:bodyPr wrap="square" lIns="0" tIns="0" rIns="0" bIns="0" rtlCol="0" anchor="ctr"/>
          <a:lstStyle/>
          <a:p>
            <a:pPr marL="0" indent="0" algn="ctr">
              <a:buNone/>
            </a:pPr>
            <a:r>
              <a:rPr lang="en-US" sz="1800" b="1" dirty="0">
                <a:solidFill>
                  <a:schemeClr val="bg1"/>
                </a:solidFill>
              </a:rPr>
              <a:t>4</a:t>
            </a:r>
            <a:endParaRPr lang="en-US" sz="1800" dirty="0"/>
          </a:p>
        </p:txBody>
      </p:sp>
      <p:sp>
        <p:nvSpPr>
          <p:cNvPr id="24" name="Text 22"/>
          <p:cNvSpPr txBox="1"/>
          <p:nvPr/>
        </p:nvSpPr>
        <p:spPr>
          <a:xfrm>
            <a:off x="7589520" y="2697480"/>
            <a:ext cx="1691640" cy="411480"/>
          </a:xfrm>
          <a:prstGeom prst="rect">
            <a:avLst/>
          </a:prstGeom>
          <a:noFill/>
          <a:ln/>
        </p:spPr>
        <p:txBody>
          <a:bodyPr wrap="square" lIns="0" tIns="0" rIns="0" bIns="0" rtlCol="0" anchor="t"/>
          <a:lstStyle/>
          <a:p>
            <a:pPr marL="0" indent="0">
              <a:buNone/>
            </a:pPr>
            <a:r>
              <a:rPr lang="en-US" sz="1800" b="1" dirty="0">
                <a:solidFill>
                  <a:schemeClr val="tx2"/>
                </a:solidFill>
              </a:rPr>
              <a:t>Dijkstra</a:t>
            </a:r>
            <a:endParaRPr lang="en-US" sz="1800" dirty="0"/>
          </a:p>
        </p:txBody>
      </p:sp>
      <p:sp>
        <p:nvSpPr>
          <p:cNvPr id="25" name="Text 23"/>
          <p:cNvSpPr txBox="1"/>
          <p:nvPr/>
        </p:nvSpPr>
        <p:spPr>
          <a:xfrm>
            <a:off x="7589520" y="3154680"/>
            <a:ext cx="1691640" cy="1280160"/>
          </a:xfrm>
          <a:prstGeom prst="rect">
            <a:avLst/>
          </a:prstGeom>
          <a:noFill/>
          <a:ln/>
        </p:spPr>
        <p:txBody>
          <a:bodyPr wrap="square" lIns="0" tIns="0" rIns="0" bIns="0" rtlCol="0" anchor="t"/>
          <a:lstStyle/>
          <a:p>
            <a:pPr marL="0" indent="0">
              <a:buNone/>
            </a:pPr>
            <a:r>
              <a:rPr lang="en-US" sz="1400" dirty="0">
                <a:solidFill>
                  <a:schemeClr val="tx1"/>
                </a:solidFill>
              </a:rPr>
              <a:t>Finds the cheapest path from source to destination</a:t>
            </a:r>
            <a:endParaRPr lang="en-US" sz="1400" dirty="0"/>
          </a:p>
        </p:txBody>
      </p:sp>
      <p:sp>
        <p:nvSpPr>
          <p:cNvPr id="26" name="Shape 24"/>
          <p:cNvSpPr/>
          <p:nvPr/>
        </p:nvSpPr>
        <p:spPr>
          <a:xfrm>
            <a:off x="9454896" y="3017520"/>
            <a:ext cx="201168" cy="274320"/>
          </a:xfrm>
          <a:prstGeom prst="rightArrow">
            <a:avLst/>
          </a:prstGeom>
          <a:solidFill>
            <a:schemeClr val="accent4"/>
          </a:solidFill>
          <a:ln w="12700">
            <a:solidFill>
              <a:schemeClr val="accent4"/>
            </a:solidFill>
            <a:prstDash val="solid"/>
          </a:ln>
        </p:spPr>
        <p:txBody>
          <a:bodyPr/>
          <a:lstStyle/>
          <a:p>
            <a:endParaRPr lang="en-US"/>
          </a:p>
        </p:txBody>
      </p:sp>
      <p:sp>
        <p:nvSpPr>
          <p:cNvPr id="27" name="step4"/>
          <p:cNvSpPr/>
          <p:nvPr/>
        </p:nvSpPr>
        <p:spPr>
          <a:xfrm>
            <a:off x="9692640" y="1828800"/>
            <a:ext cx="2011680" cy="2651760"/>
          </a:xfrm>
          <a:prstGeom prst="roundRect">
            <a:avLst>
              <a:gd name="adj" fmla="val 5455"/>
            </a:avLst>
          </a:prstGeom>
          <a:solidFill>
            <a:srgbClr val="E3F2EF"/>
          </a:solidFill>
          <a:ln w="12700">
            <a:solidFill>
              <a:srgbClr val="E3F2EF"/>
            </a:solidFill>
            <a:prstDash val="solid"/>
          </a:ln>
        </p:spPr>
        <p:txBody>
          <a:bodyPr/>
          <a:lstStyle/>
          <a:p>
            <a:endParaRPr lang="en-US"/>
          </a:p>
        </p:txBody>
      </p:sp>
      <p:sp>
        <p:nvSpPr>
          <p:cNvPr id="28" name="Shape 26"/>
          <p:cNvSpPr/>
          <p:nvPr/>
        </p:nvSpPr>
        <p:spPr>
          <a:xfrm>
            <a:off x="9875520" y="2011680"/>
            <a:ext cx="502920" cy="502920"/>
          </a:xfrm>
          <a:prstGeom prst="ellipse">
            <a:avLst/>
          </a:prstGeom>
          <a:solidFill>
            <a:schemeClr val="accent1"/>
          </a:solidFill>
          <a:ln w="12700">
            <a:solidFill>
              <a:schemeClr val="accent1"/>
            </a:solidFill>
            <a:prstDash val="solid"/>
          </a:ln>
        </p:spPr>
        <p:txBody>
          <a:bodyPr/>
          <a:lstStyle/>
          <a:p>
            <a:endParaRPr lang="en-US"/>
          </a:p>
        </p:txBody>
      </p:sp>
      <p:sp>
        <p:nvSpPr>
          <p:cNvPr id="29" name="Text 27"/>
          <p:cNvSpPr txBox="1"/>
          <p:nvPr/>
        </p:nvSpPr>
        <p:spPr>
          <a:xfrm>
            <a:off x="9875520" y="2011680"/>
            <a:ext cx="502920" cy="502920"/>
          </a:xfrm>
          <a:prstGeom prst="rect">
            <a:avLst/>
          </a:prstGeom>
          <a:noFill/>
          <a:ln/>
        </p:spPr>
        <p:txBody>
          <a:bodyPr wrap="square" lIns="0" tIns="0" rIns="0" bIns="0" rtlCol="0" anchor="ctr"/>
          <a:lstStyle/>
          <a:p>
            <a:pPr marL="0" indent="0" algn="ctr">
              <a:buNone/>
            </a:pPr>
            <a:r>
              <a:rPr lang="en-US" sz="1800" b="1" dirty="0">
                <a:solidFill>
                  <a:schemeClr val="bg1"/>
                </a:solidFill>
              </a:rPr>
              <a:t>5</a:t>
            </a:r>
            <a:endParaRPr lang="en-US" sz="1800" dirty="0"/>
          </a:p>
        </p:txBody>
      </p:sp>
      <p:sp>
        <p:nvSpPr>
          <p:cNvPr id="30" name="Text 28"/>
          <p:cNvSpPr txBox="1"/>
          <p:nvPr/>
        </p:nvSpPr>
        <p:spPr>
          <a:xfrm>
            <a:off x="9875520" y="2697480"/>
            <a:ext cx="1691640" cy="411480"/>
          </a:xfrm>
          <a:prstGeom prst="rect">
            <a:avLst/>
          </a:prstGeom>
          <a:noFill/>
          <a:ln/>
        </p:spPr>
        <p:txBody>
          <a:bodyPr wrap="square" lIns="0" tIns="0" rIns="0" bIns="0" rtlCol="0" anchor="t"/>
          <a:lstStyle/>
          <a:p>
            <a:pPr marL="0" indent="0">
              <a:buNone/>
            </a:pPr>
            <a:r>
              <a:rPr lang="en-US" sz="1800" b="1" dirty="0">
                <a:solidFill>
                  <a:schemeClr val="tx2"/>
                </a:solidFill>
              </a:rPr>
              <a:t>Stability checks</a:t>
            </a:r>
            <a:endParaRPr lang="en-US" sz="1800" dirty="0"/>
          </a:p>
        </p:txBody>
      </p:sp>
      <p:sp>
        <p:nvSpPr>
          <p:cNvPr id="31" name="Text 29"/>
          <p:cNvSpPr txBox="1"/>
          <p:nvPr/>
        </p:nvSpPr>
        <p:spPr>
          <a:xfrm>
            <a:off x="9875520" y="3154680"/>
            <a:ext cx="1691640" cy="1280160"/>
          </a:xfrm>
          <a:prstGeom prst="rect">
            <a:avLst/>
          </a:prstGeom>
          <a:noFill/>
          <a:ln/>
        </p:spPr>
        <p:txBody>
          <a:bodyPr wrap="square" lIns="0" tIns="0" rIns="0" bIns="0" rtlCol="0" anchor="t"/>
          <a:lstStyle/>
          <a:p>
            <a:pPr marL="0" indent="0">
              <a:buNone/>
            </a:pPr>
            <a:r>
              <a:rPr lang="en-US" sz="1400" dirty="0">
                <a:solidFill>
                  <a:schemeClr val="tx1"/>
                </a:solidFill>
              </a:rPr>
              <a:t>Only switch if the new path is clearly better (avoids flip-flopping)</a:t>
            </a:r>
            <a:endParaRPr lang="en-US" sz="1400" dirty="0"/>
          </a:p>
        </p:txBody>
      </p:sp>
      <p:sp>
        <p:nvSpPr>
          <p:cNvPr id="32" name="noteBox"/>
          <p:cNvSpPr/>
          <p:nvPr/>
        </p:nvSpPr>
        <p:spPr>
          <a:xfrm>
            <a:off x="548640" y="4846320"/>
            <a:ext cx="11064240" cy="1097280"/>
          </a:xfrm>
          <a:prstGeom prst="roundRect">
            <a:avLst>
              <a:gd name="adj" fmla="val 10000"/>
            </a:avLst>
          </a:prstGeom>
          <a:solidFill>
            <a:srgbClr val="FFF6E0"/>
          </a:solidFill>
          <a:ln w="12700">
            <a:solidFill>
              <a:srgbClr val="FFF6E0"/>
            </a:solidFill>
            <a:prstDash val="solid"/>
          </a:ln>
        </p:spPr>
        <p:txBody>
          <a:bodyPr/>
          <a:lstStyle/>
          <a:p>
            <a:endParaRPr lang="en-US"/>
          </a:p>
        </p:txBody>
      </p:sp>
      <p:sp>
        <p:nvSpPr>
          <p:cNvPr id="33" name="Text 31"/>
          <p:cNvSpPr txBox="1"/>
          <p:nvPr/>
        </p:nvSpPr>
        <p:spPr>
          <a:xfrm>
            <a:off x="822960" y="4983480"/>
            <a:ext cx="10515600" cy="822960"/>
          </a:xfrm>
          <a:prstGeom prst="rect">
            <a:avLst/>
          </a:prstGeom>
          <a:noFill/>
          <a:ln/>
        </p:spPr>
        <p:txBody>
          <a:bodyPr wrap="square" lIns="0" tIns="0" rIns="0" bIns="0" rtlCol="0" anchor="ctr"/>
          <a:lstStyle/>
          <a:p>
            <a:pPr marL="0" indent="0">
              <a:buNone/>
            </a:pPr>
            <a:r>
              <a:rPr lang="en-US" sz="1600" b="1" dirty="0">
                <a:solidFill>
                  <a:schemeClr val="tx2"/>
                </a:solidFill>
              </a:rPr>
              <a:t>Realistic by design: </a:t>
            </a:r>
            <a:r>
              <a:rPr lang="en-US" sz="1600" dirty="0">
                <a:solidFill>
                  <a:schemeClr val="tx1"/>
                </a:solidFill>
              </a:rPr>
              <a:t>the routing engine never sees the true network state, only what the monitor measures. Its information is noisy and slightly late, as on a real network.</a:t>
            </a:r>
            <a:endParaRPr lang="en-US" sz="1600" dirty="0"/>
          </a:p>
        </p:txBody>
      </p:sp>
      <p:sp>
        <p:nvSpPr>
          <p:cNvPr id="34"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9B"/>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400" b="1" dirty="0">
                <a:solidFill>
                  <a:schemeClr val="tx2"/>
                </a:solidFill>
              </a:rPr>
              <a:t>Algorithm: one cost per link, in effective milliseconds</a:t>
            </a:r>
            <a:endParaRPr lang="en-US" sz="3400" dirty="0"/>
          </a:p>
        </p:txBody>
      </p:sp>
      <p:sp>
        <p:nvSpPr>
          <p:cNvPr id="3" name="formula"/>
          <p:cNvSpPr/>
          <p:nvPr/>
        </p:nvSpPr>
        <p:spPr>
          <a:xfrm>
            <a:off x="548640" y="1463040"/>
            <a:ext cx="11064240" cy="1051560"/>
          </a:xfrm>
          <a:prstGeom prst="roundRect">
            <a:avLst>
              <a:gd name="adj" fmla="val 10435"/>
            </a:avLst>
          </a:prstGeom>
          <a:solidFill>
            <a:schemeClr val="tx2"/>
          </a:solidFill>
          <a:ln w="12700">
            <a:solidFill>
              <a:schemeClr val="tx2"/>
            </a:solidFill>
            <a:prstDash val="solid"/>
          </a:ln>
        </p:spPr>
        <p:txBody>
          <a:bodyPr/>
          <a:lstStyle/>
          <a:p>
            <a:endParaRPr lang="en-US"/>
          </a:p>
        </p:txBody>
      </p:sp>
      <p:sp>
        <p:nvSpPr>
          <p:cNvPr id="4" name="Text 2"/>
          <p:cNvSpPr txBox="1"/>
          <p:nvPr/>
        </p:nvSpPr>
        <p:spPr>
          <a:xfrm>
            <a:off x="822960" y="1463040"/>
            <a:ext cx="10515600" cy="1051560"/>
          </a:xfrm>
          <a:prstGeom prst="rect">
            <a:avLst/>
          </a:prstGeom>
          <a:noFill/>
          <a:ln/>
        </p:spPr>
        <p:txBody>
          <a:bodyPr wrap="square" lIns="0" tIns="0" rIns="0" bIns="0" rtlCol="0" anchor="ctr"/>
          <a:lstStyle/>
          <a:p>
            <a:pPr marL="0" indent="0" algn="ctr">
              <a:buNone/>
            </a:pPr>
            <a:r>
              <a:rPr lang="en-US" sz="2100" b="1" dirty="0">
                <a:solidFill>
                  <a:schemeClr val="bg1"/>
                </a:solidFill>
                <a:latin typeface="Cambria" pitchFamily="34" charset="0"/>
                <a:ea typeface="Cambria" pitchFamily="34" charset="-122"/>
                <a:cs typeface="Cambria" pitchFamily="34" charset="-120"/>
              </a:rPr>
              <a:t>cost  =  delay  +  300 × loss penalty  +  bandwidth penalty  +  25 × flap penalty</a:t>
            </a:r>
            <a:endParaRPr lang="en-US" sz="2100" dirty="0"/>
          </a:p>
        </p:txBody>
      </p:sp>
      <p:sp>
        <p:nvSpPr>
          <p:cNvPr id="5" name="Shape 3"/>
          <p:cNvSpPr/>
          <p:nvPr/>
        </p:nvSpPr>
        <p:spPr>
          <a:xfrm>
            <a:off x="548640" y="2880360"/>
            <a:ext cx="320040" cy="320040"/>
          </a:xfrm>
          <a:prstGeom prst="ellipse">
            <a:avLst/>
          </a:prstGeom>
          <a:solidFill>
            <a:schemeClr val="accent1"/>
          </a:solidFill>
          <a:ln w="12700">
            <a:solidFill>
              <a:schemeClr val="accent1"/>
            </a:solidFill>
            <a:prstDash val="solid"/>
          </a:ln>
        </p:spPr>
        <p:txBody>
          <a:bodyPr/>
          <a:lstStyle/>
          <a:p>
            <a:endParaRPr lang="en-US"/>
          </a:p>
        </p:txBody>
      </p:sp>
      <p:sp>
        <p:nvSpPr>
          <p:cNvPr id="6" name="Text 4"/>
          <p:cNvSpPr txBox="1"/>
          <p:nvPr/>
        </p:nvSpPr>
        <p:spPr>
          <a:xfrm>
            <a:off x="1051560" y="2788920"/>
            <a:ext cx="4846320" cy="457200"/>
          </a:xfrm>
          <a:prstGeom prst="rect">
            <a:avLst/>
          </a:prstGeom>
          <a:noFill/>
          <a:ln/>
        </p:spPr>
        <p:txBody>
          <a:bodyPr wrap="square" lIns="0" tIns="0" rIns="0" bIns="0" rtlCol="0" anchor="ctr"/>
          <a:lstStyle/>
          <a:p>
            <a:pPr marL="0" indent="0">
              <a:buNone/>
            </a:pPr>
            <a:r>
              <a:rPr lang="en-US" sz="1800" b="1" dirty="0">
                <a:solidFill>
                  <a:schemeClr val="tx2"/>
                </a:solidFill>
              </a:rPr>
              <a:t>Delay</a:t>
            </a:r>
            <a:endParaRPr lang="en-US" sz="1800" dirty="0"/>
          </a:p>
        </p:txBody>
      </p:sp>
      <p:sp>
        <p:nvSpPr>
          <p:cNvPr id="7" name="Text 5"/>
          <p:cNvSpPr txBox="1"/>
          <p:nvPr/>
        </p:nvSpPr>
        <p:spPr>
          <a:xfrm>
            <a:off x="1051560" y="3291840"/>
            <a:ext cx="4846320" cy="914400"/>
          </a:xfrm>
          <a:prstGeom prst="rect">
            <a:avLst/>
          </a:prstGeom>
          <a:noFill/>
          <a:ln/>
        </p:spPr>
        <p:txBody>
          <a:bodyPr wrap="square" lIns="0" tIns="0" rIns="0" bIns="0" rtlCol="0" anchor="t"/>
          <a:lstStyle/>
          <a:p>
            <a:pPr marL="0" indent="0">
              <a:buNone/>
            </a:pPr>
            <a:r>
              <a:rPr lang="en-US" sz="1500" dirty="0">
                <a:solidFill>
                  <a:schemeClr val="tx1"/>
                </a:solidFill>
              </a:rPr>
              <a:t>Measured delay plus the expected queueing delay if our traffic is added to the link.</a:t>
            </a:r>
            <a:endParaRPr lang="en-US" sz="1500" dirty="0"/>
          </a:p>
        </p:txBody>
      </p:sp>
      <p:sp>
        <p:nvSpPr>
          <p:cNvPr id="8" name="Shape 6"/>
          <p:cNvSpPr/>
          <p:nvPr/>
        </p:nvSpPr>
        <p:spPr>
          <a:xfrm>
            <a:off x="6172200" y="2880360"/>
            <a:ext cx="320040" cy="320040"/>
          </a:xfrm>
          <a:prstGeom prst="ellipse">
            <a:avLst/>
          </a:prstGeom>
          <a:solidFill>
            <a:schemeClr val="accent2"/>
          </a:solidFill>
          <a:ln w="12700">
            <a:solidFill>
              <a:schemeClr val="accent2"/>
            </a:solidFill>
            <a:prstDash val="solid"/>
          </a:ln>
        </p:spPr>
        <p:txBody>
          <a:bodyPr/>
          <a:lstStyle/>
          <a:p>
            <a:endParaRPr lang="en-US"/>
          </a:p>
        </p:txBody>
      </p:sp>
      <p:sp>
        <p:nvSpPr>
          <p:cNvPr id="9" name="Text 7"/>
          <p:cNvSpPr txBox="1"/>
          <p:nvPr/>
        </p:nvSpPr>
        <p:spPr>
          <a:xfrm>
            <a:off x="6675120" y="2788920"/>
            <a:ext cx="4846320" cy="457200"/>
          </a:xfrm>
          <a:prstGeom prst="rect">
            <a:avLst/>
          </a:prstGeom>
          <a:noFill/>
          <a:ln/>
        </p:spPr>
        <p:txBody>
          <a:bodyPr wrap="square" lIns="0" tIns="0" rIns="0" bIns="0" rtlCol="0" anchor="ctr"/>
          <a:lstStyle/>
          <a:p>
            <a:pPr marL="0" indent="0">
              <a:buNone/>
            </a:pPr>
            <a:r>
              <a:rPr lang="en-US" sz="1800" b="1" dirty="0">
                <a:solidFill>
                  <a:schemeClr val="tx2"/>
                </a:solidFill>
              </a:rPr>
              <a:t>Loss penalty  −ln(1 − p)</a:t>
            </a:r>
            <a:endParaRPr lang="en-US" sz="1800" dirty="0"/>
          </a:p>
        </p:txBody>
      </p:sp>
      <p:sp>
        <p:nvSpPr>
          <p:cNvPr id="10" name="Text 8"/>
          <p:cNvSpPr txBox="1"/>
          <p:nvPr/>
        </p:nvSpPr>
        <p:spPr>
          <a:xfrm>
            <a:off x="6675120" y="3291840"/>
            <a:ext cx="4846320" cy="914400"/>
          </a:xfrm>
          <a:prstGeom prst="rect">
            <a:avLst/>
          </a:prstGeom>
          <a:noFill/>
          <a:ln/>
        </p:spPr>
        <p:txBody>
          <a:bodyPr wrap="square" lIns="0" tIns="0" rIns="0" bIns="0" rtlCol="0" anchor="t"/>
          <a:lstStyle/>
          <a:p>
            <a:pPr marL="0" indent="0">
              <a:buNone/>
            </a:pPr>
            <a:r>
              <a:rPr lang="en-US" sz="1500" dirty="0">
                <a:solidFill>
                  <a:schemeClr val="tx1"/>
                </a:solidFill>
              </a:rPr>
              <a:t>Turns loss into something that adds up along a path, so Dijkstra minimises total loss exactly.</a:t>
            </a:r>
            <a:endParaRPr lang="en-US" sz="1500" dirty="0"/>
          </a:p>
        </p:txBody>
      </p:sp>
      <p:sp>
        <p:nvSpPr>
          <p:cNvPr id="11" name="Shape 9"/>
          <p:cNvSpPr/>
          <p:nvPr/>
        </p:nvSpPr>
        <p:spPr>
          <a:xfrm>
            <a:off x="548640" y="4480560"/>
            <a:ext cx="320040" cy="320040"/>
          </a:xfrm>
          <a:prstGeom prst="ellipse">
            <a:avLst/>
          </a:prstGeom>
          <a:solidFill>
            <a:schemeClr val="accent5"/>
          </a:solidFill>
          <a:ln w="12700">
            <a:solidFill>
              <a:schemeClr val="accent5"/>
            </a:solidFill>
            <a:prstDash val="solid"/>
          </a:ln>
        </p:spPr>
        <p:txBody>
          <a:bodyPr/>
          <a:lstStyle/>
          <a:p>
            <a:endParaRPr lang="en-US"/>
          </a:p>
        </p:txBody>
      </p:sp>
      <p:sp>
        <p:nvSpPr>
          <p:cNvPr id="12" name="Text 10"/>
          <p:cNvSpPr txBox="1"/>
          <p:nvPr/>
        </p:nvSpPr>
        <p:spPr>
          <a:xfrm>
            <a:off x="1051560" y="4389120"/>
            <a:ext cx="4846320" cy="457200"/>
          </a:xfrm>
          <a:prstGeom prst="rect">
            <a:avLst/>
          </a:prstGeom>
          <a:noFill/>
          <a:ln/>
        </p:spPr>
        <p:txBody>
          <a:bodyPr wrap="square" lIns="0" tIns="0" rIns="0" bIns="0" rtlCol="0" anchor="ctr"/>
          <a:lstStyle/>
          <a:p>
            <a:pPr marL="0" indent="0">
              <a:buNone/>
            </a:pPr>
            <a:r>
              <a:rPr lang="en-US" sz="1800" b="1" dirty="0">
                <a:solidFill>
                  <a:schemeClr val="tx2"/>
                </a:solidFill>
              </a:rPr>
              <a:t>Bandwidth penalty</a:t>
            </a:r>
            <a:endParaRPr lang="en-US" sz="1800" dirty="0"/>
          </a:p>
        </p:txBody>
      </p:sp>
      <p:sp>
        <p:nvSpPr>
          <p:cNvPr id="13" name="Text 11"/>
          <p:cNvSpPr txBox="1"/>
          <p:nvPr/>
        </p:nvSpPr>
        <p:spPr>
          <a:xfrm>
            <a:off x="1051560" y="4892040"/>
            <a:ext cx="4846320" cy="914400"/>
          </a:xfrm>
          <a:prstGeom prst="rect">
            <a:avLst/>
          </a:prstGeom>
          <a:noFill/>
          <a:ln/>
        </p:spPr>
        <p:txBody>
          <a:bodyPr wrap="square" lIns="0" tIns="0" rIns="0" bIns="0" rtlCol="0" anchor="t"/>
          <a:lstStyle/>
          <a:p>
            <a:pPr marL="0" indent="0">
              <a:buNone/>
            </a:pPr>
            <a:r>
              <a:rPr lang="en-US" sz="1500" dirty="0">
                <a:solidFill>
                  <a:schemeClr val="tx1"/>
                </a:solidFill>
              </a:rPr>
              <a:t>100 ÷ free Mb/s. A nearly full link becomes expensive before we send traffic onto it.</a:t>
            </a:r>
            <a:endParaRPr lang="en-US" sz="1500" dirty="0"/>
          </a:p>
        </p:txBody>
      </p:sp>
      <p:sp>
        <p:nvSpPr>
          <p:cNvPr id="14" name="Shape 12"/>
          <p:cNvSpPr/>
          <p:nvPr/>
        </p:nvSpPr>
        <p:spPr>
          <a:xfrm>
            <a:off x="6172200" y="4480560"/>
            <a:ext cx="320040" cy="320040"/>
          </a:xfrm>
          <a:prstGeom prst="ellipse">
            <a:avLst/>
          </a:prstGeom>
          <a:solidFill>
            <a:schemeClr val="accent3"/>
          </a:solidFill>
          <a:ln w="12700">
            <a:solidFill>
              <a:schemeClr val="accent3"/>
            </a:solidFill>
            <a:prstDash val="solid"/>
          </a:ln>
        </p:spPr>
        <p:txBody>
          <a:bodyPr/>
          <a:lstStyle/>
          <a:p>
            <a:endParaRPr lang="en-US"/>
          </a:p>
        </p:txBody>
      </p:sp>
      <p:sp>
        <p:nvSpPr>
          <p:cNvPr id="15" name="Text 13"/>
          <p:cNvSpPr txBox="1"/>
          <p:nvPr/>
        </p:nvSpPr>
        <p:spPr>
          <a:xfrm>
            <a:off x="6675120" y="4389120"/>
            <a:ext cx="4846320" cy="457200"/>
          </a:xfrm>
          <a:prstGeom prst="rect">
            <a:avLst/>
          </a:prstGeom>
          <a:noFill/>
          <a:ln/>
        </p:spPr>
        <p:txBody>
          <a:bodyPr wrap="square" lIns="0" tIns="0" rIns="0" bIns="0" rtlCol="0" anchor="ctr"/>
          <a:lstStyle/>
          <a:p>
            <a:pPr marL="0" indent="0">
              <a:buNone/>
            </a:pPr>
            <a:r>
              <a:rPr lang="en-US" sz="1800" b="1" dirty="0">
                <a:solidFill>
                  <a:schemeClr val="tx2"/>
                </a:solidFill>
              </a:rPr>
              <a:t>Flap penalty</a:t>
            </a:r>
            <a:endParaRPr lang="en-US" sz="1800" dirty="0"/>
          </a:p>
        </p:txBody>
      </p:sp>
      <p:sp>
        <p:nvSpPr>
          <p:cNvPr id="16" name="Text 14"/>
          <p:cNvSpPr txBox="1"/>
          <p:nvPr/>
        </p:nvSpPr>
        <p:spPr>
          <a:xfrm>
            <a:off x="6675120" y="4892040"/>
            <a:ext cx="4846320" cy="914400"/>
          </a:xfrm>
          <a:prstGeom prst="rect">
            <a:avLst/>
          </a:prstGeom>
          <a:noFill/>
          <a:ln/>
        </p:spPr>
        <p:txBody>
          <a:bodyPr wrap="square" lIns="0" tIns="0" rIns="0" bIns="0" rtlCol="0" anchor="t"/>
          <a:lstStyle/>
          <a:p>
            <a:pPr marL="0" indent="0">
              <a:buNone/>
            </a:pPr>
            <a:r>
              <a:rPr lang="en-US" sz="1500" dirty="0">
                <a:solidFill>
                  <a:schemeClr val="tx1"/>
                </a:solidFill>
              </a:rPr>
              <a:t>Each time a link goes down it gets a penalty that fades with a 20 s half-life.</a:t>
            </a:r>
            <a:endParaRPr lang="en-US" sz="1500" dirty="0"/>
          </a:p>
        </p:txBody>
      </p:sp>
      <p:sp>
        <p:nvSpPr>
          <p:cNvPr id="17" name="Text 15"/>
          <p:cNvSpPr txBox="1"/>
          <p:nvPr/>
        </p:nvSpPr>
        <p:spPr>
          <a:xfrm>
            <a:off x="548640" y="5989320"/>
            <a:ext cx="11064240" cy="411480"/>
          </a:xfrm>
          <a:prstGeom prst="rect">
            <a:avLst/>
          </a:prstGeom>
          <a:noFill/>
          <a:ln/>
        </p:spPr>
        <p:txBody>
          <a:bodyPr wrap="square" lIns="0" tIns="0" rIns="0" bIns="0" rtlCol="0" anchor="t"/>
          <a:lstStyle/>
          <a:p>
            <a:pPr marL="0" indent="0">
              <a:buNone/>
            </a:pPr>
            <a:r>
              <a:rPr lang="en-US" sz="1400" i="1" dirty="0">
                <a:solidFill>
                  <a:schemeClr val="accent4"/>
                </a:solidFill>
              </a:rPr>
              <a:t>Example from the A-B-D diagram: link B-D scores 60.5 (49 of it from loss) while A-C and C-D score 20.8 each, so A → C → D wins.</a:t>
            </a:r>
            <a:endParaRPr lang="en-US" sz="14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9B"/>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400" b="1" dirty="0">
                <a:solidFill>
                  <a:schemeClr val="tx2"/>
                </a:solidFill>
              </a:rPr>
              <a:t>Algorithm: adapting fast without flip-flopping</a:t>
            </a:r>
            <a:endParaRPr lang="en-US" sz="3400" dirty="0"/>
          </a:p>
        </p:txBody>
      </p:sp>
      <p:sp>
        <p:nvSpPr>
          <p:cNvPr id="3" name="stab0"/>
          <p:cNvSpPr/>
          <p:nvPr/>
        </p:nvSpPr>
        <p:spPr>
          <a:xfrm>
            <a:off x="548640" y="1508760"/>
            <a:ext cx="5440680" cy="2011680"/>
          </a:xfrm>
          <a:prstGeom prst="roundRect">
            <a:avLst>
              <a:gd name="adj" fmla="val 5455"/>
            </a:avLst>
          </a:prstGeom>
          <a:solidFill>
            <a:srgbClr val="F3F6F6"/>
          </a:solidFill>
          <a:ln w="12700">
            <a:solidFill>
              <a:srgbClr val="F3F6F6"/>
            </a:solidFill>
            <a:prstDash val="solid"/>
          </a:ln>
        </p:spPr>
        <p:txBody>
          <a:bodyPr/>
          <a:lstStyle/>
          <a:p>
            <a:endParaRPr lang="en-US"/>
          </a:p>
        </p:txBody>
      </p:sp>
      <p:sp>
        <p:nvSpPr>
          <p:cNvPr id="4" name="Text 2"/>
          <p:cNvSpPr txBox="1"/>
          <p:nvPr/>
        </p:nvSpPr>
        <p:spPr>
          <a:xfrm>
            <a:off x="822960" y="1783080"/>
            <a:ext cx="1920240" cy="914400"/>
          </a:xfrm>
          <a:prstGeom prst="rect">
            <a:avLst/>
          </a:prstGeom>
          <a:noFill/>
          <a:ln/>
        </p:spPr>
        <p:txBody>
          <a:bodyPr wrap="square" lIns="0" tIns="0" rIns="0" bIns="0" rtlCol="0" anchor="ctr"/>
          <a:lstStyle/>
          <a:p>
            <a:pPr marL="0" indent="0">
              <a:buNone/>
            </a:pPr>
            <a:r>
              <a:rPr lang="en-US" sz="3400" b="1" dirty="0">
                <a:solidFill>
                  <a:schemeClr val="accent1"/>
                </a:solidFill>
                <a:latin typeface="Cambria" pitchFamily="34" charset="0"/>
                <a:ea typeface="Cambria" pitchFamily="34" charset="-122"/>
                <a:cs typeface="Cambria" pitchFamily="34" charset="-120"/>
              </a:rPr>
              <a:t>15%</a:t>
            </a:r>
            <a:endParaRPr lang="en-US" sz="3400" dirty="0"/>
          </a:p>
        </p:txBody>
      </p:sp>
      <p:sp>
        <p:nvSpPr>
          <p:cNvPr id="5" name="Text 3"/>
          <p:cNvSpPr txBox="1"/>
          <p:nvPr/>
        </p:nvSpPr>
        <p:spPr>
          <a:xfrm>
            <a:off x="2834640" y="1783080"/>
            <a:ext cx="2971800" cy="411480"/>
          </a:xfrm>
          <a:prstGeom prst="rect">
            <a:avLst/>
          </a:prstGeom>
          <a:noFill/>
          <a:ln/>
        </p:spPr>
        <p:txBody>
          <a:bodyPr wrap="square" lIns="0" tIns="0" rIns="0" bIns="0" rtlCol="0" anchor="t"/>
          <a:lstStyle/>
          <a:p>
            <a:pPr marL="0" indent="0">
              <a:buNone/>
            </a:pPr>
            <a:r>
              <a:rPr lang="en-US" sz="1900" b="1" dirty="0">
                <a:solidFill>
                  <a:schemeClr val="tx2"/>
                </a:solidFill>
              </a:rPr>
              <a:t>Hysteresis</a:t>
            </a:r>
            <a:endParaRPr lang="en-US" sz="1900" dirty="0"/>
          </a:p>
        </p:txBody>
      </p:sp>
      <p:sp>
        <p:nvSpPr>
          <p:cNvPr id="6" name="Text 4"/>
          <p:cNvSpPr txBox="1"/>
          <p:nvPr/>
        </p:nvSpPr>
        <p:spPr>
          <a:xfrm>
            <a:off x="2834640" y="2240280"/>
            <a:ext cx="2971800" cy="1143000"/>
          </a:xfrm>
          <a:prstGeom prst="rect">
            <a:avLst/>
          </a:prstGeom>
          <a:noFill/>
          <a:ln/>
        </p:spPr>
        <p:txBody>
          <a:bodyPr wrap="square" lIns="0" tIns="0" rIns="0" bIns="0" rtlCol="0" anchor="t"/>
          <a:lstStyle/>
          <a:p>
            <a:pPr marL="0" indent="0">
              <a:buNone/>
            </a:pPr>
            <a:r>
              <a:rPr lang="en-US" sz="1500" dirty="0">
                <a:solidFill>
                  <a:schemeClr val="tx1"/>
                </a:solidFill>
              </a:rPr>
              <a:t>Switch only if the new path is at least 15% cheaper.</a:t>
            </a:r>
            <a:endParaRPr lang="en-US" sz="1500" dirty="0"/>
          </a:p>
        </p:txBody>
      </p:sp>
      <p:sp>
        <p:nvSpPr>
          <p:cNvPr id="7" name="stab1"/>
          <p:cNvSpPr/>
          <p:nvPr/>
        </p:nvSpPr>
        <p:spPr>
          <a:xfrm>
            <a:off x="6172200" y="1508760"/>
            <a:ext cx="5440680" cy="2011680"/>
          </a:xfrm>
          <a:prstGeom prst="roundRect">
            <a:avLst>
              <a:gd name="adj" fmla="val 5455"/>
            </a:avLst>
          </a:prstGeom>
          <a:solidFill>
            <a:srgbClr val="F3F6F6"/>
          </a:solidFill>
          <a:ln w="12700">
            <a:solidFill>
              <a:srgbClr val="F3F6F6"/>
            </a:solidFill>
            <a:prstDash val="solid"/>
          </a:ln>
        </p:spPr>
        <p:txBody>
          <a:bodyPr/>
          <a:lstStyle/>
          <a:p>
            <a:endParaRPr lang="en-US"/>
          </a:p>
        </p:txBody>
      </p:sp>
      <p:sp>
        <p:nvSpPr>
          <p:cNvPr id="8" name="Text 6"/>
          <p:cNvSpPr txBox="1"/>
          <p:nvPr/>
        </p:nvSpPr>
        <p:spPr>
          <a:xfrm>
            <a:off x="6446520" y="1783080"/>
            <a:ext cx="1920240" cy="914400"/>
          </a:xfrm>
          <a:prstGeom prst="rect">
            <a:avLst/>
          </a:prstGeom>
          <a:noFill/>
          <a:ln/>
        </p:spPr>
        <p:txBody>
          <a:bodyPr wrap="square" lIns="0" tIns="0" rIns="0" bIns="0" rtlCol="0" anchor="ctr"/>
          <a:lstStyle/>
          <a:p>
            <a:pPr marL="0" indent="0">
              <a:buNone/>
            </a:pPr>
            <a:r>
              <a:rPr lang="en-US" sz="3400" b="1" dirty="0">
                <a:solidFill>
                  <a:schemeClr val="accent1"/>
                </a:solidFill>
                <a:latin typeface="Cambria" pitchFamily="34" charset="0"/>
                <a:ea typeface="Cambria" pitchFamily="34" charset="-122"/>
                <a:cs typeface="Cambria" pitchFamily="34" charset="-120"/>
              </a:rPr>
              <a:t>3 s</a:t>
            </a:r>
            <a:endParaRPr lang="en-US" sz="3400" dirty="0"/>
          </a:p>
        </p:txBody>
      </p:sp>
      <p:sp>
        <p:nvSpPr>
          <p:cNvPr id="9" name="Text 7"/>
          <p:cNvSpPr txBox="1"/>
          <p:nvPr/>
        </p:nvSpPr>
        <p:spPr>
          <a:xfrm>
            <a:off x="8458200" y="1783080"/>
            <a:ext cx="2971800" cy="411480"/>
          </a:xfrm>
          <a:prstGeom prst="rect">
            <a:avLst/>
          </a:prstGeom>
          <a:noFill/>
          <a:ln/>
        </p:spPr>
        <p:txBody>
          <a:bodyPr wrap="square" lIns="0" tIns="0" rIns="0" bIns="0" rtlCol="0" anchor="t"/>
          <a:lstStyle/>
          <a:p>
            <a:pPr marL="0" indent="0">
              <a:buNone/>
            </a:pPr>
            <a:r>
              <a:rPr lang="en-US" sz="1900" b="1" dirty="0">
                <a:solidFill>
                  <a:schemeClr val="tx2"/>
                </a:solidFill>
              </a:rPr>
              <a:t>Hold-down</a:t>
            </a:r>
            <a:endParaRPr lang="en-US" sz="1900" dirty="0"/>
          </a:p>
        </p:txBody>
      </p:sp>
      <p:sp>
        <p:nvSpPr>
          <p:cNvPr id="10" name="Text 8"/>
          <p:cNvSpPr txBox="1"/>
          <p:nvPr/>
        </p:nvSpPr>
        <p:spPr>
          <a:xfrm>
            <a:off x="8458200" y="2240280"/>
            <a:ext cx="2971800" cy="1143000"/>
          </a:xfrm>
          <a:prstGeom prst="rect">
            <a:avLst/>
          </a:prstGeom>
          <a:noFill/>
          <a:ln/>
        </p:spPr>
        <p:txBody>
          <a:bodyPr wrap="square" lIns="0" tIns="0" rIns="0" bIns="0" rtlCol="0" anchor="t"/>
          <a:lstStyle/>
          <a:p>
            <a:pPr marL="0" indent="0">
              <a:buNone/>
            </a:pPr>
            <a:r>
              <a:rPr lang="en-US" sz="1500" dirty="0">
                <a:solidFill>
                  <a:schemeClr val="tx1"/>
                </a:solidFill>
              </a:rPr>
              <a:t>At most one cost-driven change every 3 seconds. Failures skip this wait.</a:t>
            </a:r>
            <a:endParaRPr lang="en-US" sz="1500" dirty="0"/>
          </a:p>
        </p:txBody>
      </p:sp>
      <p:sp>
        <p:nvSpPr>
          <p:cNvPr id="11" name="stab2"/>
          <p:cNvSpPr/>
          <p:nvPr/>
        </p:nvSpPr>
        <p:spPr>
          <a:xfrm>
            <a:off x="548640" y="3749040"/>
            <a:ext cx="5440680" cy="2011680"/>
          </a:xfrm>
          <a:prstGeom prst="roundRect">
            <a:avLst>
              <a:gd name="adj" fmla="val 5455"/>
            </a:avLst>
          </a:prstGeom>
          <a:solidFill>
            <a:srgbClr val="F3F6F6"/>
          </a:solidFill>
          <a:ln w="12700">
            <a:solidFill>
              <a:srgbClr val="F3F6F6"/>
            </a:solidFill>
            <a:prstDash val="solid"/>
          </a:ln>
        </p:spPr>
        <p:txBody>
          <a:bodyPr/>
          <a:lstStyle/>
          <a:p>
            <a:endParaRPr lang="en-US"/>
          </a:p>
        </p:txBody>
      </p:sp>
      <p:sp>
        <p:nvSpPr>
          <p:cNvPr id="12" name="Text 10"/>
          <p:cNvSpPr txBox="1"/>
          <p:nvPr/>
        </p:nvSpPr>
        <p:spPr>
          <a:xfrm>
            <a:off x="822960" y="4023360"/>
            <a:ext cx="1920240" cy="914400"/>
          </a:xfrm>
          <a:prstGeom prst="rect">
            <a:avLst/>
          </a:prstGeom>
          <a:noFill/>
          <a:ln/>
        </p:spPr>
        <p:txBody>
          <a:bodyPr wrap="square" lIns="0" tIns="0" rIns="0" bIns="0" rtlCol="0" anchor="ctr"/>
          <a:lstStyle/>
          <a:p>
            <a:pPr marL="0" indent="0">
              <a:buNone/>
            </a:pPr>
            <a:r>
              <a:rPr lang="en-US" sz="3400" b="1" dirty="0">
                <a:solidFill>
                  <a:schemeClr val="accent1"/>
                </a:solidFill>
                <a:latin typeface="Cambria" pitchFamily="34" charset="0"/>
                <a:ea typeface="Cambria" pitchFamily="34" charset="-122"/>
                <a:cs typeface="Cambria" pitchFamily="34" charset="-120"/>
              </a:rPr>
              <a:t>20 s</a:t>
            </a:r>
            <a:endParaRPr lang="en-US" sz="3400" dirty="0"/>
          </a:p>
        </p:txBody>
      </p:sp>
      <p:sp>
        <p:nvSpPr>
          <p:cNvPr id="13" name="Text 11"/>
          <p:cNvSpPr txBox="1"/>
          <p:nvPr/>
        </p:nvSpPr>
        <p:spPr>
          <a:xfrm>
            <a:off x="2834640" y="4023360"/>
            <a:ext cx="2971800" cy="411480"/>
          </a:xfrm>
          <a:prstGeom prst="rect">
            <a:avLst/>
          </a:prstGeom>
          <a:noFill/>
          <a:ln/>
        </p:spPr>
        <p:txBody>
          <a:bodyPr wrap="square" lIns="0" tIns="0" rIns="0" bIns="0" rtlCol="0" anchor="t"/>
          <a:lstStyle/>
          <a:p>
            <a:pPr marL="0" indent="0">
              <a:buNone/>
            </a:pPr>
            <a:r>
              <a:rPr lang="en-US" sz="1900" b="1" dirty="0">
                <a:solidFill>
                  <a:schemeClr val="tx2"/>
                </a:solidFill>
              </a:rPr>
              <a:t>Flap damping</a:t>
            </a:r>
            <a:endParaRPr lang="en-US" sz="1900" dirty="0"/>
          </a:p>
        </p:txBody>
      </p:sp>
      <p:sp>
        <p:nvSpPr>
          <p:cNvPr id="14" name="Text 12"/>
          <p:cNvSpPr txBox="1"/>
          <p:nvPr/>
        </p:nvSpPr>
        <p:spPr>
          <a:xfrm>
            <a:off x="2834640" y="4480560"/>
            <a:ext cx="2971800" cy="1143000"/>
          </a:xfrm>
          <a:prstGeom prst="rect">
            <a:avLst/>
          </a:prstGeom>
          <a:noFill/>
          <a:ln/>
        </p:spPr>
        <p:txBody>
          <a:bodyPr wrap="square" lIns="0" tIns="0" rIns="0" bIns="0" rtlCol="0" anchor="t"/>
          <a:lstStyle/>
          <a:p>
            <a:pPr marL="0" indent="0">
              <a:buNone/>
            </a:pPr>
            <a:r>
              <a:rPr lang="en-US" sz="1500" dirty="0">
                <a:solidFill>
                  <a:schemeClr val="tx1"/>
                </a:solidFill>
              </a:rPr>
              <a:t>A link that keeps failing gets a penalty that fades over time, so traffic stays away from it.</a:t>
            </a:r>
            <a:endParaRPr lang="en-US" sz="1500" dirty="0"/>
          </a:p>
        </p:txBody>
      </p:sp>
      <p:sp>
        <p:nvSpPr>
          <p:cNvPr id="15" name="stab3"/>
          <p:cNvSpPr/>
          <p:nvPr/>
        </p:nvSpPr>
        <p:spPr>
          <a:xfrm>
            <a:off x="6172200" y="3749040"/>
            <a:ext cx="5440680" cy="2011680"/>
          </a:xfrm>
          <a:prstGeom prst="roundRect">
            <a:avLst>
              <a:gd name="adj" fmla="val 5455"/>
            </a:avLst>
          </a:prstGeom>
          <a:solidFill>
            <a:srgbClr val="F3F6F6"/>
          </a:solidFill>
          <a:ln w="12700">
            <a:solidFill>
              <a:srgbClr val="F3F6F6"/>
            </a:solidFill>
            <a:prstDash val="solid"/>
          </a:ln>
        </p:spPr>
        <p:txBody>
          <a:bodyPr/>
          <a:lstStyle/>
          <a:p>
            <a:endParaRPr lang="en-US"/>
          </a:p>
        </p:txBody>
      </p:sp>
      <p:sp>
        <p:nvSpPr>
          <p:cNvPr id="16" name="Text 14"/>
          <p:cNvSpPr txBox="1"/>
          <p:nvPr/>
        </p:nvSpPr>
        <p:spPr>
          <a:xfrm>
            <a:off x="6446520" y="4023360"/>
            <a:ext cx="1920240" cy="914400"/>
          </a:xfrm>
          <a:prstGeom prst="rect">
            <a:avLst/>
          </a:prstGeom>
          <a:noFill/>
          <a:ln/>
        </p:spPr>
        <p:txBody>
          <a:bodyPr wrap="square" lIns="0" tIns="0" rIns="0" bIns="0" rtlCol="0" anchor="ctr"/>
          <a:lstStyle/>
          <a:p>
            <a:pPr marL="0" indent="0">
              <a:buNone/>
            </a:pPr>
            <a:r>
              <a:rPr lang="en-US" sz="3400" b="1" dirty="0">
                <a:solidFill>
                  <a:schemeClr val="accent1"/>
                </a:solidFill>
                <a:latin typeface="Cambria" pitchFamily="34" charset="0"/>
                <a:ea typeface="Cambria" pitchFamily="34" charset="-122"/>
                <a:cs typeface="Cambria" pitchFamily="34" charset="-120"/>
              </a:rPr>
              <a:t>1 probe</a:t>
            </a:r>
            <a:endParaRPr lang="en-US" sz="3400" dirty="0"/>
          </a:p>
        </p:txBody>
      </p:sp>
      <p:sp>
        <p:nvSpPr>
          <p:cNvPr id="17" name="Text 15"/>
          <p:cNvSpPr txBox="1"/>
          <p:nvPr/>
        </p:nvSpPr>
        <p:spPr>
          <a:xfrm>
            <a:off x="8458200" y="4023360"/>
            <a:ext cx="2971800" cy="411480"/>
          </a:xfrm>
          <a:prstGeom prst="rect">
            <a:avLst/>
          </a:prstGeom>
          <a:noFill/>
          <a:ln/>
        </p:spPr>
        <p:txBody>
          <a:bodyPr wrap="square" lIns="0" tIns="0" rIns="0" bIns="0" rtlCol="0" anchor="t"/>
          <a:lstStyle/>
          <a:p>
            <a:pPr marL="0" indent="0">
              <a:buNone/>
            </a:pPr>
            <a:r>
              <a:rPr lang="en-US" sz="1900" b="1" dirty="0">
                <a:solidFill>
                  <a:schemeClr val="tx2"/>
                </a:solidFill>
              </a:rPr>
              <a:t>Early failure detection</a:t>
            </a:r>
            <a:endParaRPr lang="en-US" sz="1900" dirty="0"/>
          </a:p>
        </p:txBody>
      </p:sp>
      <p:sp>
        <p:nvSpPr>
          <p:cNvPr id="18" name="Text 16"/>
          <p:cNvSpPr txBox="1"/>
          <p:nvPr/>
        </p:nvSpPr>
        <p:spPr>
          <a:xfrm>
            <a:off x="8458200" y="4480560"/>
            <a:ext cx="2971800" cy="1143000"/>
          </a:xfrm>
          <a:prstGeom prst="rect">
            <a:avLst/>
          </a:prstGeom>
          <a:noFill/>
          <a:ln/>
        </p:spPr>
        <p:txBody>
          <a:bodyPr wrap="square" lIns="0" tIns="0" rIns="0" bIns="0" rtlCol="0" anchor="t"/>
          <a:lstStyle/>
          <a:p>
            <a:pPr marL="0" indent="0">
              <a:buNone/>
            </a:pPr>
            <a:r>
              <a:rPr lang="en-US" sz="1500" dirty="0">
                <a:solidFill>
                  <a:schemeClr val="tx1"/>
                </a:solidFill>
              </a:rPr>
              <a:t>A missed probe counts as packet loss, so traffic leaves a dying link after 1 missed probe instead of 3.</a:t>
            </a:r>
            <a:endParaRPr lang="en-US" sz="1500" dirty="0"/>
          </a:p>
        </p:txBody>
      </p:sp>
      <p:sp>
        <p:nvSpPr>
          <p:cNvPr id="19" name="Text 17"/>
          <p:cNvSpPr txBox="1"/>
          <p:nvPr/>
        </p:nvSpPr>
        <p:spPr>
          <a:xfrm>
            <a:off x="548640" y="5989320"/>
            <a:ext cx="11064240" cy="411480"/>
          </a:xfrm>
          <a:prstGeom prst="rect">
            <a:avLst/>
          </a:prstGeom>
          <a:noFill/>
          <a:ln/>
        </p:spPr>
        <p:txBody>
          <a:bodyPr wrap="square" lIns="0" tIns="0" rIns="0" bIns="0" rtlCol="0" anchor="t"/>
          <a:lstStyle/>
          <a:p>
            <a:pPr marL="0" indent="0">
              <a:buNone/>
            </a:pPr>
            <a:r>
              <a:rPr lang="en-US" sz="1400" i="1" dirty="0">
                <a:solidFill>
                  <a:schemeClr val="accent4"/>
                </a:solidFill>
              </a:rPr>
              <a:t>A flow also ignores its own traffic when judging a link, so it does not run away from congestion it caused itself.</a:t>
            </a:r>
            <a:endParaRPr lang="en-US" sz="14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9B"/>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400" b="1" dirty="0">
                <a:solidFill>
                  <a:schemeClr val="tx2"/>
                </a:solidFill>
              </a:rPr>
              <a:t>Implementation setup</a:t>
            </a:r>
            <a:endParaRPr lang="en-US" sz="3400" dirty="0"/>
          </a:p>
        </p:txBody>
      </p:sp>
      <p:sp>
        <p:nvSpPr>
          <p:cNvPr id="3" name="log"/>
          <p:cNvSpPr/>
          <p:nvPr/>
        </p:nvSpPr>
        <p:spPr>
          <a:xfrm>
            <a:off x="548640" y="1463040"/>
            <a:ext cx="6400800" cy="4480560"/>
          </a:xfrm>
          <a:prstGeom prst="roundRect">
            <a:avLst>
              <a:gd name="adj" fmla="val 2449"/>
            </a:avLst>
          </a:prstGeom>
          <a:solidFill>
            <a:schemeClr val="tx2"/>
          </a:solidFill>
          <a:ln w="12700">
            <a:solidFill>
              <a:schemeClr val="tx2"/>
            </a:solidFill>
            <a:prstDash val="solid"/>
          </a:ln>
        </p:spPr>
        <p:txBody>
          <a:bodyPr/>
          <a:lstStyle/>
          <a:p>
            <a:endParaRPr lang="en-US"/>
          </a:p>
        </p:txBody>
      </p:sp>
      <p:sp>
        <p:nvSpPr>
          <p:cNvPr id="4" name="Text 2"/>
          <p:cNvSpPr txBox="1"/>
          <p:nvPr/>
        </p:nvSpPr>
        <p:spPr>
          <a:xfrm>
            <a:off x="822960" y="1691640"/>
            <a:ext cx="5852160" cy="365760"/>
          </a:xfrm>
          <a:prstGeom prst="rect">
            <a:avLst/>
          </a:prstGeom>
          <a:noFill/>
          <a:ln/>
        </p:spPr>
        <p:txBody>
          <a:bodyPr wrap="square" lIns="0" tIns="0" rIns="0" bIns="0" rtlCol="0" anchor="t"/>
          <a:lstStyle/>
          <a:p>
            <a:pPr marL="0" indent="0">
              <a:buNone/>
            </a:pPr>
            <a:r>
              <a:rPr lang="en-US" sz="1700" b="1" dirty="0">
                <a:solidFill>
                  <a:srgbClr val="B9D9D4"/>
                </a:solidFill>
              </a:rPr>
              <a:t>Code structure (Python package irp/)</a:t>
            </a:r>
            <a:endParaRPr lang="en-US" sz="1700" dirty="0"/>
          </a:p>
        </p:txBody>
      </p:sp>
      <p:sp>
        <p:nvSpPr>
          <p:cNvPr id="5" name="Text 3"/>
          <p:cNvSpPr txBox="1"/>
          <p:nvPr/>
        </p:nvSpPr>
        <p:spPr>
          <a:xfrm>
            <a:off x="822960" y="2240280"/>
            <a:ext cx="5943600" cy="3474720"/>
          </a:xfrm>
          <a:prstGeom prst="rect">
            <a:avLst/>
          </a:prstGeom>
          <a:noFill/>
          <a:ln/>
        </p:spPr>
        <p:txBody>
          <a:bodyPr wrap="square" lIns="0" tIns="0" rIns="0" bIns="0" rtlCol="0" anchor="t"/>
          <a:lstStyle/>
          <a:p>
            <a:pPr marL="0" indent="0">
              <a:spcAft>
                <a:spcPts val="400"/>
              </a:spcAft>
              <a:buNone/>
            </a:pPr>
            <a:r>
              <a:rPr lang="en-US" sz="1400" dirty="0">
                <a:solidFill>
                  <a:srgbClr val="F6C08F"/>
                </a:solidFill>
                <a:latin typeface="Courier New" pitchFamily="34" charset="0"/>
                <a:ea typeface="Courier New" pitchFamily="34" charset="-122"/>
                <a:cs typeface="Courier New" pitchFamily="34" charset="-120"/>
              </a:rPr>
              <a:t>topology.py    routers, links, queue model</a:t>
            </a:r>
            <a:endParaRPr lang="en-US" sz="1500" dirty="0"/>
          </a:p>
          <a:p>
            <a:pPr marL="0" indent="0">
              <a:spcAft>
                <a:spcPts val="400"/>
              </a:spcAft>
              <a:buNone/>
            </a:pPr>
            <a:r>
              <a:rPr lang="en-US" sz="1400" dirty="0">
                <a:solidFill>
                  <a:srgbClr val="F6C08F"/>
                </a:solidFill>
                <a:latin typeface="Courier New" pitchFamily="34" charset="0"/>
                <a:ea typeface="Courier New" pitchFamily="34" charset="-122"/>
                <a:cs typeface="Courier New" pitchFamily="34" charset="-120"/>
              </a:rPr>
              <a:t>monitor.py     probes, EWMA, dead timer</a:t>
            </a:r>
            <a:endParaRPr lang="en-US" sz="1500" dirty="0"/>
          </a:p>
          <a:p>
            <a:pPr marL="0" indent="0">
              <a:spcAft>
                <a:spcPts val="400"/>
              </a:spcAft>
              <a:buNone/>
            </a:pPr>
            <a:r>
              <a:rPr lang="en-US" sz="1400" dirty="0">
                <a:solidFill>
                  <a:srgbClr val="F6C08F"/>
                </a:solidFill>
                <a:latin typeface="Courier New" pitchFamily="34" charset="0"/>
                <a:ea typeface="Courier New" pitchFamily="34" charset="-122"/>
                <a:cs typeface="Courier New" pitchFamily="34" charset="-120"/>
              </a:rPr>
              <a:t>policies.py    IRP cost + 3 baselines</a:t>
            </a:r>
            <a:endParaRPr lang="en-US" sz="1500" dirty="0"/>
          </a:p>
          <a:p>
            <a:pPr marL="0" indent="0">
              <a:spcAft>
                <a:spcPts val="400"/>
              </a:spcAft>
              <a:buNone/>
            </a:pPr>
            <a:r>
              <a:rPr lang="en-US" sz="1400" dirty="0">
                <a:solidFill>
                  <a:srgbClr val="F6C08F"/>
                </a:solidFill>
                <a:latin typeface="Courier New" pitchFamily="34" charset="0"/>
                <a:ea typeface="Courier New" pitchFamily="34" charset="-122"/>
                <a:cs typeface="Courier New" pitchFamily="34" charset="-120"/>
              </a:rPr>
              <a:t>engine.py      Dijkstra, hysteresis,</a:t>
            </a:r>
            <a:endParaRPr lang="en-US" sz="1500" dirty="0"/>
          </a:p>
          <a:p>
            <a:pPr marL="0" indent="0">
              <a:spcAft>
                <a:spcPts val="400"/>
              </a:spcAft>
              <a:buNone/>
            </a:pPr>
            <a:r>
              <a:rPr lang="en-US" sz="1400" dirty="0">
                <a:solidFill>
                  <a:srgbClr val="F6C08F"/>
                </a:solidFill>
                <a:latin typeface="Courier New" pitchFamily="34" charset="0"/>
                <a:ea typeface="Courier New" pitchFamily="34" charset="-122"/>
                <a:cs typeface="Courier New" pitchFamily="34" charset="-120"/>
              </a:rPr>
              <a:t>               hold-down, change reasons</a:t>
            </a:r>
            <a:endParaRPr lang="en-US" sz="1500" dirty="0"/>
          </a:p>
          <a:p>
            <a:pPr marL="0" indent="0">
              <a:spcAft>
                <a:spcPts val="400"/>
              </a:spcAft>
              <a:buNone/>
            </a:pPr>
            <a:r>
              <a:rPr lang="en-US" sz="1400" dirty="0">
                <a:solidFill>
                  <a:srgbClr val="F6C08F"/>
                </a:solidFill>
                <a:latin typeface="Courier New" pitchFamily="34" charset="0"/>
                <a:ea typeface="Courier New" pitchFamily="34" charset="-122"/>
                <a:cs typeface="Courier New" pitchFamily="34" charset="-120"/>
              </a:rPr>
              <a:t>simulator.py   100 ms ticks, fault events</a:t>
            </a:r>
            <a:endParaRPr lang="en-US" sz="1500" dirty="0"/>
          </a:p>
          <a:p>
            <a:pPr marL="0" indent="0">
              <a:spcAft>
                <a:spcPts val="400"/>
              </a:spcAft>
              <a:buNone/>
            </a:pPr>
            <a:r>
              <a:rPr lang="en-US" sz="1400" dirty="0">
                <a:solidFill>
                  <a:srgbClr val="F6C08F"/>
                </a:solidFill>
                <a:latin typeface="Courier New" pitchFamily="34" charset="0"/>
                <a:ea typeface="Courier New" pitchFamily="34" charset="-122"/>
                <a:cs typeface="Courier New" pitchFamily="34" charset="-120"/>
              </a:rPr>
              <a:t>scenarios.py   mesh8 topology, 9 tests</a:t>
            </a:r>
            <a:endParaRPr lang="en-US" sz="1500" dirty="0"/>
          </a:p>
          <a:p>
            <a:pPr marL="0" indent="0">
              <a:spcAft>
                <a:spcPts val="400"/>
              </a:spcAft>
              <a:buNone/>
            </a:pPr>
            <a:r>
              <a:rPr lang="en-US" sz="1400" dirty="0">
                <a:solidFill>
                  <a:srgbClr val="F6C08F"/>
                </a:solidFill>
                <a:latin typeface="Courier New" pitchFamily="34" charset="0"/>
                <a:ea typeface="Courier New" pitchFamily="34" charset="-122"/>
                <a:cs typeface="Courier New" pitchFamily="34" charset="-120"/>
              </a:rPr>
              <a:t>evaluation.py  10 seeds, CIs, t-tests</a:t>
            </a:r>
            <a:endParaRPr lang="en-US" sz="1500" dirty="0"/>
          </a:p>
          <a:p>
            <a:pPr marL="0" indent="0">
              <a:spcAft>
                <a:spcPts val="400"/>
              </a:spcAft>
              <a:buNone/>
            </a:pPr>
            <a:r>
              <a:rPr lang="en-US" sz="1400" dirty="0">
                <a:solidFill>
                  <a:srgbClr val="F6C08F"/>
                </a:solidFill>
                <a:latin typeface="Courier New" pitchFamily="34" charset="0"/>
                <a:ea typeface="Courier New" pitchFamily="34" charset="-122"/>
                <a:cs typeface="Courier New" pitchFamily="34" charset="-120"/>
              </a:rPr>
              <a:t>dashboard/     Streamlit app</a:t>
            </a:r>
            <a:endParaRPr lang="en-US" sz="1500" dirty="0"/>
          </a:p>
          <a:p>
            <a:pPr marL="0" indent="0">
              <a:spcAft>
                <a:spcPts val="400"/>
              </a:spcAft>
              <a:buNone/>
            </a:pPr>
            <a:r>
              <a:rPr lang="en-US" sz="1400" dirty="0">
                <a:solidFill>
                  <a:srgbClr val="F6C08F"/>
                </a:solidFill>
                <a:latin typeface="Courier New" pitchFamily="34" charset="0"/>
                <a:ea typeface="Courier New" pitchFamily="34" charset="-122"/>
                <a:cs typeface="Courier New" pitchFamily="34" charset="-120"/>
              </a:rPr>
              <a:t>tests/         29 pytest tests</a:t>
            </a:r>
            <a:endParaRPr lang="en-US" sz="1500" dirty="0"/>
          </a:p>
        </p:txBody>
      </p:sp>
      <p:sp>
        <p:nvSpPr>
          <p:cNvPr id="6" name="Text 4"/>
          <p:cNvSpPr txBox="1"/>
          <p:nvPr/>
        </p:nvSpPr>
        <p:spPr>
          <a:xfrm>
            <a:off x="7315200" y="1463040"/>
            <a:ext cx="4297680" cy="411480"/>
          </a:xfrm>
          <a:prstGeom prst="rect">
            <a:avLst/>
          </a:prstGeom>
          <a:noFill/>
          <a:ln/>
        </p:spPr>
        <p:txBody>
          <a:bodyPr wrap="square" lIns="0" tIns="0" rIns="0" bIns="0" rtlCol="0" anchor="t"/>
          <a:lstStyle/>
          <a:p>
            <a:pPr marL="0" indent="0">
              <a:buNone/>
            </a:pPr>
            <a:r>
              <a:rPr lang="en-US" sz="2000" b="1" dirty="0">
                <a:solidFill>
                  <a:schemeClr val="tx2"/>
                </a:solidFill>
              </a:rPr>
              <a:t>Tools and platform</a:t>
            </a:r>
            <a:endParaRPr lang="en-US" sz="2000" dirty="0"/>
          </a:p>
        </p:txBody>
      </p:sp>
      <p:sp>
        <p:nvSpPr>
          <p:cNvPr id="7" name="Text 5"/>
          <p:cNvSpPr txBox="1"/>
          <p:nvPr/>
        </p:nvSpPr>
        <p:spPr>
          <a:xfrm>
            <a:off x="7315200" y="1965960"/>
            <a:ext cx="4297680" cy="23774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Python 3.14; the protocol core uses only the standard library</a:t>
            </a:r>
            <a:endParaRPr lang="en-US" sz="1600" dirty="0"/>
          </a:p>
          <a:p>
            <a:pPr marL="342900" indent="-342900">
              <a:spcAft>
                <a:spcPts val="600"/>
              </a:spcAft>
              <a:buSzPct val="100000"/>
              <a:buChar char="•"/>
            </a:pPr>
            <a:r>
              <a:rPr lang="en-US" sz="1500" dirty="0">
                <a:solidFill>
                  <a:schemeClr val="tx1"/>
                </a:solidFill>
              </a:rPr>
              <a:t>pandas, SciPy, Matplotlib, Plotly, Streamlit, pytest</a:t>
            </a:r>
            <a:endParaRPr lang="en-US" sz="1600" dirty="0"/>
          </a:p>
          <a:p>
            <a:pPr marL="342900" indent="-342900">
              <a:spcAft>
                <a:spcPts val="600"/>
              </a:spcAft>
              <a:buSzPct val="100000"/>
              <a:buChar char="•"/>
            </a:pPr>
            <a:r>
              <a:rPr lang="en-US" sz="1500" dirty="0">
                <a:solidFill>
                  <a:schemeClr val="tx1"/>
                </a:solidFill>
              </a:rPr>
              <a:t>macOS on Apple M4, 16 GB RAM; VS Code and Git</a:t>
            </a:r>
            <a:endParaRPr lang="en-US" sz="1600" dirty="0"/>
          </a:p>
          <a:p>
            <a:pPr marL="342900" indent="-342900">
              <a:spcAft>
                <a:spcPts val="600"/>
              </a:spcAft>
              <a:buSzPct val="100000"/>
              <a:buChar char="•"/>
            </a:pPr>
            <a:r>
              <a:rPr lang="en-US" sz="1500" dirty="0">
                <a:solidFill>
                  <a:schemeClr val="tx1"/>
                </a:solidFill>
              </a:rPr>
              <a:t>Simulator: 100 ms ticks, probes every 0.5 s, 60 s runs</a:t>
            </a:r>
            <a:endParaRPr lang="en-US" sz="1600" dirty="0"/>
          </a:p>
        </p:txBody>
      </p:sp>
      <p:sp>
        <p:nvSpPr>
          <p:cNvPr id="8" name="runCmd"/>
          <p:cNvSpPr/>
          <p:nvPr/>
        </p:nvSpPr>
        <p:spPr>
          <a:xfrm>
            <a:off x="7315200" y="4572000"/>
            <a:ext cx="4297680" cy="1371600"/>
          </a:xfrm>
          <a:prstGeom prst="roundRect">
            <a:avLst>
              <a:gd name="adj" fmla="val 8000"/>
            </a:avLst>
          </a:prstGeom>
          <a:solidFill>
            <a:srgbClr val="E3F2EF"/>
          </a:solidFill>
          <a:ln w="12700">
            <a:solidFill>
              <a:srgbClr val="E3F2EF"/>
            </a:solidFill>
            <a:prstDash val="solid"/>
          </a:ln>
        </p:spPr>
        <p:txBody>
          <a:bodyPr/>
          <a:lstStyle/>
          <a:p>
            <a:endParaRPr lang="en-US"/>
          </a:p>
        </p:txBody>
      </p:sp>
      <p:sp>
        <p:nvSpPr>
          <p:cNvPr id="9" name="Text 7"/>
          <p:cNvSpPr txBox="1"/>
          <p:nvPr/>
        </p:nvSpPr>
        <p:spPr>
          <a:xfrm>
            <a:off x="7543800" y="4663440"/>
            <a:ext cx="3931920" cy="1188720"/>
          </a:xfrm>
          <a:prstGeom prst="rect">
            <a:avLst/>
          </a:prstGeom>
          <a:noFill/>
          <a:ln/>
        </p:spPr>
        <p:txBody>
          <a:bodyPr wrap="square" lIns="0" tIns="0" rIns="0" bIns="0" rtlCol="0" anchor="ctr"/>
          <a:lstStyle/>
          <a:p>
            <a:pPr marL="0" indent="0">
              <a:buNone/>
            </a:pPr>
            <a:r>
              <a:rPr lang="en-US" sz="1500" b="1" dirty="0">
                <a:solidFill>
                  <a:schemeClr val="tx2"/>
                </a:solidFill>
              </a:rPr>
              <a:t>Run it</a:t>
            </a:r>
            <a:endParaRPr lang="en-US" sz="1500" dirty="0"/>
          </a:p>
          <a:p>
            <a:pPr marL="0" indent="0">
              <a:buNone/>
            </a:pPr>
            <a:r>
              <a:rPr lang="en-US" sz="1500" dirty="0">
                <a:solidFill>
                  <a:schemeClr val="tx1"/>
                </a:solidFill>
                <a:latin typeface="Courier New" pitchFamily="34" charset="0"/>
                <a:ea typeface="Courier New" pitchFamily="34" charset="-122"/>
                <a:cs typeface="Courier New" pitchFamily="34" charset="-120"/>
              </a:rPr>
              <a:t>python -m irp evaluate</a:t>
            </a:r>
            <a:endParaRPr lang="en-US" sz="1500" dirty="0"/>
          </a:p>
          <a:p>
            <a:pPr marL="0" indent="0">
              <a:buNone/>
            </a:pPr>
            <a:r>
              <a:rPr lang="en-US" sz="1500" dirty="0">
                <a:solidFill>
                  <a:schemeClr val="tx1"/>
                </a:solidFill>
                <a:latin typeface="Courier New" pitchFamily="34" charset="0"/>
                <a:ea typeface="Courier New" pitchFamily="34" charset="-122"/>
                <a:cs typeface="Courier New" pitchFamily="34" charset="-120"/>
              </a:rPr>
              <a:t>python -m irp dashboard</a:t>
            </a:r>
            <a:endParaRPr lang="en-US" sz="15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9B"/>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400" b="1" dirty="0">
                <a:solidFill>
                  <a:schemeClr val="tx2"/>
                </a:solidFill>
              </a:rPr>
              <a:t>Scenarios and metrics</a:t>
            </a:r>
            <a:endParaRPr lang="en-US" sz="3400" dirty="0"/>
          </a:p>
        </p:txBody>
      </p:sp>
      <p:sp>
        <p:nvSpPr>
          <p:cNvPr id="3" name="Shape 1"/>
          <p:cNvSpPr/>
          <p:nvPr/>
        </p:nvSpPr>
        <p:spPr>
          <a:xfrm flipV="1">
            <a:off x="914400" y="2468880"/>
            <a:ext cx="1280160" cy="1097280"/>
          </a:xfrm>
          <a:prstGeom prst="line">
            <a:avLst/>
          </a:prstGeom>
          <a:noFill/>
          <a:ln w="31750">
            <a:solidFill>
              <a:srgbClr val="B8C4C9"/>
            </a:solidFill>
            <a:prstDash val="solid"/>
          </a:ln>
        </p:spPr>
        <p:txBody>
          <a:bodyPr/>
          <a:lstStyle/>
          <a:p>
            <a:endParaRPr lang="en-US"/>
          </a:p>
        </p:txBody>
      </p:sp>
      <p:sp>
        <p:nvSpPr>
          <p:cNvPr id="4" name="Shape 2"/>
          <p:cNvSpPr/>
          <p:nvPr/>
        </p:nvSpPr>
        <p:spPr>
          <a:xfrm>
            <a:off x="914400" y="3566160"/>
            <a:ext cx="1280160" cy="914"/>
          </a:xfrm>
          <a:prstGeom prst="line">
            <a:avLst/>
          </a:prstGeom>
          <a:noFill/>
          <a:ln w="31750">
            <a:solidFill>
              <a:srgbClr val="B8C4C9"/>
            </a:solidFill>
            <a:prstDash val="solid"/>
          </a:ln>
        </p:spPr>
        <p:txBody>
          <a:bodyPr/>
          <a:lstStyle/>
          <a:p>
            <a:endParaRPr lang="en-US"/>
          </a:p>
        </p:txBody>
      </p:sp>
      <p:sp>
        <p:nvSpPr>
          <p:cNvPr id="5" name="Shape 3"/>
          <p:cNvSpPr/>
          <p:nvPr/>
        </p:nvSpPr>
        <p:spPr>
          <a:xfrm>
            <a:off x="914400" y="3566160"/>
            <a:ext cx="1280160" cy="1097280"/>
          </a:xfrm>
          <a:prstGeom prst="line">
            <a:avLst/>
          </a:prstGeom>
          <a:noFill/>
          <a:ln w="31750">
            <a:solidFill>
              <a:srgbClr val="B8C4C9"/>
            </a:solidFill>
            <a:prstDash val="solid"/>
          </a:ln>
        </p:spPr>
        <p:txBody>
          <a:bodyPr/>
          <a:lstStyle/>
          <a:p>
            <a:endParaRPr lang="en-US"/>
          </a:p>
        </p:txBody>
      </p:sp>
      <p:sp>
        <p:nvSpPr>
          <p:cNvPr id="6" name="Shape 4"/>
          <p:cNvSpPr/>
          <p:nvPr/>
        </p:nvSpPr>
        <p:spPr>
          <a:xfrm>
            <a:off x="2194560" y="2468880"/>
            <a:ext cx="2011680" cy="914"/>
          </a:xfrm>
          <a:prstGeom prst="line">
            <a:avLst/>
          </a:prstGeom>
          <a:noFill/>
          <a:ln w="31750">
            <a:solidFill>
              <a:srgbClr val="B8C4C9"/>
            </a:solidFill>
            <a:prstDash val="solid"/>
          </a:ln>
        </p:spPr>
        <p:txBody>
          <a:bodyPr/>
          <a:lstStyle/>
          <a:p>
            <a:endParaRPr lang="en-US"/>
          </a:p>
        </p:txBody>
      </p:sp>
      <p:sp>
        <p:nvSpPr>
          <p:cNvPr id="7" name="Shape 5"/>
          <p:cNvSpPr/>
          <p:nvPr/>
        </p:nvSpPr>
        <p:spPr>
          <a:xfrm>
            <a:off x="2194560" y="3566160"/>
            <a:ext cx="2011680" cy="914"/>
          </a:xfrm>
          <a:prstGeom prst="line">
            <a:avLst/>
          </a:prstGeom>
          <a:noFill/>
          <a:ln w="31750">
            <a:solidFill>
              <a:srgbClr val="B8C4C9"/>
            </a:solidFill>
            <a:prstDash val="solid"/>
          </a:ln>
        </p:spPr>
        <p:txBody>
          <a:bodyPr/>
          <a:lstStyle/>
          <a:p>
            <a:endParaRPr lang="en-US"/>
          </a:p>
        </p:txBody>
      </p:sp>
      <p:sp>
        <p:nvSpPr>
          <p:cNvPr id="8" name="Shape 6"/>
          <p:cNvSpPr/>
          <p:nvPr/>
        </p:nvSpPr>
        <p:spPr>
          <a:xfrm>
            <a:off x="2194560" y="4663440"/>
            <a:ext cx="2011680" cy="914"/>
          </a:xfrm>
          <a:prstGeom prst="line">
            <a:avLst/>
          </a:prstGeom>
          <a:noFill/>
          <a:ln w="31750">
            <a:solidFill>
              <a:srgbClr val="B8C4C9"/>
            </a:solidFill>
            <a:prstDash val="solid"/>
          </a:ln>
        </p:spPr>
        <p:txBody>
          <a:bodyPr/>
          <a:lstStyle/>
          <a:p>
            <a:endParaRPr lang="en-US"/>
          </a:p>
        </p:txBody>
      </p:sp>
      <p:sp>
        <p:nvSpPr>
          <p:cNvPr id="9" name="Shape 7"/>
          <p:cNvSpPr/>
          <p:nvPr/>
        </p:nvSpPr>
        <p:spPr>
          <a:xfrm>
            <a:off x="4206240" y="2468880"/>
            <a:ext cx="1280160" cy="1097280"/>
          </a:xfrm>
          <a:prstGeom prst="line">
            <a:avLst/>
          </a:prstGeom>
          <a:noFill/>
          <a:ln w="31750">
            <a:solidFill>
              <a:srgbClr val="B8C4C9"/>
            </a:solidFill>
            <a:prstDash val="solid"/>
          </a:ln>
        </p:spPr>
        <p:txBody>
          <a:bodyPr/>
          <a:lstStyle/>
          <a:p>
            <a:endParaRPr lang="en-US"/>
          </a:p>
        </p:txBody>
      </p:sp>
      <p:sp>
        <p:nvSpPr>
          <p:cNvPr id="10" name="Shape 8"/>
          <p:cNvSpPr/>
          <p:nvPr/>
        </p:nvSpPr>
        <p:spPr>
          <a:xfrm>
            <a:off x="4206240" y="3566160"/>
            <a:ext cx="1280160" cy="914"/>
          </a:xfrm>
          <a:prstGeom prst="line">
            <a:avLst/>
          </a:prstGeom>
          <a:noFill/>
          <a:ln w="31750">
            <a:solidFill>
              <a:srgbClr val="B8C4C9"/>
            </a:solidFill>
            <a:prstDash val="solid"/>
          </a:ln>
        </p:spPr>
        <p:txBody>
          <a:bodyPr/>
          <a:lstStyle/>
          <a:p>
            <a:endParaRPr lang="en-US"/>
          </a:p>
        </p:txBody>
      </p:sp>
      <p:sp>
        <p:nvSpPr>
          <p:cNvPr id="11" name="Shape 9"/>
          <p:cNvSpPr/>
          <p:nvPr/>
        </p:nvSpPr>
        <p:spPr>
          <a:xfrm flipV="1">
            <a:off x="4206240" y="3566160"/>
            <a:ext cx="1280160" cy="1097280"/>
          </a:xfrm>
          <a:prstGeom prst="line">
            <a:avLst/>
          </a:prstGeom>
          <a:noFill/>
          <a:ln w="31750">
            <a:solidFill>
              <a:srgbClr val="B8C4C9"/>
            </a:solidFill>
            <a:prstDash val="solid"/>
          </a:ln>
        </p:spPr>
        <p:txBody>
          <a:bodyPr/>
          <a:lstStyle/>
          <a:p>
            <a:endParaRPr lang="en-US"/>
          </a:p>
        </p:txBody>
      </p:sp>
      <p:sp>
        <p:nvSpPr>
          <p:cNvPr id="12" name="Shape 10"/>
          <p:cNvSpPr/>
          <p:nvPr/>
        </p:nvSpPr>
        <p:spPr>
          <a:xfrm>
            <a:off x="2194560" y="2468880"/>
            <a:ext cx="914" cy="1097280"/>
          </a:xfrm>
          <a:prstGeom prst="line">
            <a:avLst/>
          </a:prstGeom>
          <a:noFill/>
          <a:ln w="31750">
            <a:solidFill>
              <a:srgbClr val="B8C4C9"/>
            </a:solidFill>
            <a:prstDash val="solid"/>
          </a:ln>
        </p:spPr>
        <p:txBody>
          <a:bodyPr/>
          <a:lstStyle/>
          <a:p>
            <a:endParaRPr lang="en-US"/>
          </a:p>
        </p:txBody>
      </p:sp>
      <p:sp>
        <p:nvSpPr>
          <p:cNvPr id="13" name="Shape 11"/>
          <p:cNvSpPr/>
          <p:nvPr/>
        </p:nvSpPr>
        <p:spPr>
          <a:xfrm>
            <a:off x="2194560" y="3566160"/>
            <a:ext cx="914" cy="1097280"/>
          </a:xfrm>
          <a:prstGeom prst="line">
            <a:avLst/>
          </a:prstGeom>
          <a:noFill/>
          <a:ln w="31750">
            <a:solidFill>
              <a:srgbClr val="B8C4C9"/>
            </a:solidFill>
            <a:prstDash val="solid"/>
          </a:ln>
        </p:spPr>
        <p:txBody>
          <a:bodyPr/>
          <a:lstStyle/>
          <a:p>
            <a:endParaRPr lang="en-US"/>
          </a:p>
        </p:txBody>
      </p:sp>
      <p:sp>
        <p:nvSpPr>
          <p:cNvPr id="14" name="Shape 12"/>
          <p:cNvSpPr/>
          <p:nvPr/>
        </p:nvSpPr>
        <p:spPr>
          <a:xfrm>
            <a:off x="4206240" y="2468880"/>
            <a:ext cx="914" cy="1097280"/>
          </a:xfrm>
          <a:prstGeom prst="line">
            <a:avLst/>
          </a:prstGeom>
          <a:noFill/>
          <a:ln w="31750">
            <a:solidFill>
              <a:srgbClr val="B8C4C9"/>
            </a:solidFill>
            <a:prstDash val="solid"/>
          </a:ln>
        </p:spPr>
        <p:txBody>
          <a:bodyPr/>
          <a:lstStyle/>
          <a:p>
            <a:endParaRPr lang="en-US"/>
          </a:p>
        </p:txBody>
      </p:sp>
      <p:sp>
        <p:nvSpPr>
          <p:cNvPr id="15" name="Shape 13"/>
          <p:cNvSpPr/>
          <p:nvPr/>
        </p:nvSpPr>
        <p:spPr>
          <a:xfrm>
            <a:off x="4206240" y="3566160"/>
            <a:ext cx="914" cy="1097280"/>
          </a:xfrm>
          <a:prstGeom prst="line">
            <a:avLst/>
          </a:prstGeom>
          <a:noFill/>
          <a:ln w="31750">
            <a:solidFill>
              <a:srgbClr val="B8C4C9"/>
            </a:solidFill>
            <a:prstDash val="solid"/>
          </a:ln>
        </p:spPr>
        <p:txBody>
          <a:bodyPr/>
          <a:lstStyle/>
          <a:p>
            <a:endParaRPr lang="en-US"/>
          </a:p>
        </p:txBody>
      </p:sp>
      <p:sp>
        <p:nvSpPr>
          <p:cNvPr id="16" name="Shape 14"/>
          <p:cNvSpPr/>
          <p:nvPr/>
        </p:nvSpPr>
        <p:spPr>
          <a:xfrm flipV="1">
            <a:off x="914400" y="2468880"/>
            <a:ext cx="1280160" cy="1097280"/>
          </a:xfrm>
          <a:prstGeom prst="line">
            <a:avLst/>
          </a:prstGeom>
          <a:noFill/>
          <a:ln w="50800">
            <a:solidFill>
              <a:srgbClr val="0E8C7F"/>
            </a:solidFill>
            <a:prstDash val="solid"/>
          </a:ln>
        </p:spPr>
        <p:txBody>
          <a:bodyPr/>
          <a:lstStyle/>
          <a:p>
            <a:endParaRPr lang="en-US"/>
          </a:p>
        </p:txBody>
      </p:sp>
      <p:sp>
        <p:nvSpPr>
          <p:cNvPr id="17" name="Shape 15"/>
          <p:cNvSpPr/>
          <p:nvPr/>
        </p:nvSpPr>
        <p:spPr>
          <a:xfrm>
            <a:off x="2194560" y="2468880"/>
            <a:ext cx="2011680" cy="914"/>
          </a:xfrm>
          <a:prstGeom prst="line">
            <a:avLst/>
          </a:prstGeom>
          <a:noFill/>
          <a:ln w="50800">
            <a:solidFill>
              <a:srgbClr val="0E8C7F"/>
            </a:solidFill>
            <a:prstDash val="solid"/>
          </a:ln>
        </p:spPr>
        <p:txBody>
          <a:bodyPr/>
          <a:lstStyle/>
          <a:p>
            <a:endParaRPr lang="en-US"/>
          </a:p>
        </p:txBody>
      </p:sp>
      <p:sp>
        <p:nvSpPr>
          <p:cNvPr id="18" name="Shape 16"/>
          <p:cNvSpPr/>
          <p:nvPr/>
        </p:nvSpPr>
        <p:spPr>
          <a:xfrm>
            <a:off x="4206240" y="2468880"/>
            <a:ext cx="1280160" cy="1097280"/>
          </a:xfrm>
          <a:prstGeom prst="line">
            <a:avLst/>
          </a:prstGeom>
          <a:noFill/>
          <a:ln w="50800">
            <a:solidFill>
              <a:srgbClr val="0E8C7F"/>
            </a:solidFill>
            <a:prstDash val="solid"/>
          </a:ln>
        </p:spPr>
        <p:txBody>
          <a:bodyPr/>
          <a:lstStyle/>
          <a:p>
            <a:endParaRPr lang="en-US"/>
          </a:p>
        </p:txBody>
      </p:sp>
      <p:sp>
        <p:nvSpPr>
          <p:cNvPr id="19" name="Shape 17"/>
          <p:cNvSpPr/>
          <p:nvPr/>
        </p:nvSpPr>
        <p:spPr>
          <a:xfrm>
            <a:off x="662940" y="3314700"/>
            <a:ext cx="502920" cy="502920"/>
          </a:xfrm>
          <a:prstGeom prst="ellipse">
            <a:avLst/>
          </a:prstGeom>
          <a:solidFill>
            <a:schemeClr val="accent1"/>
          </a:solidFill>
          <a:ln w="25400">
            <a:solidFill>
              <a:schemeClr val="bg1"/>
            </a:solidFill>
            <a:prstDash val="solid"/>
          </a:ln>
        </p:spPr>
        <p:txBody>
          <a:bodyPr/>
          <a:lstStyle/>
          <a:p>
            <a:endParaRPr lang="en-US"/>
          </a:p>
        </p:txBody>
      </p:sp>
      <p:sp>
        <p:nvSpPr>
          <p:cNvPr id="20" name="Text 18"/>
          <p:cNvSpPr txBox="1"/>
          <p:nvPr/>
        </p:nvSpPr>
        <p:spPr>
          <a:xfrm>
            <a:off x="662940" y="3314700"/>
            <a:ext cx="502920" cy="502920"/>
          </a:xfrm>
          <a:prstGeom prst="rect">
            <a:avLst/>
          </a:prstGeom>
          <a:noFill/>
          <a:ln/>
        </p:spPr>
        <p:txBody>
          <a:bodyPr wrap="square" lIns="0" tIns="0" rIns="0" bIns="0" rtlCol="0" anchor="ctr"/>
          <a:lstStyle/>
          <a:p>
            <a:pPr marL="0" indent="0" algn="ctr">
              <a:buNone/>
            </a:pPr>
            <a:r>
              <a:rPr lang="en-US" sz="1800" b="1" dirty="0">
                <a:solidFill>
                  <a:schemeClr val="bg1"/>
                </a:solidFill>
              </a:rPr>
              <a:t>A</a:t>
            </a:r>
            <a:endParaRPr lang="en-US" sz="1800" dirty="0"/>
          </a:p>
        </p:txBody>
      </p:sp>
      <p:sp>
        <p:nvSpPr>
          <p:cNvPr id="21" name="Shape 19"/>
          <p:cNvSpPr/>
          <p:nvPr/>
        </p:nvSpPr>
        <p:spPr>
          <a:xfrm>
            <a:off x="1943100" y="2217420"/>
            <a:ext cx="502920" cy="502920"/>
          </a:xfrm>
          <a:prstGeom prst="ellipse">
            <a:avLst/>
          </a:prstGeom>
          <a:solidFill>
            <a:schemeClr val="tx2"/>
          </a:solidFill>
          <a:ln w="25400">
            <a:solidFill>
              <a:schemeClr val="bg1"/>
            </a:solidFill>
            <a:prstDash val="solid"/>
          </a:ln>
        </p:spPr>
        <p:txBody>
          <a:bodyPr/>
          <a:lstStyle/>
          <a:p>
            <a:endParaRPr lang="en-US"/>
          </a:p>
        </p:txBody>
      </p:sp>
      <p:sp>
        <p:nvSpPr>
          <p:cNvPr id="22" name="Text 20"/>
          <p:cNvSpPr txBox="1"/>
          <p:nvPr/>
        </p:nvSpPr>
        <p:spPr>
          <a:xfrm>
            <a:off x="1943100" y="2217420"/>
            <a:ext cx="502920" cy="502920"/>
          </a:xfrm>
          <a:prstGeom prst="rect">
            <a:avLst/>
          </a:prstGeom>
          <a:noFill/>
          <a:ln/>
        </p:spPr>
        <p:txBody>
          <a:bodyPr wrap="square" lIns="0" tIns="0" rIns="0" bIns="0" rtlCol="0" anchor="ctr"/>
          <a:lstStyle/>
          <a:p>
            <a:pPr marL="0" indent="0" algn="ctr">
              <a:buNone/>
            </a:pPr>
            <a:r>
              <a:rPr lang="en-US" sz="1800" b="1" dirty="0">
                <a:solidFill>
                  <a:schemeClr val="bg1"/>
                </a:solidFill>
              </a:rPr>
              <a:t>B</a:t>
            </a:r>
            <a:endParaRPr lang="en-US" sz="1800" dirty="0"/>
          </a:p>
        </p:txBody>
      </p:sp>
      <p:sp>
        <p:nvSpPr>
          <p:cNvPr id="23" name="Shape 21"/>
          <p:cNvSpPr/>
          <p:nvPr/>
        </p:nvSpPr>
        <p:spPr>
          <a:xfrm>
            <a:off x="1943100" y="3314700"/>
            <a:ext cx="502920" cy="502920"/>
          </a:xfrm>
          <a:prstGeom prst="ellipse">
            <a:avLst/>
          </a:prstGeom>
          <a:solidFill>
            <a:schemeClr val="tx2"/>
          </a:solidFill>
          <a:ln w="25400">
            <a:solidFill>
              <a:schemeClr val="bg1"/>
            </a:solidFill>
            <a:prstDash val="solid"/>
          </a:ln>
        </p:spPr>
        <p:txBody>
          <a:bodyPr/>
          <a:lstStyle/>
          <a:p>
            <a:endParaRPr lang="en-US"/>
          </a:p>
        </p:txBody>
      </p:sp>
      <p:sp>
        <p:nvSpPr>
          <p:cNvPr id="24" name="Text 22"/>
          <p:cNvSpPr txBox="1"/>
          <p:nvPr/>
        </p:nvSpPr>
        <p:spPr>
          <a:xfrm>
            <a:off x="1943100" y="3314700"/>
            <a:ext cx="502920" cy="502920"/>
          </a:xfrm>
          <a:prstGeom prst="rect">
            <a:avLst/>
          </a:prstGeom>
          <a:noFill/>
          <a:ln/>
        </p:spPr>
        <p:txBody>
          <a:bodyPr wrap="square" lIns="0" tIns="0" rIns="0" bIns="0" rtlCol="0" anchor="ctr"/>
          <a:lstStyle/>
          <a:p>
            <a:pPr marL="0" indent="0" algn="ctr">
              <a:buNone/>
            </a:pPr>
            <a:r>
              <a:rPr lang="en-US" sz="1800" b="1" dirty="0">
                <a:solidFill>
                  <a:schemeClr val="bg1"/>
                </a:solidFill>
              </a:rPr>
              <a:t>C</a:t>
            </a:r>
            <a:endParaRPr lang="en-US" sz="1800" dirty="0"/>
          </a:p>
        </p:txBody>
      </p:sp>
      <p:sp>
        <p:nvSpPr>
          <p:cNvPr id="25" name="Shape 23"/>
          <p:cNvSpPr/>
          <p:nvPr/>
        </p:nvSpPr>
        <p:spPr>
          <a:xfrm>
            <a:off x="1943100" y="4411980"/>
            <a:ext cx="502920" cy="502920"/>
          </a:xfrm>
          <a:prstGeom prst="ellipse">
            <a:avLst/>
          </a:prstGeom>
          <a:solidFill>
            <a:schemeClr val="tx2"/>
          </a:solidFill>
          <a:ln w="25400">
            <a:solidFill>
              <a:schemeClr val="bg1"/>
            </a:solidFill>
            <a:prstDash val="solid"/>
          </a:ln>
        </p:spPr>
        <p:txBody>
          <a:bodyPr/>
          <a:lstStyle/>
          <a:p>
            <a:endParaRPr lang="en-US"/>
          </a:p>
        </p:txBody>
      </p:sp>
      <p:sp>
        <p:nvSpPr>
          <p:cNvPr id="26" name="Text 24"/>
          <p:cNvSpPr txBox="1"/>
          <p:nvPr/>
        </p:nvSpPr>
        <p:spPr>
          <a:xfrm>
            <a:off x="1943100" y="4411980"/>
            <a:ext cx="502920" cy="502920"/>
          </a:xfrm>
          <a:prstGeom prst="rect">
            <a:avLst/>
          </a:prstGeom>
          <a:noFill/>
          <a:ln/>
        </p:spPr>
        <p:txBody>
          <a:bodyPr wrap="square" lIns="0" tIns="0" rIns="0" bIns="0" rtlCol="0" anchor="ctr"/>
          <a:lstStyle/>
          <a:p>
            <a:pPr marL="0" indent="0" algn="ctr">
              <a:buNone/>
            </a:pPr>
            <a:r>
              <a:rPr lang="en-US" sz="1800" b="1" dirty="0">
                <a:solidFill>
                  <a:schemeClr val="bg1"/>
                </a:solidFill>
              </a:rPr>
              <a:t>D</a:t>
            </a:r>
            <a:endParaRPr lang="en-US" sz="1800" dirty="0"/>
          </a:p>
        </p:txBody>
      </p:sp>
      <p:sp>
        <p:nvSpPr>
          <p:cNvPr id="27" name="Shape 25"/>
          <p:cNvSpPr/>
          <p:nvPr/>
        </p:nvSpPr>
        <p:spPr>
          <a:xfrm>
            <a:off x="3954780" y="2217420"/>
            <a:ext cx="502920" cy="502920"/>
          </a:xfrm>
          <a:prstGeom prst="ellipse">
            <a:avLst/>
          </a:prstGeom>
          <a:solidFill>
            <a:schemeClr val="tx2"/>
          </a:solidFill>
          <a:ln w="25400">
            <a:solidFill>
              <a:schemeClr val="bg1"/>
            </a:solidFill>
            <a:prstDash val="solid"/>
          </a:ln>
        </p:spPr>
        <p:txBody>
          <a:bodyPr/>
          <a:lstStyle/>
          <a:p>
            <a:endParaRPr lang="en-US"/>
          </a:p>
        </p:txBody>
      </p:sp>
      <p:sp>
        <p:nvSpPr>
          <p:cNvPr id="28" name="Text 26"/>
          <p:cNvSpPr txBox="1"/>
          <p:nvPr/>
        </p:nvSpPr>
        <p:spPr>
          <a:xfrm>
            <a:off x="3954780" y="2217420"/>
            <a:ext cx="502920" cy="502920"/>
          </a:xfrm>
          <a:prstGeom prst="rect">
            <a:avLst/>
          </a:prstGeom>
          <a:noFill/>
          <a:ln/>
        </p:spPr>
        <p:txBody>
          <a:bodyPr wrap="square" lIns="0" tIns="0" rIns="0" bIns="0" rtlCol="0" anchor="ctr"/>
          <a:lstStyle/>
          <a:p>
            <a:pPr marL="0" indent="0" algn="ctr">
              <a:buNone/>
            </a:pPr>
            <a:r>
              <a:rPr lang="en-US" sz="1800" b="1" dirty="0">
                <a:solidFill>
                  <a:schemeClr val="bg1"/>
                </a:solidFill>
              </a:rPr>
              <a:t>E</a:t>
            </a:r>
            <a:endParaRPr lang="en-US" sz="1800" dirty="0"/>
          </a:p>
        </p:txBody>
      </p:sp>
      <p:sp>
        <p:nvSpPr>
          <p:cNvPr id="29" name="Shape 27"/>
          <p:cNvSpPr/>
          <p:nvPr/>
        </p:nvSpPr>
        <p:spPr>
          <a:xfrm>
            <a:off x="3954780" y="3314700"/>
            <a:ext cx="502920" cy="502920"/>
          </a:xfrm>
          <a:prstGeom prst="ellipse">
            <a:avLst/>
          </a:prstGeom>
          <a:solidFill>
            <a:schemeClr val="tx2"/>
          </a:solidFill>
          <a:ln w="25400">
            <a:solidFill>
              <a:schemeClr val="bg1"/>
            </a:solidFill>
            <a:prstDash val="solid"/>
          </a:ln>
        </p:spPr>
        <p:txBody>
          <a:bodyPr/>
          <a:lstStyle/>
          <a:p>
            <a:endParaRPr lang="en-US"/>
          </a:p>
        </p:txBody>
      </p:sp>
      <p:sp>
        <p:nvSpPr>
          <p:cNvPr id="30" name="Text 28"/>
          <p:cNvSpPr txBox="1"/>
          <p:nvPr/>
        </p:nvSpPr>
        <p:spPr>
          <a:xfrm>
            <a:off x="3954780" y="3314700"/>
            <a:ext cx="502920" cy="502920"/>
          </a:xfrm>
          <a:prstGeom prst="rect">
            <a:avLst/>
          </a:prstGeom>
          <a:noFill/>
          <a:ln/>
        </p:spPr>
        <p:txBody>
          <a:bodyPr wrap="square" lIns="0" tIns="0" rIns="0" bIns="0" rtlCol="0" anchor="ctr"/>
          <a:lstStyle/>
          <a:p>
            <a:pPr marL="0" indent="0" algn="ctr">
              <a:buNone/>
            </a:pPr>
            <a:r>
              <a:rPr lang="en-US" sz="1800" b="1" dirty="0">
                <a:solidFill>
                  <a:schemeClr val="bg1"/>
                </a:solidFill>
              </a:rPr>
              <a:t>F</a:t>
            </a:r>
            <a:endParaRPr lang="en-US" sz="1800" dirty="0"/>
          </a:p>
        </p:txBody>
      </p:sp>
      <p:sp>
        <p:nvSpPr>
          <p:cNvPr id="31" name="Shape 29"/>
          <p:cNvSpPr/>
          <p:nvPr/>
        </p:nvSpPr>
        <p:spPr>
          <a:xfrm>
            <a:off x="3954780" y="4411980"/>
            <a:ext cx="502920" cy="502920"/>
          </a:xfrm>
          <a:prstGeom prst="ellipse">
            <a:avLst/>
          </a:prstGeom>
          <a:solidFill>
            <a:schemeClr val="tx2"/>
          </a:solidFill>
          <a:ln w="25400">
            <a:solidFill>
              <a:schemeClr val="bg1"/>
            </a:solidFill>
            <a:prstDash val="solid"/>
          </a:ln>
        </p:spPr>
        <p:txBody>
          <a:bodyPr/>
          <a:lstStyle/>
          <a:p>
            <a:endParaRPr lang="en-US"/>
          </a:p>
        </p:txBody>
      </p:sp>
      <p:sp>
        <p:nvSpPr>
          <p:cNvPr id="32" name="Text 30"/>
          <p:cNvSpPr txBox="1"/>
          <p:nvPr/>
        </p:nvSpPr>
        <p:spPr>
          <a:xfrm>
            <a:off x="3954780" y="4411980"/>
            <a:ext cx="502920" cy="502920"/>
          </a:xfrm>
          <a:prstGeom prst="rect">
            <a:avLst/>
          </a:prstGeom>
          <a:noFill/>
          <a:ln/>
        </p:spPr>
        <p:txBody>
          <a:bodyPr wrap="square" lIns="0" tIns="0" rIns="0" bIns="0" rtlCol="0" anchor="ctr"/>
          <a:lstStyle/>
          <a:p>
            <a:pPr marL="0" indent="0" algn="ctr">
              <a:buNone/>
            </a:pPr>
            <a:r>
              <a:rPr lang="en-US" sz="1800" b="1" dirty="0">
                <a:solidFill>
                  <a:schemeClr val="bg1"/>
                </a:solidFill>
              </a:rPr>
              <a:t>G</a:t>
            </a:r>
            <a:endParaRPr lang="en-US" sz="1800" dirty="0"/>
          </a:p>
        </p:txBody>
      </p:sp>
      <p:sp>
        <p:nvSpPr>
          <p:cNvPr id="33" name="Shape 31"/>
          <p:cNvSpPr/>
          <p:nvPr/>
        </p:nvSpPr>
        <p:spPr>
          <a:xfrm>
            <a:off x="5234940" y="3314700"/>
            <a:ext cx="502920" cy="502920"/>
          </a:xfrm>
          <a:prstGeom prst="ellipse">
            <a:avLst/>
          </a:prstGeom>
          <a:solidFill>
            <a:schemeClr val="accent1"/>
          </a:solidFill>
          <a:ln w="25400">
            <a:solidFill>
              <a:schemeClr val="bg1"/>
            </a:solidFill>
            <a:prstDash val="solid"/>
          </a:ln>
        </p:spPr>
        <p:txBody>
          <a:bodyPr/>
          <a:lstStyle/>
          <a:p>
            <a:endParaRPr lang="en-US"/>
          </a:p>
        </p:txBody>
      </p:sp>
      <p:sp>
        <p:nvSpPr>
          <p:cNvPr id="34" name="Text 32"/>
          <p:cNvSpPr txBox="1"/>
          <p:nvPr/>
        </p:nvSpPr>
        <p:spPr>
          <a:xfrm>
            <a:off x="5234940" y="3314700"/>
            <a:ext cx="502920" cy="502920"/>
          </a:xfrm>
          <a:prstGeom prst="rect">
            <a:avLst/>
          </a:prstGeom>
          <a:noFill/>
          <a:ln/>
        </p:spPr>
        <p:txBody>
          <a:bodyPr wrap="square" lIns="0" tIns="0" rIns="0" bIns="0" rtlCol="0" anchor="ctr"/>
          <a:lstStyle/>
          <a:p>
            <a:pPr marL="0" indent="0" algn="ctr">
              <a:buNone/>
            </a:pPr>
            <a:r>
              <a:rPr lang="en-US" sz="1800" b="1" dirty="0">
                <a:solidFill>
                  <a:schemeClr val="bg1"/>
                </a:solidFill>
              </a:rPr>
              <a:t>H</a:t>
            </a:r>
            <a:endParaRPr lang="en-US" sz="1800" dirty="0"/>
          </a:p>
        </p:txBody>
      </p:sp>
      <p:sp>
        <p:nvSpPr>
          <p:cNvPr id="35" name="Text 33"/>
          <p:cNvSpPr txBox="1"/>
          <p:nvPr/>
        </p:nvSpPr>
        <p:spPr>
          <a:xfrm>
            <a:off x="548640" y="5257800"/>
            <a:ext cx="5486400" cy="822960"/>
          </a:xfrm>
          <a:prstGeom prst="rect">
            <a:avLst/>
          </a:prstGeom>
          <a:noFill/>
          <a:ln/>
        </p:spPr>
        <p:txBody>
          <a:bodyPr wrap="square" lIns="0" tIns="0" rIns="0" bIns="0" rtlCol="0" anchor="t"/>
          <a:lstStyle/>
          <a:p>
            <a:pPr marL="0" indent="0">
              <a:buNone/>
            </a:pPr>
            <a:r>
              <a:rPr lang="en-US" sz="1400" dirty="0">
                <a:solidFill>
                  <a:schemeClr val="accent4"/>
                </a:solidFill>
              </a:rPr>
              <a:t>8 routers, 13 links. Test flow A → H at 40 Mb/s plus competing traffic C → E. Faults hit at 15 s and clear at 40 s.</a:t>
            </a:r>
            <a:endParaRPr lang="en-US" sz="1400" dirty="0"/>
          </a:p>
        </p:txBody>
      </p:sp>
      <p:sp>
        <p:nvSpPr>
          <p:cNvPr id="36" name="Text 34"/>
          <p:cNvSpPr txBox="1"/>
          <p:nvPr/>
        </p:nvSpPr>
        <p:spPr>
          <a:xfrm>
            <a:off x="6492240" y="1463040"/>
            <a:ext cx="5120640" cy="411480"/>
          </a:xfrm>
          <a:prstGeom prst="rect">
            <a:avLst/>
          </a:prstGeom>
          <a:noFill/>
          <a:ln/>
        </p:spPr>
        <p:txBody>
          <a:bodyPr wrap="square" lIns="0" tIns="0" rIns="0" bIns="0" rtlCol="0" anchor="t"/>
          <a:lstStyle/>
          <a:p>
            <a:pPr marL="0" indent="0">
              <a:buNone/>
            </a:pPr>
            <a:r>
              <a:rPr lang="en-US" sz="2000" b="1" dirty="0">
                <a:solidFill>
                  <a:schemeClr val="tx2"/>
                </a:solidFill>
              </a:rPr>
              <a:t>9 experiments</a:t>
            </a:r>
            <a:endParaRPr lang="en-US" sz="2000" dirty="0"/>
          </a:p>
        </p:txBody>
      </p:sp>
      <p:sp>
        <p:nvSpPr>
          <p:cNvPr id="37" name="Text 35"/>
          <p:cNvSpPr txBox="1"/>
          <p:nvPr/>
        </p:nvSpPr>
        <p:spPr>
          <a:xfrm>
            <a:off x="6492240" y="1920240"/>
            <a:ext cx="5120640" cy="2560320"/>
          </a:xfrm>
          <a:prstGeom prst="rect">
            <a:avLst/>
          </a:prstGeom>
          <a:noFill/>
          <a:ln/>
        </p:spPr>
        <p:txBody>
          <a:bodyPr wrap="square" lIns="0" tIns="0" rIns="0" bIns="0" rtlCol="0" anchor="t"/>
          <a:lstStyle/>
          <a:p>
            <a:pPr marL="342900" indent="-342900">
              <a:spcAft>
                <a:spcPts val="300"/>
              </a:spcAft>
              <a:buSzPct val="100000"/>
              <a:buChar char="•"/>
            </a:pPr>
            <a:r>
              <a:rPr lang="en-US" sz="1500" dirty="0">
                <a:solidFill>
                  <a:schemeClr val="tx1"/>
                </a:solidFill>
              </a:rPr>
              <a:t>Steady network (no faults)</a:t>
            </a:r>
            <a:endParaRPr lang="en-US" sz="1500" dirty="0"/>
          </a:p>
          <a:p>
            <a:pPr marL="342900" indent="-342900">
              <a:spcAft>
                <a:spcPts val="300"/>
              </a:spcAft>
              <a:buSzPct val="100000"/>
              <a:buChar char="•"/>
            </a:pPr>
            <a:r>
              <a:rPr lang="en-US" sz="1500" dirty="0">
                <a:solidFill>
                  <a:schemeClr val="tx1"/>
                </a:solidFill>
              </a:rPr>
              <a:t>Latency spike: 10 → 150 ms</a:t>
            </a:r>
            <a:endParaRPr lang="en-US" sz="1500" dirty="0"/>
          </a:p>
          <a:p>
            <a:pPr marL="342900" indent="-342900">
              <a:spcAft>
                <a:spcPts val="300"/>
              </a:spcAft>
              <a:buSzPct val="100000"/>
              <a:buChar char="•"/>
            </a:pPr>
            <a:r>
              <a:rPr lang="en-US" sz="1500" dirty="0">
                <a:solidFill>
                  <a:schemeClr val="tx1"/>
                </a:solidFill>
              </a:rPr>
              <a:t>Bandwidth drop: 100 → 15 Mb/s</a:t>
            </a:r>
            <a:endParaRPr lang="en-US" sz="1500" dirty="0"/>
          </a:p>
          <a:p>
            <a:pPr marL="342900" indent="-342900">
              <a:spcAft>
                <a:spcPts val="300"/>
              </a:spcAft>
              <a:buSzPct val="100000"/>
              <a:buChar char="•"/>
            </a:pPr>
            <a:r>
              <a:rPr lang="en-US" sz="1500" dirty="0">
                <a:solidFill>
                  <a:schemeClr val="tx1"/>
                </a:solidFill>
              </a:rPr>
              <a:t>Packet loss rises to 12%</a:t>
            </a:r>
            <a:endParaRPr lang="en-US" sz="1500" dirty="0"/>
          </a:p>
          <a:p>
            <a:pPr marL="342900" indent="-342900">
              <a:spcAft>
                <a:spcPts val="300"/>
              </a:spcAft>
              <a:buSzPct val="100000"/>
              <a:buChar char="•"/>
            </a:pPr>
            <a:r>
              <a:rPr lang="en-US" sz="1500" dirty="0">
                <a:solidFill>
                  <a:schemeClr val="tx1"/>
                </a:solidFill>
              </a:rPr>
              <a:t>Link failure</a:t>
            </a:r>
            <a:endParaRPr lang="en-US" sz="1500" dirty="0"/>
          </a:p>
          <a:p>
            <a:pPr marL="342900" indent="-342900">
              <a:spcAft>
                <a:spcPts val="300"/>
              </a:spcAft>
              <a:buSzPct val="100000"/>
              <a:buChar char="•"/>
            </a:pPr>
            <a:r>
              <a:rPr lang="en-US" sz="1500" dirty="0">
                <a:solidFill>
                  <a:schemeClr val="tx1"/>
                </a:solidFill>
              </a:rPr>
              <a:t>Congestion build-up</a:t>
            </a:r>
            <a:endParaRPr lang="en-US" sz="1500" dirty="0"/>
          </a:p>
          <a:p>
            <a:pPr marL="342900" indent="-342900">
              <a:spcAft>
                <a:spcPts val="300"/>
              </a:spcAft>
              <a:buSzPct val="100000"/>
              <a:buChar char="•"/>
            </a:pPr>
            <a:r>
              <a:rPr lang="en-US" sz="1500" dirty="0">
                <a:solidFill>
                  <a:schemeClr val="tx1"/>
                </a:solidFill>
              </a:rPr>
              <a:t>Flapping link (down 2 s every 4 s)</a:t>
            </a:r>
            <a:endParaRPr lang="en-US" sz="1500" dirty="0"/>
          </a:p>
          <a:p>
            <a:pPr marL="342900" indent="-342900">
              <a:spcAft>
                <a:spcPts val="300"/>
              </a:spcAft>
              <a:buSzPct val="100000"/>
              <a:buChar char="•"/>
            </a:pPr>
            <a:r>
              <a:rPr lang="en-US" sz="1500" dirty="0">
                <a:solidFill>
                  <a:schemeClr val="tx1"/>
                </a:solidFill>
              </a:rPr>
              <a:t>7 random faults</a:t>
            </a:r>
            <a:endParaRPr lang="en-US" sz="1500" dirty="0"/>
          </a:p>
          <a:p>
            <a:pPr marL="342900" indent="-342900">
              <a:spcAft>
                <a:spcPts val="300"/>
              </a:spcAft>
              <a:buSzPct val="100000"/>
              <a:buChar char="•"/>
            </a:pPr>
            <a:r>
              <a:rPr lang="en-US" sz="1500" dirty="0">
                <a:solidFill>
                  <a:schemeClr val="tx1"/>
                </a:solidFill>
              </a:rPr>
              <a:t>Lossy shortcut (A-B-D example)</a:t>
            </a:r>
            <a:endParaRPr lang="en-US" sz="1500" dirty="0"/>
          </a:p>
        </p:txBody>
      </p:sp>
      <p:sp>
        <p:nvSpPr>
          <p:cNvPr id="38" name="baselines"/>
          <p:cNvSpPr/>
          <p:nvPr/>
        </p:nvSpPr>
        <p:spPr>
          <a:xfrm>
            <a:off x="6492240" y="4480560"/>
            <a:ext cx="5120640" cy="1645920"/>
          </a:xfrm>
          <a:prstGeom prst="roundRect">
            <a:avLst>
              <a:gd name="adj" fmla="val 7500"/>
            </a:avLst>
          </a:prstGeom>
          <a:solidFill>
            <a:srgbClr val="E3F2EF"/>
          </a:solidFill>
          <a:ln w="12700">
            <a:solidFill>
              <a:srgbClr val="E3F2EF"/>
            </a:solidFill>
            <a:prstDash val="solid"/>
          </a:ln>
        </p:spPr>
        <p:txBody>
          <a:bodyPr/>
          <a:lstStyle/>
          <a:p>
            <a:endParaRPr lang="en-US"/>
          </a:p>
        </p:txBody>
      </p:sp>
      <p:sp>
        <p:nvSpPr>
          <p:cNvPr id="39" name="Text 37"/>
          <p:cNvSpPr txBox="1"/>
          <p:nvPr/>
        </p:nvSpPr>
        <p:spPr>
          <a:xfrm>
            <a:off x="6720840" y="4572000"/>
            <a:ext cx="4663440" cy="1463040"/>
          </a:xfrm>
          <a:prstGeom prst="rect">
            <a:avLst/>
          </a:prstGeom>
          <a:noFill/>
          <a:ln/>
        </p:spPr>
        <p:txBody>
          <a:bodyPr wrap="square" lIns="0" tIns="0" rIns="0" bIns="0" rtlCol="0" anchor="ctr"/>
          <a:lstStyle/>
          <a:p>
            <a:pPr marL="0" indent="0">
              <a:buNone/>
            </a:pPr>
            <a:r>
              <a:rPr lang="en-US" sz="1300" b="1" dirty="0">
                <a:solidFill>
                  <a:schemeClr val="tx2"/>
                </a:solidFill>
              </a:rPr>
              <a:t>Metrics: </a:t>
            </a:r>
            <a:r>
              <a:rPr lang="en-US" sz="1300" dirty="0">
                <a:solidFill>
                  <a:schemeClr val="tx1"/>
                </a:solidFill>
              </a:rPr>
              <a:t>delivery ratio, throughput, mean / p95 latency, recovery time, time degraded, route changes. Baselines: OSPF-like, latency-only, hop count. 10 seeds each, Welch's t-test.</a:t>
            </a:r>
            <a:endParaRPr lang="en-US" sz="1500" dirty="0"/>
          </a:p>
        </p:txBody>
      </p:sp>
      <p:sp>
        <p:nvSpPr>
          <p:cNvPr id="40"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9B"/>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400" b="1" dirty="0">
                <a:solidFill>
                  <a:schemeClr val="tx2"/>
                </a:solidFill>
              </a:rPr>
              <a:t>Results: headline numbers vs OSPF-like routing</a:t>
            </a:r>
            <a:endParaRPr lang="en-US" sz="3400" dirty="0"/>
          </a:p>
        </p:txBody>
      </p:sp>
      <p:sp>
        <p:nvSpPr>
          <p:cNvPr id="3" name="stat0"/>
          <p:cNvSpPr/>
          <p:nvPr/>
        </p:nvSpPr>
        <p:spPr>
          <a:xfrm>
            <a:off x="548640" y="1600200"/>
            <a:ext cx="2606040" cy="3017520"/>
          </a:xfrm>
          <a:prstGeom prst="roundRect">
            <a:avLst>
              <a:gd name="adj" fmla="val 4211"/>
            </a:avLst>
          </a:prstGeom>
          <a:solidFill>
            <a:srgbClr val="F3F6F6"/>
          </a:solidFill>
          <a:ln w="12700">
            <a:solidFill>
              <a:srgbClr val="F3F6F6"/>
            </a:solidFill>
            <a:prstDash val="solid"/>
          </a:ln>
        </p:spPr>
        <p:txBody>
          <a:bodyPr/>
          <a:lstStyle/>
          <a:p>
            <a:endParaRPr lang="en-US"/>
          </a:p>
        </p:txBody>
      </p:sp>
      <p:sp>
        <p:nvSpPr>
          <p:cNvPr id="4" name="Text 2"/>
          <p:cNvSpPr txBox="1"/>
          <p:nvPr/>
        </p:nvSpPr>
        <p:spPr>
          <a:xfrm>
            <a:off x="777240" y="1828800"/>
            <a:ext cx="2194560" cy="1005840"/>
          </a:xfrm>
          <a:prstGeom prst="rect">
            <a:avLst/>
          </a:prstGeom>
          <a:noFill/>
          <a:ln/>
        </p:spPr>
        <p:txBody>
          <a:bodyPr wrap="square" lIns="0" tIns="0" rIns="0" bIns="0" rtlCol="0" anchor="ctr"/>
          <a:lstStyle/>
          <a:p>
            <a:pPr marL="0" indent="0">
              <a:buNone/>
            </a:pPr>
            <a:r>
              <a:rPr lang="en-US" sz="4600" b="1" dirty="0">
                <a:solidFill>
                  <a:schemeClr val="accent1"/>
                </a:solidFill>
                <a:latin typeface="Cambria" pitchFamily="34" charset="0"/>
                <a:ea typeface="Cambria" pitchFamily="34" charset="-122"/>
                <a:cs typeface="Cambria" pitchFamily="34" charset="-120"/>
              </a:rPr>
              <a:t>9×</a:t>
            </a:r>
            <a:endParaRPr lang="en-US" sz="4600" dirty="0"/>
          </a:p>
        </p:txBody>
      </p:sp>
      <p:sp>
        <p:nvSpPr>
          <p:cNvPr id="5" name="Text 3"/>
          <p:cNvSpPr txBox="1"/>
          <p:nvPr/>
        </p:nvSpPr>
        <p:spPr>
          <a:xfrm>
            <a:off x="777240" y="2926080"/>
            <a:ext cx="2194560" cy="914400"/>
          </a:xfrm>
          <a:prstGeom prst="rect">
            <a:avLst/>
          </a:prstGeom>
          <a:noFill/>
          <a:ln/>
        </p:spPr>
        <p:txBody>
          <a:bodyPr wrap="square" lIns="0" tIns="0" rIns="0" bIns="0" rtlCol="0" anchor="t"/>
          <a:lstStyle/>
          <a:p>
            <a:pPr marL="0" indent="0">
              <a:buNone/>
            </a:pPr>
            <a:r>
              <a:rPr lang="en-US" sz="1600" b="1" dirty="0">
                <a:solidFill>
                  <a:schemeClr val="tx2"/>
                </a:solidFill>
              </a:rPr>
              <a:t>faster recovery from a link failure</a:t>
            </a:r>
            <a:endParaRPr lang="en-US" sz="1600" dirty="0"/>
          </a:p>
        </p:txBody>
      </p:sp>
      <p:sp>
        <p:nvSpPr>
          <p:cNvPr id="6" name="Text 4"/>
          <p:cNvSpPr txBox="1"/>
          <p:nvPr/>
        </p:nvSpPr>
        <p:spPr>
          <a:xfrm>
            <a:off x="777240" y="3931920"/>
            <a:ext cx="2194560" cy="457200"/>
          </a:xfrm>
          <a:prstGeom prst="rect">
            <a:avLst/>
          </a:prstGeom>
          <a:noFill/>
          <a:ln/>
        </p:spPr>
        <p:txBody>
          <a:bodyPr wrap="square" lIns="0" tIns="0" rIns="0" bIns="0" rtlCol="0" anchor="t"/>
          <a:lstStyle/>
          <a:p>
            <a:pPr marL="0" indent="0">
              <a:buNone/>
            </a:pPr>
            <a:r>
              <a:rPr lang="en-US" sz="1400" dirty="0">
                <a:solidFill>
                  <a:schemeClr val="accent4"/>
                </a:solidFill>
              </a:rPr>
              <a:t>0.13 s vs 1.15 s</a:t>
            </a:r>
            <a:endParaRPr lang="en-US" sz="1400" dirty="0"/>
          </a:p>
        </p:txBody>
      </p:sp>
      <p:sp>
        <p:nvSpPr>
          <p:cNvPr id="7" name="stat1"/>
          <p:cNvSpPr/>
          <p:nvPr/>
        </p:nvSpPr>
        <p:spPr>
          <a:xfrm>
            <a:off x="3364992" y="1600200"/>
            <a:ext cx="2606040" cy="3017520"/>
          </a:xfrm>
          <a:prstGeom prst="roundRect">
            <a:avLst>
              <a:gd name="adj" fmla="val 4211"/>
            </a:avLst>
          </a:prstGeom>
          <a:solidFill>
            <a:srgbClr val="F3F6F6"/>
          </a:solidFill>
          <a:ln w="12700">
            <a:solidFill>
              <a:srgbClr val="F3F6F6"/>
            </a:solidFill>
            <a:prstDash val="solid"/>
          </a:ln>
        </p:spPr>
        <p:txBody>
          <a:bodyPr/>
          <a:lstStyle/>
          <a:p>
            <a:endParaRPr lang="en-US"/>
          </a:p>
        </p:txBody>
      </p:sp>
      <p:sp>
        <p:nvSpPr>
          <p:cNvPr id="8" name="Text 6"/>
          <p:cNvSpPr txBox="1"/>
          <p:nvPr/>
        </p:nvSpPr>
        <p:spPr>
          <a:xfrm>
            <a:off x="3593592" y="1828800"/>
            <a:ext cx="2194560" cy="1005840"/>
          </a:xfrm>
          <a:prstGeom prst="rect">
            <a:avLst/>
          </a:prstGeom>
          <a:noFill/>
          <a:ln/>
        </p:spPr>
        <p:txBody>
          <a:bodyPr wrap="square" lIns="0" tIns="0" rIns="0" bIns="0" rtlCol="0" anchor="ctr"/>
          <a:lstStyle/>
          <a:p>
            <a:pPr marL="0" indent="0">
              <a:buNone/>
            </a:pPr>
            <a:r>
              <a:rPr lang="en-US" sz="4600" b="1" dirty="0">
                <a:solidFill>
                  <a:schemeClr val="accent1"/>
                </a:solidFill>
                <a:latin typeface="Cambria" pitchFamily="34" charset="0"/>
                <a:ea typeface="Cambria" pitchFamily="34" charset="-122"/>
                <a:cs typeface="Cambria" pitchFamily="34" charset="-120"/>
              </a:rPr>
              <a:t>99.6%</a:t>
            </a:r>
            <a:endParaRPr lang="en-US" sz="4600" dirty="0"/>
          </a:p>
        </p:txBody>
      </p:sp>
      <p:sp>
        <p:nvSpPr>
          <p:cNvPr id="9" name="Text 7"/>
          <p:cNvSpPr txBox="1"/>
          <p:nvPr/>
        </p:nvSpPr>
        <p:spPr>
          <a:xfrm>
            <a:off x="3593592" y="2926080"/>
            <a:ext cx="2194560" cy="914400"/>
          </a:xfrm>
          <a:prstGeom prst="rect">
            <a:avLst/>
          </a:prstGeom>
          <a:noFill/>
          <a:ln/>
        </p:spPr>
        <p:txBody>
          <a:bodyPr wrap="square" lIns="0" tIns="0" rIns="0" bIns="0" rtlCol="0" anchor="t"/>
          <a:lstStyle/>
          <a:p>
            <a:pPr marL="0" indent="0">
              <a:buNone/>
            </a:pPr>
            <a:r>
              <a:rPr lang="en-US" sz="1600" b="1" dirty="0">
                <a:solidFill>
                  <a:schemeClr val="tx2"/>
                </a:solidFill>
              </a:rPr>
              <a:t>packets delivered when bandwidth drops</a:t>
            </a:r>
            <a:endParaRPr lang="en-US" sz="1600" dirty="0"/>
          </a:p>
        </p:txBody>
      </p:sp>
      <p:sp>
        <p:nvSpPr>
          <p:cNvPr id="10" name="Text 8"/>
          <p:cNvSpPr txBox="1"/>
          <p:nvPr/>
        </p:nvSpPr>
        <p:spPr>
          <a:xfrm>
            <a:off x="3593592" y="3931920"/>
            <a:ext cx="2194560" cy="457200"/>
          </a:xfrm>
          <a:prstGeom prst="rect">
            <a:avLst/>
          </a:prstGeom>
          <a:noFill/>
          <a:ln/>
        </p:spPr>
        <p:txBody>
          <a:bodyPr wrap="square" lIns="0" tIns="0" rIns="0" bIns="0" rtlCol="0" anchor="t"/>
          <a:lstStyle/>
          <a:p>
            <a:pPr marL="0" indent="0">
              <a:buNone/>
            </a:pPr>
            <a:r>
              <a:rPr lang="en-US" sz="1400" dirty="0">
                <a:solidFill>
                  <a:schemeClr val="accent4"/>
                </a:solidFill>
              </a:rPr>
              <a:t>vs 86.7% for OSPF</a:t>
            </a:r>
            <a:endParaRPr lang="en-US" sz="1400" dirty="0"/>
          </a:p>
        </p:txBody>
      </p:sp>
      <p:sp>
        <p:nvSpPr>
          <p:cNvPr id="11" name="stat2"/>
          <p:cNvSpPr/>
          <p:nvPr/>
        </p:nvSpPr>
        <p:spPr>
          <a:xfrm>
            <a:off x="6181344" y="1600200"/>
            <a:ext cx="2606040" cy="3017520"/>
          </a:xfrm>
          <a:prstGeom prst="roundRect">
            <a:avLst>
              <a:gd name="adj" fmla="val 4211"/>
            </a:avLst>
          </a:prstGeom>
          <a:solidFill>
            <a:srgbClr val="F3F6F6"/>
          </a:solidFill>
          <a:ln w="12700">
            <a:solidFill>
              <a:srgbClr val="F3F6F6"/>
            </a:solidFill>
            <a:prstDash val="solid"/>
          </a:ln>
        </p:spPr>
        <p:txBody>
          <a:bodyPr/>
          <a:lstStyle/>
          <a:p>
            <a:endParaRPr lang="en-US"/>
          </a:p>
        </p:txBody>
      </p:sp>
      <p:sp>
        <p:nvSpPr>
          <p:cNvPr id="12" name="Text 10"/>
          <p:cNvSpPr txBox="1"/>
          <p:nvPr/>
        </p:nvSpPr>
        <p:spPr>
          <a:xfrm>
            <a:off x="6409944" y="1828800"/>
            <a:ext cx="2194560" cy="1005840"/>
          </a:xfrm>
          <a:prstGeom prst="rect">
            <a:avLst/>
          </a:prstGeom>
          <a:noFill/>
          <a:ln/>
        </p:spPr>
        <p:txBody>
          <a:bodyPr wrap="square" lIns="0" tIns="0" rIns="0" bIns="0" rtlCol="0" anchor="ctr"/>
          <a:lstStyle/>
          <a:p>
            <a:pPr marL="0" indent="0">
              <a:buNone/>
            </a:pPr>
            <a:r>
              <a:rPr lang="en-US" sz="4600" b="1" dirty="0">
                <a:solidFill>
                  <a:schemeClr val="accent1"/>
                </a:solidFill>
                <a:latin typeface="Cambria" pitchFamily="34" charset="0"/>
                <a:ea typeface="Cambria" pitchFamily="34" charset="-122"/>
                <a:cs typeface="Cambria" pitchFamily="34" charset="-120"/>
              </a:rPr>
              <a:t>0 s</a:t>
            </a:r>
            <a:endParaRPr lang="en-US" sz="4600" dirty="0"/>
          </a:p>
        </p:txBody>
      </p:sp>
      <p:sp>
        <p:nvSpPr>
          <p:cNvPr id="13" name="Text 11"/>
          <p:cNvSpPr txBox="1"/>
          <p:nvPr/>
        </p:nvSpPr>
        <p:spPr>
          <a:xfrm>
            <a:off x="6409944" y="2926080"/>
            <a:ext cx="2194560" cy="914400"/>
          </a:xfrm>
          <a:prstGeom prst="rect">
            <a:avLst/>
          </a:prstGeom>
          <a:noFill/>
          <a:ln/>
        </p:spPr>
        <p:txBody>
          <a:bodyPr wrap="square" lIns="0" tIns="0" rIns="0" bIns="0" rtlCol="0" anchor="t"/>
          <a:lstStyle/>
          <a:p>
            <a:pPr marL="0" indent="0">
              <a:buNone/>
            </a:pPr>
            <a:r>
              <a:rPr lang="en-US" sz="1600" b="1" dirty="0">
                <a:solidFill>
                  <a:schemeClr val="tx2"/>
                </a:solidFill>
              </a:rPr>
              <a:t>of degraded service during congestion</a:t>
            </a:r>
            <a:endParaRPr lang="en-US" sz="1600" dirty="0"/>
          </a:p>
        </p:txBody>
      </p:sp>
      <p:sp>
        <p:nvSpPr>
          <p:cNvPr id="14" name="Text 12"/>
          <p:cNvSpPr txBox="1"/>
          <p:nvPr/>
        </p:nvSpPr>
        <p:spPr>
          <a:xfrm>
            <a:off x="6409944" y="3931920"/>
            <a:ext cx="2194560" cy="457200"/>
          </a:xfrm>
          <a:prstGeom prst="rect">
            <a:avLst/>
          </a:prstGeom>
          <a:noFill/>
          <a:ln/>
        </p:spPr>
        <p:txBody>
          <a:bodyPr wrap="square" lIns="0" tIns="0" rIns="0" bIns="0" rtlCol="0" anchor="t"/>
          <a:lstStyle/>
          <a:p>
            <a:pPr marL="0" indent="0">
              <a:buNone/>
            </a:pPr>
            <a:r>
              <a:rPr lang="en-US" sz="1400" dirty="0">
                <a:solidFill>
                  <a:schemeClr val="accent4"/>
                </a:solidFill>
              </a:rPr>
              <a:t>vs 19.5 s for OSPF</a:t>
            </a:r>
            <a:endParaRPr lang="en-US" sz="1400" dirty="0"/>
          </a:p>
        </p:txBody>
      </p:sp>
      <p:sp>
        <p:nvSpPr>
          <p:cNvPr id="15" name="stat3"/>
          <p:cNvSpPr/>
          <p:nvPr/>
        </p:nvSpPr>
        <p:spPr>
          <a:xfrm>
            <a:off x="8997696" y="1600200"/>
            <a:ext cx="2606040" cy="3017520"/>
          </a:xfrm>
          <a:prstGeom prst="roundRect">
            <a:avLst>
              <a:gd name="adj" fmla="val 4211"/>
            </a:avLst>
          </a:prstGeom>
          <a:solidFill>
            <a:srgbClr val="F3F6F6"/>
          </a:solidFill>
          <a:ln w="12700">
            <a:solidFill>
              <a:srgbClr val="F3F6F6"/>
            </a:solidFill>
            <a:prstDash val="solid"/>
          </a:ln>
        </p:spPr>
        <p:txBody>
          <a:bodyPr/>
          <a:lstStyle/>
          <a:p>
            <a:endParaRPr lang="en-US"/>
          </a:p>
        </p:txBody>
      </p:sp>
      <p:sp>
        <p:nvSpPr>
          <p:cNvPr id="16" name="Text 14"/>
          <p:cNvSpPr txBox="1"/>
          <p:nvPr/>
        </p:nvSpPr>
        <p:spPr>
          <a:xfrm>
            <a:off x="9226296" y="1828800"/>
            <a:ext cx="2194560" cy="1005840"/>
          </a:xfrm>
          <a:prstGeom prst="rect">
            <a:avLst/>
          </a:prstGeom>
          <a:noFill/>
          <a:ln/>
        </p:spPr>
        <p:txBody>
          <a:bodyPr wrap="square" lIns="0" tIns="0" rIns="0" bIns="0" rtlCol="0" anchor="ctr"/>
          <a:lstStyle/>
          <a:p>
            <a:pPr marL="0" indent="0">
              <a:buNone/>
            </a:pPr>
            <a:r>
              <a:rPr lang="en-US" sz="4600" b="1" dirty="0">
                <a:solidFill>
                  <a:schemeClr val="accent1"/>
                </a:solidFill>
                <a:latin typeface="Cambria" pitchFamily="34" charset="0"/>
                <a:ea typeface="Cambria" pitchFamily="34" charset="-122"/>
                <a:cs typeface="Cambria" pitchFamily="34" charset="-120"/>
              </a:rPr>
              <a:t>2 vs 12</a:t>
            </a:r>
            <a:endParaRPr lang="en-US" sz="4600" dirty="0"/>
          </a:p>
        </p:txBody>
      </p:sp>
      <p:sp>
        <p:nvSpPr>
          <p:cNvPr id="17" name="Text 15"/>
          <p:cNvSpPr txBox="1"/>
          <p:nvPr/>
        </p:nvSpPr>
        <p:spPr>
          <a:xfrm>
            <a:off x="9226296" y="2926080"/>
            <a:ext cx="2194560" cy="914400"/>
          </a:xfrm>
          <a:prstGeom prst="rect">
            <a:avLst/>
          </a:prstGeom>
          <a:noFill/>
          <a:ln/>
        </p:spPr>
        <p:txBody>
          <a:bodyPr wrap="square" lIns="0" tIns="0" rIns="0" bIns="0" rtlCol="0" anchor="t"/>
          <a:lstStyle/>
          <a:p>
            <a:pPr marL="0" indent="0">
              <a:buNone/>
            </a:pPr>
            <a:r>
              <a:rPr lang="en-US" sz="1600" b="1" dirty="0">
                <a:solidFill>
                  <a:schemeClr val="tx2"/>
                </a:solidFill>
              </a:rPr>
              <a:t>route changes on a flapping link</a:t>
            </a:r>
            <a:endParaRPr lang="en-US" sz="1600" dirty="0"/>
          </a:p>
        </p:txBody>
      </p:sp>
      <p:sp>
        <p:nvSpPr>
          <p:cNvPr id="18" name="Text 16"/>
          <p:cNvSpPr txBox="1"/>
          <p:nvPr/>
        </p:nvSpPr>
        <p:spPr>
          <a:xfrm>
            <a:off x="9226296" y="3931920"/>
            <a:ext cx="2194560" cy="457200"/>
          </a:xfrm>
          <a:prstGeom prst="rect">
            <a:avLst/>
          </a:prstGeom>
          <a:noFill/>
          <a:ln/>
        </p:spPr>
        <p:txBody>
          <a:bodyPr wrap="square" lIns="0" tIns="0" rIns="0" bIns="0" rtlCol="0" anchor="t"/>
          <a:lstStyle/>
          <a:p>
            <a:pPr marL="0" indent="0">
              <a:buNone/>
            </a:pPr>
            <a:r>
              <a:rPr lang="en-US" sz="1400" dirty="0">
                <a:solidFill>
                  <a:schemeClr val="accent4"/>
                </a:solidFill>
              </a:rPr>
              <a:t>OSPF loses ~6% of traffic</a:t>
            </a:r>
            <a:endParaRPr lang="en-US" sz="1400" dirty="0"/>
          </a:p>
        </p:txBody>
      </p:sp>
      <p:sp>
        <p:nvSpPr>
          <p:cNvPr id="19" name="verdict"/>
          <p:cNvSpPr/>
          <p:nvPr/>
        </p:nvSpPr>
        <p:spPr>
          <a:xfrm>
            <a:off x="548640" y="4937760"/>
            <a:ext cx="11064240" cy="1097280"/>
          </a:xfrm>
          <a:prstGeom prst="roundRect">
            <a:avLst>
              <a:gd name="adj" fmla="val 10000"/>
            </a:avLst>
          </a:prstGeom>
          <a:solidFill>
            <a:srgbClr val="E3F2EF"/>
          </a:solidFill>
          <a:ln w="12700">
            <a:solidFill>
              <a:srgbClr val="E3F2EF"/>
            </a:solidFill>
            <a:prstDash val="solid"/>
          </a:ln>
        </p:spPr>
        <p:txBody>
          <a:bodyPr/>
          <a:lstStyle/>
          <a:p>
            <a:endParaRPr lang="en-US"/>
          </a:p>
        </p:txBody>
      </p:sp>
      <p:sp>
        <p:nvSpPr>
          <p:cNvPr id="20" name="Text 18"/>
          <p:cNvSpPr txBox="1"/>
          <p:nvPr/>
        </p:nvSpPr>
        <p:spPr>
          <a:xfrm>
            <a:off x="822960" y="5074920"/>
            <a:ext cx="10515600" cy="822960"/>
          </a:xfrm>
          <a:prstGeom prst="rect">
            <a:avLst/>
          </a:prstGeom>
          <a:noFill/>
          <a:ln/>
        </p:spPr>
        <p:txBody>
          <a:bodyPr wrap="square" lIns="0" tIns="0" rIns="0" bIns="0" rtlCol="0" anchor="ctr"/>
          <a:lstStyle/>
          <a:p>
            <a:pPr marL="0" indent="0">
              <a:buNone/>
            </a:pPr>
            <a:r>
              <a:rPr lang="en-US" sz="1600" b="1" dirty="0">
                <a:solidFill>
                  <a:schemeClr val="tx2"/>
                </a:solidFill>
              </a:rPr>
              <a:t>Statistically significant gains in every fault scenario (p &lt; 0.05), </a:t>
            </a:r>
            <a:r>
              <a:rPr lang="en-US" sz="1600" dirty="0">
                <a:solidFill>
                  <a:schemeClr val="tx1"/>
                </a:solidFill>
              </a:rPr>
              <a:t>and exactly the same as OSPF on a healthy network, so adapting costs nothing when there are no faults.</a:t>
            </a:r>
            <a:endParaRPr lang="en-US" sz="16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9B"/>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400" b="1" dirty="0">
                <a:solidFill>
                  <a:schemeClr val="tx2"/>
                </a:solidFill>
              </a:rPr>
              <a:t>Results: baseline vs proposed (mean ± SD, 10 seeds)</a:t>
            </a:r>
            <a:endParaRPr lang="en-US" sz="34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9B"/>
                </a:solidFill>
              </a:defRPr>
            </a:lvl1pPr>
          </a:lstStyle>
          <a:p>
            <a:pPr algn="r"/>
            <a:fld id="{F7021451-1387-4CA6-816F-3879F97B5CBC}" type="slidenum">
              <a:rPr lang="en-US" b="0"/>
              <a:t>11</a:t>
            </a:fld>
            <a:endParaRPr lang="en-US"/>
          </a:p>
        </p:txBody>
      </p:sp>
      <p:graphicFrame>
        <p:nvGraphicFramePr>
          <p:cNvPr id="26" name="Table 25"/>
          <p:cNvGraphicFramePr>
            <a:graphicFrameLocks noGrp="1"/>
          </p:cNvGraphicFramePr>
          <p:nvPr/>
        </p:nvGraphicFramePr>
        <p:xfrm>
          <a:off x="548640" y="1371600"/>
          <a:ext cx="11064240" cy="4114800"/>
        </p:xfrm>
        <a:graphic>
          <a:graphicData uri="http://schemas.openxmlformats.org/drawingml/2006/table">
            <a:tbl>
              <a:tblPr firstRow="1" bandRow="1"/>
              <a:tblGrid>
                <a:gridCol w="301752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2011680">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tblGrid>
              <a:tr h="457200">
                <a:tc>
                  <a:txBody>
                    <a:bodyPr/>
                    <a:lstStyle/>
                    <a:p>
                      <a:pPr algn="l"/>
                      <a:r>
                        <a:rPr sz="1500" b="1">
                          <a:solidFill>
                            <a:srgbClr val="FFFFFF"/>
                          </a:solidFill>
                        </a:rPr>
                        <a:t>Scenario</a:t>
                      </a:r>
                    </a:p>
                  </a:txBody>
                  <a:tcPr anchor="ctr">
                    <a:solidFill>
                      <a:srgbClr val="123A40"/>
                    </a:solidFill>
                  </a:tcPr>
                </a:tc>
                <a:tc>
                  <a:txBody>
                    <a:bodyPr/>
                    <a:lstStyle/>
                    <a:p>
                      <a:pPr algn="l"/>
                      <a:r>
                        <a:rPr sz="1500" b="1">
                          <a:solidFill>
                            <a:srgbClr val="FFFFFF"/>
                          </a:solidFill>
                        </a:rPr>
                        <a:t>Metric</a:t>
                      </a:r>
                    </a:p>
                  </a:txBody>
                  <a:tcPr anchor="ctr">
                    <a:solidFill>
                      <a:srgbClr val="123A40"/>
                    </a:solidFill>
                  </a:tcPr>
                </a:tc>
                <a:tc>
                  <a:txBody>
                    <a:bodyPr/>
                    <a:lstStyle/>
                    <a:p>
                      <a:pPr algn="ctr"/>
                      <a:r>
                        <a:rPr sz="1500" b="1">
                          <a:solidFill>
                            <a:srgbClr val="FFFFFF"/>
                          </a:solidFill>
                        </a:rPr>
                        <a:t>OSPF-like (baseline)</a:t>
                      </a:r>
                    </a:p>
                  </a:txBody>
                  <a:tcPr anchor="ctr">
                    <a:solidFill>
                      <a:srgbClr val="123A40"/>
                    </a:solidFill>
                  </a:tcPr>
                </a:tc>
                <a:tc>
                  <a:txBody>
                    <a:bodyPr/>
                    <a:lstStyle/>
                    <a:p>
                      <a:pPr algn="ctr"/>
                      <a:r>
                        <a:rPr sz="1500" b="1">
                          <a:solidFill>
                            <a:srgbClr val="FFFFFF"/>
                          </a:solidFill>
                        </a:rPr>
                        <a:t>IRP (proposed)</a:t>
                      </a:r>
                    </a:p>
                  </a:txBody>
                  <a:tcPr anchor="ctr">
                    <a:solidFill>
                      <a:srgbClr val="123A40"/>
                    </a:solidFill>
                  </a:tcPr>
                </a:tc>
                <a:tc>
                  <a:txBody>
                    <a:bodyPr/>
                    <a:lstStyle/>
                    <a:p>
                      <a:pPr algn="ctr"/>
                      <a:r>
                        <a:rPr sz="1500" b="1">
                          <a:solidFill>
                            <a:srgbClr val="FFFFFF"/>
                          </a:solidFill>
                        </a:rPr>
                        <a:t>Improvement</a:t>
                      </a:r>
                    </a:p>
                  </a:txBody>
                  <a:tcPr anchor="ctr">
                    <a:solidFill>
                      <a:srgbClr val="123A40"/>
                    </a:solidFill>
                  </a:tcPr>
                </a:tc>
                <a:extLst>
                  <a:ext uri="{0D108BD9-81ED-4DB2-BD59-A6C34878D82A}">
                    <a16:rowId xmlns:a16="http://schemas.microsoft.com/office/drawing/2014/main" val="10000"/>
                  </a:ext>
                </a:extLst>
              </a:tr>
              <a:tr h="457200">
                <a:tc>
                  <a:txBody>
                    <a:bodyPr/>
                    <a:lstStyle/>
                    <a:p>
                      <a:pPr algn="l"/>
                      <a:r>
                        <a:rPr sz="1500" b="0">
                          <a:solidFill>
                            <a:srgbClr val="1A1F24"/>
                          </a:solidFill>
                        </a:rPr>
                        <a:t>Bandwidth drop</a:t>
                      </a:r>
                    </a:p>
                  </a:txBody>
                  <a:tcPr anchor="ctr">
                    <a:solidFill>
                      <a:srgbClr val="EEF4F3"/>
                    </a:solidFill>
                  </a:tcPr>
                </a:tc>
                <a:tc>
                  <a:txBody>
                    <a:bodyPr/>
                    <a:lstStyle/>
                    <a:p>
                      <a:pPr algn="l"/>
                      <a:r>
                        <a:rPr sz="1500" b="0">
                          <a:solidFill>
                            <a:srgbClr val="1A1F24"/>
                          </a:solidFill>
                        </a:rPr>
                        <a:t>Delivery ratio</a:t>
                      </a:r>
                    </a:p>
                  </a:txBody>
                  <a:tcPr anchor="ctr">
                    <a:solidFill>
                      <a:srgbClr val="EEF4F3"/>
                    </a:solidFill>
                  </a:tcPr>
                </a:tc>
                <a:tc>
                  <a:txBody>
                    <a:bodyPr/>
                    <a:lstStyle/>
                    <a:p>
                      <a:pPr algn="ctr"/>
                      <a:r>
                        <a:rPr sz="1500" b="0">
                          <a:solidFill>
                            <a:srgbClr val="1A1F24"/>
                          </a:solidFill>
                        </a:rPr>
                        <a:t>0.867 ± 0.001</a:t>
                      </a:r>
                    </a:p>
                  </a:txBody>
                  <a:tcPr anchor="ctr">
                    <a:solidFill>
                      <a:srgbClr val="EEF4F3"/>
                    </a:solidFill>
                  </a:tcPr>
                </a:tc>
                <a:tc>
                  <a:txBody>
                    <a:bodyPr/>
                    <a:lstStyle/>
                    <a:p>
                      <a:pPr algn="ctr"/>
                      <a:r>
                        <a:rPr sz="1500" b="1">
                          <a:solidFill>
                            <a:srgbClr val="1A1F24"/>
                          </a:solidFill>
                        </a:rPr>
                        <a:t>0.996 ± 0.001</a:t>
                      </a:r>
                    </a:p>
                  </a:txBody>
                  <a:tcPr anchor="ctr">
                    <a:solidFill>
                      <a:srgbClr val="EEF4F3"/>
                    </a:solidFill>
                  </a:tcPr>
                </a:tc>
                <a:tc>
                  <a:txBody>
                    <a:bodyPr/>
                    <a:lstStyle/>
                    <a:p>
                      <a:pPr algn="ctr"/>
                      <a:r>
                        <a:rPr sz="1500" b="1">
                          <a:solidFill>
                            <a:srgbClr val="0E8C7F"/>
                          </a:solidFill>
                        </a:rPr>
                        <a:t>+14.9 %</a:t>
                      </a:r>
                    </a:p>
                  </a:txBody>
                  <a:tcPr anchor="ctr">
                    <a:solidFill>
                      <a:srgbClr val="EEF4F3"/>
                    </a:solidFill>
                  </a:tcPr>
                </a:tc>
                <a:extLst>
                  <a:ext uri="{0D108BD9-81ED-4DB2-BD59-A6C34878D82A}">
                    <a16:rowId xmlns:a16="http://schemas.microsoft.com/office/drawing/2014/main" val="10001"/>
                  </a:ext>
                </a:extLst>
              </a:tr>
              <a:tr h="457200">
                <a:tc>
                  <a:txBody>
                    <a:bodyPr/>
                    <a:lstStyle/>
                    <a:p>
                      <a:pPr algn="l"/>
                      <a:r>
                        <a:rPr sz="1500" b="0">
                          <a:solidFill>
                            <a:srgbClr val="1A1F24"/>
                          </a:solidFill>
                        </a:rPr>
                        <a:t>Packet loss increase</a:t>
                      </a:r>
                    </a:p>
                  </a:txBody>
                  <a:tcPr anchor="ctr">
                    <a:noFill/>
                  </a:tcPr>
                </a:tc>
                <a:tc>
                  <a:txBody>
                    <a:bodyPr/>
                    <a:lstStyle/>
                    <a:p>
                      <a:pPr algn="l"/>
                      <a:r>
                        <a:rPr sz="1500" b="0">
                          <a:solidFill>
                            <a:srgbClr val="1A1F24"/>
                          </a:solidFill>
                        </a:rPr>
                        <a:t>Time degraded (s)</a:t>
                      </a:r>
                    </a:p>
                  </a:txBody>
                  <a:tcPr anchor="ctr">
                    <a:noFill/>
                  </a:tcPr>
                </a:tc>
                <a:tc>
                  <a:txBody>
                    <a:bodyPr/>
                    <a:lstStyle/>
                    <a:p>
                      <a:pPr algn="ctr"/>
                      <a:r>
                        <a:rPr sz="1500" b="0">
                          <a:solidFill>
                            <a:srgbClr val="1A1F24"/>
                          </a:solidFill>
                        </a:rPr>
                        <a:t>23.58 ± 0.48</a:t>
                      </a:r>
                    </a:p>
                  </a:txBody>
                  <a:tcPr anchor="ctr">
                    <a:noFill/>
                  </a:tcPr>
                </a:tc>
                <a:tc>
                  <a:txBody>
                    <a:bodyPr/>
                    <a:lstStyle/>
                    <a:p>
                      <a:pPr algn="ctr"/>
                      <a:r>
                        <a:rPr sz="1500" b="1">
                          <a:solidFill>
                            <a:srgbClr val="1A1F24"/>
                          </a:solidFill>
                        </a:rPr>
                        <a:t>0.10 ± 0.23</a:t>
                      </a:r>
                    </a:p>
                  </a:txBody>
                  <a:tcPr anchor="ctr">
                    <a:noFill/>
                  </a:tcPr>
                </a:tc>
                <a:tc>
                  <a:txBody>
                    <a:bodyPr/>
                    <a:lstStyle/>
                    <a:p>
                      <a:pPr algn="ctr"/>
                      <a:r>
                        <a:rPr sz="1500" b="1">
                          <a:solidFill>
                            <a:srgbClr val="0E8C7F"/>
                          </a:solidFill>
                        </a:rPr>
                        <a:t>+99.6 %</a:t>
                      </a:r>
                    </a:p>
                  </a:txBody>
                  <a:tcPr anchor="ctr">
                    <a:noFill/>
                  </a:tcPr>
                </a:tc>
                <a:extLst>
                  <a:ext uri="{0D108BD9-81ED-4DB2-BD59-A6C34878D82A}">
                    <a16:rowId xmlns:a16="http://schemas.microsoft.com/office/drawing/2014/main" val="10002"/>
                  </a:ext>
                </a:extLst>
              </a:tr>
              <a:tr h="457200">
                <a:tc>
                  <a:txBody>
                    <a:bodyPr/>
                    <a:lstStyle/>
                    <a:p>
                      <a:pPr algn="l"/>
                      <a:r>
                        <a:rPr sz="1500" b="0">
                          <a:solidFill>
                            <a:srgbClr val="1A1F24"/>
                          </a:solidFill>
                        </a:rPr>
                        <a:t>Link failure</a:t>
                      </a:r>
                    </a:p>
                  </a:txBody>
                  <a:tcPr anchor="ctr">
                    <a:solidFill>
                      <a:srgbClr val="EEF4F3"/>
                    </a:solidFill>
                  </a:tcPr>
                </a:tc>
                <a:tc>
                  <a:txBody>
                    <a:bodyPr/>
                    <a:lstStyle/>
                    <a:p>
                      <a:pPr algn="l"/>
                      <a:r>
                        <a:rPr sz="1500" b="0">
                          <a:solidFill>
                            <a:srgbClr val="1A1F24"/>
                          </a:solidFill>
                        </a:rPr>
                        <a:t>Recovery time (s)</a:t>
                      </a:r>
                    </a:p>
                  </a:txBody>
                  <a:tcPr anchor="ctr">
                    <a:solidFill>
                      <a:srgbClr val="EEF4F3"/>
                    </a:solidFill>
                  </a:tcPr>
                </a:tc>
                <a:tc>
                  <a:txBody>
                    <a:bodyPr/>
                    <a:lstStyle/>
                    <a:p>
                      <a:pPr algn="ctr"/>
                      <a:r>
                        <a:rPr sz="1500" b="0">
                          <a:solidFill>
                            <a:srgbClr val="1A1F24"/>
                          </a:solidFill>
                        </a:rPr>
                        <a:t>1.15 ± 0.15</a:t>
                      </a:r>
                    </a:p>
                  </a:txBody>
                  <a:tcPr anchor="ctr">
                    <a:solidFill>
                      <a:srgbClr val="EEF4F3"/>
                    </a:solidFill>
                  </a:tcPr>
                </a:tc>
                <a:tc>
                  <a:txBody>
                    <a:bodyPr/>
                    <a:lstStyle/>
                    <a:p>
                      <a:pPr algn="ctr"/>
                      <a:r>
                        <a:rPr sz="1500" b="1">
                          <a:solidFill>
                            <a:srgbClr val="1A1F24"/>
                          </a:solidFill>
                        </a:rPr>
                        <a:t>0.13 ± 0.14</a:t>
                      </a:r>
                    </a:p>
                  </a:txBody>
                  <a:tcPr anchor="ctr">
                    <a:solidFill>
                      <a:srgbClr val="EEF4F3"/>
                    </a:solidFill>
                  </a:tcPr>
                </a:tc>
                <a:tc>
                  <a:txBody>
                    <a:bodyPr/>
                    <a:lstStyle/>
                    <a:p>
                      <a:pPr algn="ctr"/>
                      <a:r>
                        <a:rPr sz="1500" b="1">
                          <a:solidFill>
                            <a:srgbClr val="0E8C7F"/>
                          </a:solidFill>
                        </a:rPr>
                        <a:t>+88.7 %</a:t>
                      </a:r>
                    </a:p>
                  </a:txBody>
                  <a:tcPr anchor="ctr">
                    <a:solidFill>
                      <a:srgbClr val="EEF4F3"/>
                    </a:solidFill>
                  </a:tcPr>
                </a:tc>
                <a:extLst>
                  <a:ext uri="{0D108BD9-81ED-4DB2-BD59-A6C34878D82A}">
                    <a16:rowId xmlns:a16="http://schemas.microsoft.com/office/drawing/2014/main" val="10003"/>
                  </a:ext>
                </a:extLst>
              </a:tr>
              <a:tr h="457200">
                <a:tc>
                  <a:txBody>
                    <a:bodyPr/>
                    <a:lstStyle/>
                    <a:p>
                      <a:pPr algn="l"/>
                      <a:r>
                        <a:rPr sz="1500" b="0">
                          <a:solidFill>
                            <a:srgbClr val="1A1F24"/>
                          </a:solidFill>
                        </a:rPr>
                        <a:t>Congestion build-up</a:t>
                      </a:r>
                    </a:p>
                  </a:txBody>
                  <a:tcPr anchor="ctr">
                    <a:noFill/>
                  </a:tcPr>
                </a:tc>
                <a:tc>
                  <a:txBody>
                    <a:bodyPr/>
                    <a:lstStyle/>
                    <a:p>
                      <a:pPr algn="l"/>
                      <a:r>
                        <a:rPr sz="1500" b="0">
                          <a:solidFill>
                            <a:srgbClr val="1A1F24"/>
                          </a:solidFill>
                        </a:rPr>
                        <a:t>Mean latency (ms)</a:t>
                      </a:r>
                    </a:p>
                  </a:txBody>
                  <a:tcPr anchor="ctr">
                    <a:noFill/>
                  </a:tcPr>
                </a:tc>
                <a:tc>
                  <a:txBody>
                    <a:bodyPr/>
                    <a:lstStyle/>
                    <a:p>
                      <a:pPr algn="ctr"/>
                      <a:r>
                        <a:rPr sz="1500" b="0">
                          <a:solidFill>
                            <a:srgbClr val="1A1F24"/>
                          </a:solidFill>
                        </a:rPr>
                        <a:t>57.2 ± 0.1</a:t>
                      </a:r>
                    </a:p>
                  </a:txBody>
                  <a:tcPr anchor="ctr">
                    <a:noFill/>
                  </a:tcPr>
                </a:tc>
                <a:tc>
                  <a:txBody>
                    <a:bodyPr/>
                    <a:lstStyle/>
                    <a:p>
                      <a:pPr algn="ctr"/>
                      <a:r>
                        <a:rPr sz="1500" b="1">
                          <a:solidFill>
                            <a:srgbClr val="1A1F24"/>
                          </a:solidFill>
                        </a:rPr>
                        <a:t>23.9 ± 0.3</a:t>
                      </a:r>
                    </a:p>
                  </a:txBody>
                  <a:tcPr anchor="ctr">
                    <a:noFill/>
                  </a:tcPr>
                </a:tc>
                <a:tc>
                  <a:txBody>
                    <a:bodyPr/>
                    <a:lstStyle/>
                    <a:p>
                      <a:pPr algn="ctr"/>
                      <a:r>
                        <a:rPr sz="1500" b="1">
                          <a:solidFill>
                            <a:srgbClr val="0E8C7F"/>
                          </a:solidFill>
                        </a:rPr>
                        <a:t>+58.2 %</a:t>
                      </a:r>
                    </a:p>
                  </a:txBody>
                  <a:tcPr anchor="ctr">
                    <a:noFill/>
                  </a:tcPr>
                </a:tc>
                <a:extLst>
                  <a:ext uri="{0D108BD9-81ED-4DB2-BD59-A6C34878D82A}">
                    <a16:rowId xmlns:a16="http://schemas.microsoft.com/office/drawing/2014/main" val="10004"/>
                  </a:ext>
                </a:extLst>
              </a:tr>
              <a:tr h="457200">
                <a:tc>
                  <a:txBody>
                    <a:bodyPr/>
                    <a:lstStyle/>
                    <a:p>
                      <a:pPr algn="l"/>
                      <a:r>
                        <a:rPr sz="1500" b="0">
                          <a:solidFill>
                            <a:srgbClr val="1A1F24"/>
                          </a:solidFill>
                        </a:rPr>
                        <a:t>Flapping link</a:t>
                      </a:r>
                    </a:p>
                  </a:txBody>
                  <a:tcPr anchor="ctr">
                    <a:solidFill>
                      <a:srgbClr val="EEF4F3"/>
                    </a:solidFill>
                  </a:tcPr>
                </a:tc>
                <a:tc>
                  <a:txBody>
                    <a:bodyPr/>
                    <a:lstStyle/>
                    <a:p>
                      <a:pPr algn="l"/>
                      <a:r>
                        <a:rPr sz="1500" b="0">
                          <a:solidFill>
                            <a:srgbClr val="1A1F24"/>
                          </a:solidFill>
                        </a:rPr>
                        <a:t>Route changes</a:t>
                      </a:r>
                    </a:p>
                  </a:txBody>
                  <a:tcPr anchor="ctr">
                    <a:solidFill>
                      <a:srgbClr val="EEF4F3"/>
                    </a:solidFill>
                  </a:tcPr>
                </a:tc>
                <a:tc>
                  <a:txBody>
                    <a:bodyPr/>
                    <a:lstStyle/>
                    <a:p>
                      <a:pPr algn="ctr"/>
                      <a:r>
                        <a:rPr sz="1500" b="0">
                          <a:solidFill>
                            <a:srgbClr val="1A1F24"/>
                          </a:solidFill>
                        </a:rPr>
                        <a:t>12.0 ± 0.0</a:t>
                      </a:r>
                    </a:p>
                  </a:txBody>
                  <a:tcPr anchor="ctr">
                    <a:solidFill>
                      <a:srgbClr val="EEF4F3"/>
                    </a:solidFill>
                  </a:tcPr>
                </a:tc>
                <a:tc>
                  <a:txBody>
                    <a:bodyPr/>
                    <a:lstStyle/>
                    <a:p>
                      <a:pPr algn="ctr"/>
                      <a:r>
                        <a:rPr sz="1500" b="1">
                          <a:solidFill>
                            <a:srgbClr val="1A1F24"/>
                          </a:solidFill>
                        </a:rPr>
                        <a:t>2.0 ± 0.0</a:t>
                      </a:r>
                    </a:p>
                  </a:txBody>
                  <a:tcPr anchor="ctr">
                    <a:solidFill>
                      <a:srgbClr val="EEF4F3"/>
                    </a:solidFill>
                  </a:tcPr>
                </a:tc>
                <a:tc>
                  <a:txBody>
                    <a:bodyPr/>
                    <a:lstStyle/>
                    <a:p>
                      <a:pPr algn="ctr"/>
                      <a:r>
                        <a:rPr sz="1500" b="1">
                          <a:solidFill>
                            <a:srgbClr val="0E8C7F"/>
                          </a:solidFill>
                        </a:rPr>
                        <a:t>+83.3 %</a:t>
                      </a:r>
                    </a:p>
                  </a:txBody>
                  <a:tcPr anchor="ctr">
                    <a:solidFill>
                      <a:srgbClr val="EEF4F3"/>
                    </a:solidFill>
                  </a:tcPr>
                </a:tc>
                <a:extLst>
                  <a:ext uri="{0D108BD9-81ED-4DB2-BD59-A6C34878D82A}">
                    <a16:rowId xmlns:a16="http://schemas.microsoft.com/office/drawing/2014/main" val="10005"/>
                  </a:ext>
                </a:extLst>
              </a:tr>
              <a:tr h="457200">
                <a:tc>
                  <a:txBody>
                    <a:bodyPr/>
                    <a:lstStyle/>
                    <a:p>
                      <a:pPr algn="l"/>
                      <a:r>
                        <a:rPr sz="1500" b="0">
                          <a:solidFill>
                            <a:srgbClr val="1A1F24"/>
                          </a:solidFill>
                        </a:rPr>
                        <a:t>Lossy shortcut</a:t>
                      </a:r>
                    </a:p>
                  </a:txBody>
                  <a:tcPr anchor="ctr">
                    <a:noFill/>
                  </a:tcPr>
                </a:tc>
                <a:tc>
                  <a:txBody>
                    <a:bodyPr/>
                    <a:lstStyle/>
                    <a:p>
                      <a:pPr algn="l"/>
                      <a:r>
                        <a:rPr sz="1500" b="0">
                          <a:solidFill>
                            <a:srgbClr val="1A1F24"/>
                          </a:solidFill>
                        </a:rPr>
                        <a:t>Delivery ratio</a:t>
                      </a:r>
                    </a:p>
                  </a:txBody>
                  <a:tcPr anchor="ctr">
                    <a:noFill/>
                  </a:tcPr>
                </a:tc>
                <a:tc>
                  <a:txBody>
                    <a:bodyPr/>
                    <a:lstStyle/>
                    <a:p>
                      <a:pPr algn="ctr"/>
                      <a:r>
                        <a:rPr sz="1500" b="0">
                          <a:solidFill>
                            <a:srgbClr val="1A1F24"/>
                          </a:solidFill>
                        </a:rPr>
                        <a:t>0.924 ± 0.001</a:t>
                      </a:r>
                    </a:p>
                  </a:txBody>
                  <a:tcPr anchor="ctr">
                    <a:noFill/>
                  </a:tcPr>
                </a:tc>
                <a:tc>
                  <a:txBody>
                    <a:bodyPr/>
                    <a:lstStyle/>
                    <a:p>
                      <a:pPr algn="ctr"/>
                      <a:r>
                        <a:rPr sz="1500" b="1">
                          <a:solidFill>
                            <a:srgbClr val="1A1F24"/>
                          </a:solidFill>
                        </a:rPr>
                        <a:t>0.994 ± 0.000</a:t>
                      </a:r>
                    </a:p>
                  </a:txBody>
                  <a:tcPr anchor="ctr">
                    <a:noFill/>
                  </a:tcPr>
                </a:tc>
                <a:tc>
                  <a:txBody>
                    <a:bodyPr/>
                    <a:lstStyle/>
                    <a:p>
                      <a:pPr algn="ctr"/>
                      <a:r>
                        <a:rPr sz="1500" b="1">
                          <a:solidFill>
                            <a:srgbClr val="0E8C7F"/>
                          </a:solidFill>
                        </a:rPr>
                        <a:t>+7.6 %</a:t>
                      </a:r>
                    </a:p>
                  </a:txBody>
                  <a:tcPr anchor="ctr">
                    <a:noFill/>
                  </a:tcPr>
                </a:tc>
                <a:extLst>
                  <a:ext uri="{0D108BD9-81ED-4DB2-BD59-A6C34878D82A}">
                    <a16:rowId xmlns:a16="http://schemas.microsoft.com/office/drawing/2014/main" val="10006"/>
                  </a:ext>
                </a:extLst>
              </a:tr>
              <a:tr h="457200">
                <a:tc>
                  <a:txBody>
                    <a:bodyPr/>
                    <a:lstStyle/>
                    <a:p>
                      <a:pPr algn="l"/>
                      <a:r>
                        <a:rPr sz="1500" b="0">
                          <a:solidFill>
                            <a:srgbClr val="1A1F24"/>
                          </a:solidFill>
                        </a:rPr>
                        <a:t>Steady state</a:t>
                      </a:r>
                    </a:p>
                  </a:txBody>
                  <a:tcPr anchor="ctr">
                    <a:solidFill>
                      <a:srgbClr val="EEF4F3"/>
                    </a:solidFill>
                  </a:tcPr>
                </a:tc>
                <a:tc>
                  <a:txBody>
                    <a:bodyPr/>
                    <a:lstStyle/>
                    <a:p>
                      <a:pPr algn="l"/>
                      <a:r>
                        <a:rPr sz="1500" b="0">
                          <a:solidFill>
                            <a:srgbClr val="1A1F24"/>
                          </a:solidFill>
                        </a:rPr>
                        <a:t>Delivery ratio</a:t>
                      </a:r>
                    </a:p>
                  </a:txBody>
                  <a:tcPr anchor="ctr">
                    <a:solidFill>
                      <a:srgbClr val="EEF4F3"/>
                    </a:solidFill>
                  </a:tcPr>
                </a:tc>
                <a:tc>
                  <a:txBody>
                    <a:bodyPr/>
                    <a:lstStyle/>
                    <a:p>
                      <a:pPr algn="ctr"/>
                      <a:r>
                        <a:rPr sz="1500" b="0">
                          <a:solidFill>
                            <a:srgbClr val="1A1F24"/>
                          </a:solidFill>
                        </a:rPr>
                        <a:t>0.997 ± 0.000</a:t>
                      </a:r>
                    </a:p>
                  </a:txBody>
                  <a:tcPr anchor="ctr">
                    <a:solidFill>
                      <a:srgbClr val="EEF4F3"/>
                    </a:solidFill>
                  </a:tcPr>
                </a:tc>
                <a:tc>
                  <a:txBody>
                    <a:bodyPr/>
                    <a:lstStyle/>
                    <a:p>
                      <a:pPr algn="ctr"/>
                      <a:r>
                        <a:rPr sz="1500" b="1">
                          <a:solidFill>
                            <a:srgbClr val="1A1F24"/>
                          </a:solidFill>
                        </a:rPr>
                        <a:t>0.997 ± 0.000</a:t>
                      </a:r>
                    </a:p>
                  </a:txBody>
                  <a:tcPr anchor="ctr">
                    <a:solidFill>
                      <a:srgbClr val="EEF4F3"/>
                    </a:solidFill>
                  </a:tcPr>
                </a:tc>
                <a:tc>
                  <a:txBody>
                    <a:bodyPr/>
                    <a:lstStyle/>
                    <a:p>
                      <a:pPr algn="ctr"/>
                      <a:r>
                        <a:rPr sz="1500" b="1">
                          <a:solidFill>
                            <a:srgbClr val="0E8C7F"/>
                          </a:solidFill>
                        </a:rPr>
                        <a:t>same</a:t>
                      </a:r>
                    </a:p>
                  </a:txBody>
                  <a:tcPr anchor="ctr">
                    <a:solidFill>
                      <a:srgbClr val="EEF4F3"/>
                    </a:solidFill>
                  </a:tcPr>
                </a:tc>
                <a:extLst>
                  <a:ext uri="{0D108BD9-81ED-4DB2-BD59-A6C34878D82A}">
                    <a16:rowId xmlns:a16="http://schemas.microsoft.com/office/drawing/2014/main" val="10007"/>
                  </a:ext>
                </a:extLst>
              </a:tr>
              <a:tr h="457200">
                <a:tc>
                  <a:txBody>
                    <a:bodyPr/>
                    <a:lstStyle/>
                    <a:p>
                      <a:pPr algn="l"/>
                      <a:r>
                        <a:rPr sz="1500" b="0">
                          <a:solidFill>
                            <a:srgbClr val="1A1F24"/>
                          </a:solidFill>
                        </a:rPr>
                        <a:t>Packet loss increase</a:t>
                      </a:r>
                    </a:p>
                  </a:txBody>
                  <a:tcPr anchor="ctr">
                    <a:noFill/>
                  </a:tcPr>
                </a:tc>
                <a:tc>
                  <a:txBody>
                    <a:bodyPr/>
                    <a:lstStyle/>
                    <a:p>
                      <a:pPr algn="l"/>
                      <a:r>
                        <a:rPr sz="1500" b="0">
                          <a:solidFill>
                            <a:srgbClr val="1A1F24"/>
                          </a:solidFill>
                        </a:rPr>
                        <a:t>Mean latency (ms)</a:t>
                      </a:r>
                    </a:p>
                  </a:txBody>
                  <a:tcPr anchor="ctr">
                    <a:noFill/>
                  </a:tcPr>
                </a:tc>
                <a:tc>
                  <a:txBody>
                    <a:bodyPr/>
                    <a:lstStyle/>
                    <a:p>
                      <a:pPr algn="ctr"/>
                      <a:r>
                        <a:rPr sz="1500" b="0">
                          <a:solidFill>
                            <a:srgbClr val="1A1F24"/>
                          </a:solidFill>
                        </a:rPr>
                        <a:t>20.1 ± 0.0</a:t>
                      </a:r>
                    </a:p>
                  </a:txBody>
                  <a:tcPr anchor="ctr">
                    <a:noFill/>
                  </a:tcPr>
                </a:tc>
                <a:tc>
                  <a:txBody>
                    <a:bodyPr/>
                    <a:lstStyle/>
                    <a:p>
                      <a:pPr algn="ctr"/>
                      <a:r>
                        <a:rPr sz="1500" b="1">
                          <a:solidFill>
                            <a:srgbClr val="1A1F24"/>
                          </a:solidFill>
                        </a:rPr>
                        <a:t>23.6 ± 0.2</a:t>
                      </a:r>
                    </a:p>
                  </a:txBody>
                  <a:tcPr anchor="ctr">
                    <a:noFill/>
                  </a:tcPr>
                </a:tc>
                <a:tc>
                  <a:txBody>
                    <a:bodyPr/>
                    <a:lstStyle/>
                    <a:p>
                      <a:pPr algn="ctr"/>
                      <a:r>
                        <a:rPr sz="1500" b="1">
                          <a:solidFill>
                            <a:srgbClr val="C0501E"/>
                          </a:solidFill>
                        </a:rPr>
                        <a:t>-17.1 %</a:t>
                      </a:r>
                    </a:p>
                  </a:txBody>
                  <a:tcPr anchor="ctr">
                    <a:noFill/>
                  </a:tcPr>
                </a:tc>
                <a:extLst>
                  <a:ext uri="{0D108BD9-81ED-4DB2-BD59-A6C34878D82A}">
                    <a16:rowId xmlns:a16="http://schemas.microsoft.com/office/drawing/2014/main" val="10008"/>
                  </a:ext>
                </a:extLst>
              </a:tr>
            </a:tbl>
          </a:graphicData>
        </a:graphic>
      </p:graphicFrame>
      <p:sp>
        <p:nvSpPr>
          <p:cNvPr id="27" name="TextBox 26"/>
          <p:cNvSpPr txBox="1"/>
          <p:nvPr/>
        </p:nvSpPr>
        <p:spPr>
          <a:xfrm>
            <a:off x="548640" y="5669280"/>
            <a:ext cx="11064240" cy="640080"/>
          </a:xfrm>
          <a:prstGeom prst="rect">
            <a:avLst/>
          </a:prstGeom>
          <a:noFill/>
        </p:spPr>
        <p:txBody>
          <a:bodyPr wrap="square">
            <a:spAutoFit/>
          </a:bodyPr>
          <a:lstStyle/>
          <a:p>
            <a:r>
              <a:rPr sz="1400">
                <a:solidFill>
                  <a:srgbClr val="5B6770"/>
                </a:solidFill>
              </a:rPr>
              <a:t>Improvement is positive when IRP is better. All delivery-ratio gains in fault scenarios are significant (Welch's t-test, p &lt; 0.05). The last row is the deliberate latency trade-off.</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400" b="1" dirty="0">
                <a:solidFill>
                  <a:schemeClr val="tx2"/>
                </a:solidFill>
              </a:rPr>
              <a:t>Results: time with degraded service during a 25 s fault</a:t>
            </a:r>
            <a:endParaRPr lang="en-US" sz="3400" dirty="0"/>
          </a:p>
        </p:txBody>
      </p:sp>
      <p:graphicFrame>
        <p:nvGraphicFramePr>
          <p:cNvPr id="3" name="Chart 0"/>
          <p:cNvGraphicFramePr/>
          <p:nvPr/>
        </p:nvGraphicFramePr>
        <p:xfrm>
          <a:off x="548640" y="1371600"/>
          <a:ext cx="7680960" cy="4754880"/>
        </p:xfrm>
        <a:graphic>
          <a:graphicData uri="http://schemas.openxmlformats.org/drawingml/2006/chart">
            <c:chart xmlns:c="http://schemas.openxmlformats.org/drawingml/2006/chart" xmlns:r="http://schemas.openxmlformats.org/officeDocument/2006/relationships" r:id="rId3"/>
          </a:graphicData>
        </a:graphic>
      </p:graphicFrame>
      <p:sp>
        <p:nvSpPr>
          <p:cNvPr id="4" name="chartNote"/>
          <p:cNvSpPr/>
          <p:nvPr/>
        </p:nvSpPr>
        <p:spPr>
          <a:xfrm>
            <a:off x="8595360" y="1463040"/>
            <a:ext cx="3017520" cy="4572000"/>
          </a:xfrm>
          <a:prstGeom prst="roundRect">
            <a:avLst>
              <a:gd name="adj" fmla="val 3636"/>
            </a:avLst>
          </a:prstGeom>
          <a:solidFill>
            <a:srgbClr val="F3F6F6"/>
          </a:solidFill>
          <a:ln w="12700">
            <a:solidFill>
              <a:srgbClr val="F3F6F6"/>
            </a:solidFill>
            <a:prstDash val="solid"/>
          </a:ln>
        </p:spPr>
        <p:txBody>
          <a:bodyPr/>
          <a:lstStyle/>
          <a:p>
            <a:endParaRPr lang="en-US"/>
          </a:p>
        </p:txBody>
      </p:sp>
      <p:sp>
        <p:nvSpPr>
          <p:cNvPr id="5" name="Text 2"/>
          <p:cNvSpPr txBox="1"/>
          <p:nvPr/>
        </p:nvSpPr>
        <p:spPr>
          <a:xfrm>
            <a:off x="8823960" y="1645920"/>
            <a:ext cx="2606040" cy="411480"/>
          </a:xfrm>
          <a:prstGeom prst="rect">
            <a:avLst/>
          </a:prstGeom>
          <a:noFill/>
          <a:ln/>
        </p:spPr>
        <p:txBody>
          <a:bodyPr wrap="square" lIns="0" tIns="0" rIns="0" bIns="0" rtlCol="0" anchor="t"/>
          <a:lstStyle/>
          <a:p>
            <a:pPr marL="0" indent="0">
              <a:buNone/>
            </a:pPr>
            <a:r>
              <a:rPr lang="en-US" sz="1800" b="1" dirty="0">
                <a:solidFill>
                  <a:schemeClr val="tx2"/>
                </a:solidFill>
              </a:rPr>
              <a:t>What this shows</a:t>
            </a:r>
            <a:endParaRPr lang="en-US" sz="1800" dirty="0"/>
          </a:p>
        </p:txBody>
      </p:sp>
      <p:sp>
        <p:nvSpPr>
          <p:cNvPr id="6" name="Text 3"/>
          <p:cNvSpPr txBox="1"/>
          <p:nvPr/>
        </p:nvSpPr>
        <p:spPr>
          <a:xfrm>
            <a:off x="8823960" y="2148840"/>
            <a:ext cx="2606040" cy="37490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OSPF keeps using a link that is slow, lossy or full for almost the whole fault.</a:t>
            </a:r>
            <a:endParaRPr lang="en-US" sz="1500" dirty="0"/>
          </a:p>
          <a:p>
            <a:pPr marL="342900" indent="-342900">
              <a:spcAft>
                <a:spcPts val="800"/>
              </a:spcAft>
              <a:buSzPct val="100000"/>
              <a:buChar char="•"/>
            </a:pPr>
            <a:r>
              <a:rPr lang="en-US" sz="1500" dirty="0">
                <a:solidFill>
                  <a:schemeClr val="tx1"/>
                </a:solidFill>
              </a:rPr>
              <a:t>Our protocol moves away in under a second in every case.</a:t>
            </a:r>
            <a:endParaRPr lang="en-US" sz="1500" dirty="0"/>
          </a:p>
          <a:p>
            <a:pPr marL="342900" indent="-342900">
              <a:spcAft>
                <a:spcPts val="800"/>
              </a:spcAft>
              <a:buSzPct val="100000"/>
              <a:buChar char="•"/>
            </a:pPr>
            <a:r>
              <a:rPr lang="en-US" sz="1500" dirty="0">
                <a:solidFill>
                  <a:schemeClr val="tx1"/>
                </a:solidFill>
              </a:rPr>
              <a:t>Latency spike: neither loses throughput, but ours cuts delay from 49 to 24 ms.</a:t>
            </a:r>
            <a:endParaRPr lang="en-US" sz="15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9B"/>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400" b="1" dirty="0">
                <a:solidFill>
                  <a:schemeClr val="tx2"/>
                </a:solidFill>
              </a:rPr>
              <a:t>Results: what the test flow actually experienced</a:t>
            </a:r>
            <a:endParaRPr lang="en-US" sz="3400" dirty="0"/>
          </a:p>
        </p:txBody>
      </p:sp>
      <p:pic>
        <p:nvPicPr>
          <p:cNvPr id="3" name="Image 0" descr="Throughput and latency of the test flow over time in six fault scenarios for all four routing policies"/>
          <p:cNvPicPr>
            <a:picLocks noChangeAspect="1"/>
          </p:cNvPicPr>
          <p:nvPr/>
        </p:nvPicPr>
        <p:blipFill>
          <a:blip r:embed="rId3"/>
          <a:stretch>
            <a:fillRect/>
          </a:stretch>
        </p:blipFill>
        <p:spPr>
          <a:xfrm>
            <a:off x="1523848" y="1234440"/>
            <a:ext cx="9144000" cy="4783015"/>
          </a:xfrm>
          <a:prstGeom prst="rect">
            <a:avLst/>
          </a:prstGeom>
        </p:spPr>
      </p:pic>
      <p:sp>
        <p:nvSpPr>
          <p:cNvPr id="4" name="Text 1"/>
          <p:cNvSpPr txBox="1"/>
          <p:nvPr/>
        </p:nvSpPr>
        <p:spPr>
          <a:xfrm>
            <a:off x="548640" y="6127183"/>
            <a:ext cx="11064240" cy="365760"/>
          </a:xfrm>
          <a:prstGeom prst="rect">
            <a:avLst/>
          </a:prstGeom>
          <a:noFill/>
          <a:ln/>
        </p:spPr>
        <p:txBody>
          <a:bodyPr wrap="square" lIns="0" tIns="0" rIns="0" bIns="0" rtlCol="0" anchor="t"/>
          <a:lstStyle/>
          <a:p>
            <a:pPr marL="0" indent="0" algn="ctr">
              <a:buNone/>
            </a:pPr>
            <a:r>
              <a:rPr lang="en-US" sz="1400" i="1" dirty="0">
                <a:solidFill>
                  <a:schemeClr val="accent4"/>
                </a:solidFill>
              </a:rPr>
              <a:t>Blue = our protocol, orange = OSPF-like. Grey band = fault window. Blue stays at the full 40 Mb/s while the others drop.</a:t>
            </a:r>
            <a:endParaRPr lang="en-US" sz="14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9B"/>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400" b="1" dirty="0">
                <a:solidFill>
                  <a:schemeClr val="tx2"/>
                </a:solidFill>
              </a:rPr>
              <a:t>Analysis: every route change is explained</a:t>
            </a:r>
            <a:endParaRPr lang="en-US" sz="3400" dirty="0"/>
          </a:p>
        </p:txBody>
      </p:sp>
      <p:sp>
        <p:nvSpPr>
          <p:cNvPr id="3" name="log"/>
          <p:cNvSpPr/>
          <p:nvPr/>
        </p:nvSpPr>
        <p:spPr>
          <a:xfrm>
            <a:off x="548640" y="1463040"/>
            <a:ext cx="6400800" cy="4480560"/>
          </a:xfrm>
          <a:prstGeom prst="roundRect">
            <a:avLst>
              <a:gd name="adj" fmla="val 2449"/>
            </a:avLst>
          </a:prstGeom>
          <a:solidFill>
            <a:schemeClr val="tx2"/>
          </a:solidFill>
          <a:ln w="12700">
            <a:solidFill>
              <a:schemeClr val="tx2"/>
            </a:solidFill>
            <a:prstDash val="solid"/>
          </a:ln>
        </p:spPr>
        <p:txBody>
          <a:bodyPr/>
          <a:lstStyle/>
          <a:p>
            <a:endParaRPr lang="en-US"/>
          </a:p>
        </p:txBody>
      </p:sp>
      <p:sp>
        <p:nvSpPr>
          <p:cNvPr id="4" name="Text 2"/>
          <p:cNvSpPr txBox="1"/>
          <p:nvPr/>
        </p:nvSpPr>
        <p:spPr>
          <a:xfrm>
            <a:off x="822960" y="1691640"/>
            <a:ext cx="5852160" cy="365760"/>
          </a:xfrm>
          <a:prstGeom prst="rect">
            <a:avLst/>
          </a:prstGeom>
          <a:noFill/>
          <a:ln/>
        </p:spPr>
        <p:txBody>
          <a:bodyPr wrap="square" lIns="0" tIns="0" rIns="0" bIns="0" rtlCol="0" anchor="t"/>
          <a:lstStyle/>
          <a:p>
            <a:pPr marL="0" indent="0">
              <a:buNone/>
            </a:pPr>
            <a:r>
              <a:rPr lang="en-US" sz="1700" b="1" dirty="0">
                <a:solidFill>
                  <a:srgbClr val="B9D9D4"/>
                </a:solidFill>
              </a:rPr>
              <a:t>Route-change log: link B-E fails at 15 s</a:t>
            </a:r>
            <a:endParaRPr lang="en-US" sz="1700" dirty="0"/>
          </a:p>
        </p:txBody>
      </p:sp>
      <p:sp>
        <p:nvSpPr>
          <p:cNvPr id="5" name="Text 3"/>
          <p:cNvSpPr txBox="1"/>
          <p:nvPr/>
        </p:nvSpPr>
        <p:spPr>
          <a:xfrm>
            <a:off x="822960" y="2240280"/>
            <a:ext cx="5943600" cy="3474720"/>
          </a:xfrm>
          <a:prstGeom prst="rect">
            <a:avLst/>
          </a:prstGeom>
          <a:noFill/>
          <a:ln/>
        </p:spPr>
        <p:txBody>
          <a:bodyPr wrap="square" lIns="0" tIns="0" rIns="0" bIns="0" rtlCol="0" anchor="t"/>
          <a:lstStyle/>
          <a:p>
            <a:pPr marL="0" indent="0">
              <a:spcAft>
                <a:spcPts val="400"/>
              </a:spcAft>
              <a:buNone/>
            </a:pPr>
            <a:r>
              <a:rPr lang="en-US" sz="1600" b="1" dirty="0">
                <a:solidFill>
                  <a:srgbClr val="9FE0D5"/>
                </a:solidFill>
                <a:latin typeface="Calibri" pitchFamily="34" charset="0"/>
                <a:ea typeface="Calibri" pitchFamily="34" charset="-122"/>
                <a:cs typeface="Calibri" pitchFamily="34" charset="-120"/>
              </a:rPr>
              <a:t>Our protocol</a:t>
            </a:r>
            <a:endParaRPr lang="en-US" sz="1500" dirty="0"/>
          </a:p>
          <a:p>
            <a:pPr marL="0" indent="0">
              <a:spcAft>
                <a:spcPts val="400"/>
              </a:spcAft>
              <a:buNone/>
            </a:pPr>
            <a:r>
              <a:rPr lang="en-US" sz="1500" b="1" dirty="0">
                <a:solidFill>
                  <a:schemeClr val="bg1"/>
                </a:solidFill>
                <a:latin typeface="Courier New" pitchFamily="34" charset="0"/>
                <a:ea typeface="Courier New" pitchFamily="34" charset="-122"/>
                <a:cs typeface="Courier New" pitchFamily="34" charset="-120"/>
              </a:rPr>
              <a:t>15.3 s  A-B-E-H  =&gt;  A-C-F-H</a:t>
            </a:r>
            <a:endParaRPr lang="en-US" sz="1500" dirty="0"/>
          </a:p>
          <a:p>
            <a:pPr marL="0" indent="0">
              <a:spcAft>
                <a:spcPts val="400"/>
              </a:spcAft>
              <a:buNone/>
            </a:pPr>
            <a:r>
              <a:rPr lang="en-US" sz="1500" dirty="0">
                <a:solidFill>
                  <a:srgbClr val="F6C08F"/>
                </a:solidFill>
                <a:latin typeface="Courier New" pitchFamily="34" charset="0"/>
                <a:ea typeface="Courier New" pitchFamily="34" charset="-122"/>
                <a:cs typeface="Courier New" pitchFamily="34" charset="-120"/>
              </a:rPr>
              <a:t>  loss on B-E ~30%, 73% cheaper path</a:t>
            </a:r>
            <a:endParaRPr lang="en-US" sz="1500" dirty="0"/>
          </a:p>
          <a:p>
            <a:pPr marL="0" indent="0">
              <a:spcAft>
                <a:spcPts val="400"/>
              </a:spcAft>
              <a:buNone/>
            </a:pPr>
            <a:r>
              <a:rPr lang="en-US" sz="1500" b="1" dirty="0">
                <a:solidFill>
                  <a:schemeClr val="bg1"/>
                </a:solidFill>
                <a:latin typeface="Courier New" pitchFamily="34" charset="0"/>
                <a:ea typeface="Courier New" pitchFamily="34" charset="-122"/>
                <a:cs typeface="Courier New" pitchFamily="34" charset="-120"/>
              </a:rPr>
              <a:t>59.3 s  A-C-F-H  =&gt;  A-B-E-H</a:t>
            </a:r>
            <a:endParaRPr lang="en-US" sz="1500" dirty="0"/>
          </a:p>
          <a:p>
            <a:pPr marL="0" indent="0">
              <a:spcAft>
                <a:spcPts val="400"/>
              </a:spcAft>
              <a:buNone/>
            </a:pPr>
            <a:r>
              <a:rPr lang="en-US" sz="1500" dirty="0">
                <a:solidFill>
                  <a:srgbClr val="9FE0D5"/>
                </a:solidFill>
                <a:latin typeface="Courier New" pitchFamily="34" charset="0"/>
                <a:ea typeface="Courier New" pitchFamily="34" charset="-122"/>
                <a:cs typeface="Courier New" pitchFamily="34" charset="-120"/>
              </a:rPr>
              <a:t>  better path available (16% cheaper)</a:t>
            </a:r>
            <a:endParaRPr lang="en-US" sz="1500" dirty="0"/>
          </a:p>
          <a:p>
            <a:pPr marL="0" indent="0">
              <a:spcAft>
                <a:spcPts val="400"/>
              </a:spcAft>
              <a:buNone/>
            </a:pPr>
            <a:r>
              <a:rPr lang="en-US" sz="1500" dirty="0">
                <a:solidFill>
                  <a:schemeClr val="tx1"/>
                </a:solidFill>
                <a:latin typeface="Courier New" pitchFamily="34" charset="0"/>
                <a:ea typeface="Courier New" pitchFamily="34" charset="-122"/>
                <a:cs typeface="Courier New" pitchFamily="34" charset="-120"/>
              </a:rPr>
              <a:t> </a:t>
            </a:r>
            <a:endParaRPr lang="en-US" sz="1500" dirty="0"/>
          </a:p>
          <a:p>
            <a:pPr marL="0" indent="0">
              <a:spcAft>
                <a:spcPts val="400"/>
              </a:spcAft>
              <a:buNone/>
            </a:pPr>
            <a:r>
              <a:rPr lang="en-US" sz="1600" b="1" dirty="0">
                <a:solidFill>
                  <a:srgbClr val="F6C08F"/>
                </a:solidFill>
                <a:latin typeface="Calibri" pitchFamily="34" charset="0"/>
                <a:ea typeface="Calibri" pitchFamily="34" charset="-122"/>
                <a:cs typeface="Calibri" pitchFamily="34" charset="-120"/>
              </a:rPr>
              <a:t>OSPF-like</a:t>
            </a:r>
            <a:endParaRPr lang="en-US" sz="1500" dirty="0"/>
          </a:p>
          <a:p>
            <a:pPr marL="0" indent="0">
              <a:spcAft>
                <a:spcPts val="400"/>
              </a:spcAft>
              <a:buNone/>
            </a:pPr>
            <a:r>
              <a:rPr lang="en-US" sz="1500" b="1" dirty="0">
                <a:solidFill>
                  <a:schemeClr val="bg1"/>
                </a:solidFill>
                <a:latin typeface="Courier New" pitchFamily="34" charset="0"/>
                <a:ea typeface="Courier New" pitchFamily="34" charset="-122"/>
                <a:cs typeface="Courier New" pitchFamily="34" charset="-120"/>
              </a:rPr>
              <a:t>16.3 s  A-B-E-H  =&gt;  A-C-F-H</a:t>
            </a:r>
            <a:endParaRPr lang="en-US" sz="1500" dirty="0"/>
          </a:p>
          <a:p>
            <a:pPr marL="0" indent="0">
              <a:spcAft>
                <a:spcPts val="400"/>
              </a:spcAft>
              <a:buNone/>
            </a:pPr>
            <a:r>
              <a:rPr lang="en-US" sz="1500" dirty="0">
                <a:solidFill>
                  <a:srgbClr val="F6C08F"/>
                </a:solidFill>
                <a:latin typeface="Courier New" pitchFamily="34" charset="0"/>
                <a:ea typeface="Courier New" pitchFamily="34" charset="-122"/>
                <a:cs typeface="Courier New" pitchFamily="34" charset="-120"/>
              </a:rPr>
              <a:t>  link B-E declared down (3 missed probes)</a:t>
            </a:r>
            <a:endParaRPr lang="en-US" sz="1500" dirty="0"/>
          </a:p>
        </p:txBody>
      </p:sp>
      <p:sp>
        <p:nvSpPr>
          <p:cNvPr id="6" name="Text 4"/>
          <p:cNvSpPr txBox="1"/>
          <p:nvPr/>
        </p:nvSpPr>
        <p:spPr>
          <a:xfrm>
            <a:off x="7315200" y="1463040"/>
            <a:ext cx="4297680" cy="411480"/>
          </a:xfrm>
          <a:prstGeom prst="rect">
            <a:avLst/>
          </a:prstGeom>
          <a:noFill/>
          <a:ln/>
        </p:spPr>
        <p:txBody>
          <a:bodyPr wrap="square" lIns="0" tIns="0" rIns="0" bIns="0" rtlCol="0" anchor="t"/>
          <a:lstStyle/>
          <a:p>
            <a:pPr marL="0" indent="0">
              <a:buNone/>
            </a:pPr>
            <a:r>
              <a:rPr lang="en-US" sz="2000" b="1" dirty="0">
                <a:solidFill>
                  <a:schemeClr val="tx2"/>
                </a:solidFill>
              </a:rPr>
              <a:t>Interactive dashboard</a:t>
            </a:r>
            <a:endParaRPr lang="en-US" sz="2000" dirty="0"/>
          </a:p>
        </p:txBody>
      </p:sp>
      <p:sp>
        <p:nvSpPr>
          <p:cNvPr id="7" name="Text 5"/>
          <p:cNvSpPr txBox="1"/>
          <p:nvPr/>
        </p:nvSpPr>
        <p:spPr>
          <a:xfrm>
            <a:off x="7315200" y="1965960"/>
            <a:ext cx="4297680" cy="237744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tx1"/>
                </a:solidFill>
              </a:rPr>
              <a:t>See the topology and the chosen route</a:t>
            </a:r>
            <a:endParaRPr lang="en-US" sz="1600" dirty="0"/>
          </a:p>
          <a:p>
            <a:pPr marL="342900" indent="-342900">
              <a:spcAft>
                <a:spcPts val="600"/>
              </a:spcAft>
              <a:buSzPct val="100000"/>
              <a:buChar char="•"/>
            </a:pPr>
            <a:r>
              <a:rPr lang="en-US" sz="1600" dirty="0">
                <a:solidFill>
                  <a:schemeClr val="tx1"/>
                </a:solidFill>
              </a:rPr>
              <a:t>Watch link health change during a fault</a:t>
            </a:r>
            <a:endParaRPr lang="en-US" sz="1600" dirty="0"/>
          </a:p>
          <a:p>
            <a:pPr marL="342900" indent="-342900">
              <a:spcAft>
                <a:spcPts val="600"/>
              </a:spcAft>
              <a:buSzPct val="100000"/>
              <a:buChar char="•"/>
            </a:pPr>
            <a:r>
              <a:rPr lang="en-US" sz="1600" dirty="0">
                <a:solidFill>
                  <a:schemeClr val="tx1"/>
                </a:solidFill>
              </a:rPr>
              <a:t>Inject your own faults on any link</a:t>
            </a:r>
            <a:endParaRPr lang="en-US" sz="1600" dirty="0"/>
          </a:p>
          <a:p>
            <a:pPr marL="342900" indent="-342900">
              <a:spcAft>
                <a:spcPts val="600"/>
              </a:spcAft>
              <a:buSzPct val="100000"/>
              <a:buChar char="•"/>
            </a:pPr>
            <a:r>
              <a:rPr lang="en-US" sz="1600" dirty="0">
                <a:solidFill>
                  <a:schemeClr val="tx1"/>
                </a:solidFill>
              </a:rPr>
              <a:t>Change the cost weights and see the effect</a:t>
            </a:r>
            <a:endParaRPr lang="en-US" sz="1600" dirty="0"/>
          </a:p>
          <a:p>
            <a:pPr marL="342900" indent="-342900">
              <a:spcAft>
                <a:spcPts val="600"/>
              </a:spcAft>
              <a:buSzPct val="100000"/>
              <a:buChar char="•"/>
            </a:pPr>
            <a:r>
              <a:rPr lang="en-US" sz="1600" dirty="0">
                <a:solidFill>
                  <a:schemeClr val="tx1"/>
                </a:solidFill>
              </a:rPr>
              <a:t>Compare against any baseline</a:t>
            </a:r>
            <a:endParaRPr lang="en-US" sz="1600" dirty="0"/>
          </a:p>
        </p:txBody>
      </p:sp>
      <p:sp>
        <p:nvSpPr>
          <p:cNvPr id="8" name="runCmd"/>
          <p:cNvSpPr/>
          <p:nvPr/>
        </p:nvSpPr>
        <p:spPr>
          <a:xfrm>
            <a:off x="7315200" y="4572000"/>
            <a:ext cx="4297680" cy="1371600"/>
          </a:xfrm>
          <a:prstGeom prst="roundRect">
            <a:avLst>
              <a:gd name="adj" fmla="val 8000"/>
            </a:avLst>
          </a:prstGeom>
          <a:solidFill>
            <a:srgbClr val="E3F2EF"/>
          </a:solidFill>
          <a:ln w="12700">
            <a:solidFill>
              <a:srgbClr val="E3F2EF"/>
            </a:solidFill>
            <a:prstDash val="solid"/>
          </a:ln>
        </p:spPr>
        <p:txBody>
          <a:bodyPr/>
          <a:lstStyle/>
          <a:p>
            <a:endParaRPr lang="en-US"/>
          </a:p>
        </p:txBody>
      </p:sp>
      <p:sp>
        <p:nvSpPr>
          <p:cNvPr id="9" name="Text 7"/>
          <p:cNvSpPr txBox="1"/>
          <p:nvPr/>
        </p:nvSpPr>
        <p:spPr>
          <a:xfrm>
            <a:off x="7543800" y="4663440"/>
            <a:ext cx="3931920" cy="1188720"/>
          </a:xfrm>
          <a:prstGeom prst="rect">
            <a:avLst/>
          </a:prstGeom>
          <a:noFill/>
          <a:ln/>
        </p:spPr>
        <p:txBody>
          <a:bodyPr wrap="square" lIns="0" tIns="0" rIns="0" bIns="0" rtlCol="0" anchor="ctr"/>
          <a:lstStyle/>
          <a:p>
            <a:pPr marL="0" indent="0">
              <a:buNone/>
            </a:pPr>
            <a:r>
              <a:rPr lang="en-US" sz="1500" b="1" dirty="0">
                <a:solidFill>
                  <a:schemeClr val="tx2"/>
                </a:solidFill>
              </a:rPr>
              <a:t>Run it</a:t>
            </a:r>
            <a:endParaRPr lang="en-US" sz="1500" dirty="0"/>
          </a:p>
          <a:p>
            <a:pPr marL="0" indent="0">
              <a:buNone/>
            </a:pPr>
            <a:r>
              <a:rPr lang="en-US" sz="1500" dirty="0">
                <a:solidFill>
                  <a:schemeClr val="tx1"/>
                </a:solidFill>
                <a:latin typeface="Courier New" pitchFamily="34" charset="0"/>
                <a:ea typeface="Courier New" pitchFamily="34" charset="-122"/>
                <a:cs typeface="Courier New" pitchFamily="34" charset="-120"/>
              </a:rPr>
              <a:t>python -m irp demo</a:t>
            </a:r>
            <a:endParaRPr lang="en-US" sz="1500" dirty="0"/>
          </a:p>
          <a:p>
            <a:pPr marL="0" indent="0">
              <a:buNone/>
            </a:pPr>
            <a:r>
              <a:rPr lang="en-US" sz="1500" dirty="0">
                <a:solidFill>
                  <a:schemeClr val="tx1"/>
                </a:solidFill>
                <a:latin typeface="Courier New" pitchFamily="34" charset="0"/>
                <a:ea typeface="Courier New" pitchFamily="34" charset="-122"/>
                <a:cs typeface="Courier New" pitchFamily="34" charset="-120"/>
              </a:rPr>
              <a:t>python -m irp dashboard</a:t>
            </a:r>
            <a:endParaRPr lang="en-US" sz="15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9B"/>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400" b="1" dirty="0">
                <a:solidFill>
                  <a:schemeClr val="tx2"/>
                </a:solidFill>
              </a:rPr>
              <a:t>Analysis and limitations</a:t>
            </a:r>
            <a:endParaRPr lang="en-US" sz="3400" dirty="0"/>
          </a:p>
        </p:txBody>
      </p:sp>
      <p:sp>
        <p:nvSpPr>
          <p:cNvPr id="3" name="col0"/>
          <p:cNvSpPr/>
          <p:nvPr/>
        </p:nvSpPr>
        <p:spPr>
          <a:xfrm>
            <a:off x="548640" y="1508760"/>
            <a:ext cx="3520440" cy="3749040"/>
          </a:xfrm>
          <a:prstGeom prst="roundRect">
            <a:avLst>
              <a:gd name="adj" fmla="val 3117"/>
            </a:avLst>
          </a:prstGeom>
          <a:solidFill>
            <a:srgbClr val="FFF6E0"/>
          </a:solidFill>
          <a:ln w="12700">
            <a:solidFill>
              <a:srgbClr val="FFF6E0"/>
            </a:solidFill>
            <a:prstDash val="solid"/>
          </a:ln>
        </p:spPr>
        <p:txBody>
          <a:bodyPr/>
          <a:lstStyle/>
          <a:p>
            <a:endParaRPr lang="en-US"/>
          </a:p>
        </p:txBody>
      </p:sp>
      <p:sp>
        <p:nvSpPr>
          <p:cNvPr id="4" name="Shape 2"/>
          <p:cNvSpPr/>
          <p:nvPr/>
        </p:nvSpPr>
        <p:spPr>
          <a:xfrm>
            <a:off x="822960" y="1783080"/>
            <a:ext cx="365760" cy="365760"/>
          </a:xfrm>
          <a:prstGeom prst="ellipse">
            <a:avLst/>
          </a:prstGeom>
          <a:solidFill>
            <a:schemeClr val="accent3"/>
          </a:solidFill>
          <a:ln w="12700">
            <a:solidFill>
              <a:schemeClr val="accent3"/>
            </a:solidFill>
            <a:prstDash val="solid"/>
          </a:ln>
        </p:spPr>
        <p:txBody>
          <a:bodyPr/>
          <a:lstStyle/>
          <a:p>
            <a:endParaRPr lang="en-US"/>
          </a:p>
        </p:txBody>
      </p:sp>
      <p:sp>
        <p:nvSpPr>
          <p:cNvPr id="5" name="Text 3"/>
          <p:cNvSpPr txBox="1"/>
          <p:nvPr/>
        </p:nvSpPr>
        <p:spPr>
          <a:xfrm>
            <a:off x="1325880" y="1755648"/>
            <a:ext cx="2560320" cy="411480"/>
          </a:xfrm>
          <a:prstGeom prst="rect">
            <a:avLst/>
          </a:prstGeom>
          <a:noFill/>
          <a:ln/>
        </p:spPr>
        <p:txBody>
          <a:bodyPr wrap="square" lIns="0" tIns="0" rIns="0" bIns="0" rtlCol="0" anchor="ctr"/>
          <a:lstStyle/>
          <a:p>
            <a:pPr marL="0" indent="0">
              <a:buNone/>
            </a:pPr>
            <a:r>
              <a:rPr lang="en-US" sz="2000" b="1" dirty="0">
                <a:solidFill>
                  <a:schemeClr val="tx2"/>
                </a:solidFill>
              </a:rPr>
              <a:t>Trade-off</a:t>
            </a:r>
            <a:endParaRPr lang="en-US" sz="2000" dirty="0"/>
          </a:p>
        </p:txBody>
      </p:sp>
      <p:sp>
        <p:nvSpPr>
          <p:cNvPr id="6" name="Text 4"/>
          <p:cNvSpPr txBox="1"/>
          <p:nvPr/>
        </p:nvSpPr>
        <p:spPr>
          <a:xfrm>
            <a:off x="822960" y="2423160"/>
            <a:ext cx="3017520" cy="27432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Pays a few ms of extra latency in 4 scenarios to avoid loss (e.g. 23.6 vs 20.1 ms).</a:t>
            </a:r>
            <a:endParaRPr lang="en-US" sz="1600" dirty="0"/>
          </a:p>
          <a:p>
            <a:pPr marL="342900" indent="-342900">
              <a:spcAft>
                <a:spcPts val="800"/>
              </a:spcAft>
              <a:buSzPct val="100000"/>
              <a:buChar char="•"/>
            </a:pPr>
            <a:r>
              <a:rPr lang="en-US" sz="1600" dirty="0">
                <a:solidFill>
                  <a:schemeClr val="tx1"/>
                </a:solidFill>
              </a:rPr>
              <a:t>This is deliberate and controlled by the weights.</a:t>
            </a:r>
            <a:endParaRPr lang="en-US" sz="1600" dirty="0"/>
          </a:p>
        </p:txBody>
      </p:sp>
      <p:sp>
        <p:nvSpPr>
          <p:cNvPr id="7" name="col1"/>
          <p:cNvSpPr/>
          <p:nvPr/>
        </p:nvSpPr>
        <p:spPr>
          <a:xfrm>
            <a:off x="4297680" y="1508760"/>
            <a:ext cx="3520440" cy="3749040"/>
          </a:xfrm>
          <a:prstGeom prst="roundRect">
            <a:avLst>
              <a:gd name="adj" fmla="val 3117"/>
            </a:avLst>
          </a:prstGeom>
          <a:solidFill>
            <a:srgbClr val="FCEDE4"/>
          </a:solidFill>
          <a:ln w="12700">
            <a:solidFill>
              <a:srgbClr val="FCEDE4"/>
            </a:solidFill>
            <a:prstDash val="solid"/>
          </a:ln>
        </p:spPr>
        <p:txBody>
          <a:bodyPr/>
          <a:lstStyle/>
          <a:p>
            <a:endParaRPr lang="en-US"/>
          </a:p>
        </p:txBody>
      </p:sp>
      <p:sp>
        <p:nvSpPr>
          <p:cNvPr id="8" name="Shape 6"/>
          <p:cNvSpPr/>
          <p:nvPr/>
        </p:nvSpPr>
        <p:spPr>
          <a:xfrm>
            <a:off x="4572000" y="1783080"/>
            <a:ext cx="365760" cy="365760"/>
          </a:xfrm>
          <a:prstGeom prst="ellipse">
            <a:avLst/>
          </a:prstGeom>
          <a:solidFill>
            <a:schemeClr val="accent2"/>
          </a:solidFill>
          <a:ln w="12700">
            <a:solidFill>
              <a:schemeClr val="accent2"/>
            </a:solidFill>
            <a:prstDash val="solid"/>
          </a:ln>
        </p:spPr>
        <p:txBody>
          <a:bodyPr/>
          <a:lstStyle/>
          <a:p>
            <a:endParaRPr lang="en-US"/>
          </a:p>
        </p:txBody>
      </p:sp>
      <p:sp>
        <p:nvSpPr>
          <p:cNvPr id="9" name="Text 7"/>
          <p:cNvSpPr txBox="1"/>
          <p:nvPr/>
        </p:nvSpPr>
        <p:spPr>
          <a:xfrm>
            <a:off x="5074920" y="1755648"/>
            <a:ext cx="2560320" cy="411480"/>
          </a:xfrm>
          <a:prstGeom prst="rect">
            <a:avLst/>
          </a:prstGeom>
          <a:noFill/>
          <a:ln/>
        </p:spPr>
        <p:txBody>
          <a:bodyPr wrap="square" lIns="0" tIns="0" rIns="0" bIns="0" rtlCol="0" anchor="ctr"/>
          <a:lstStyle/>
          <a:p>
            <a:pPr marL="0" indent="0">
              <a:buNone/>
            </a:pPr>
            <a:r>
              <a:rPr lang="en-US" sz="2000" b="1" dirty="0">
                <a:solidFill>
                  <a:schemeClr val="tx2"/>
                </a:solidFill>
              </a:rPr>
              <a:t>Limitations</a:t>
            </a:r>
            <a:endParaRPr lang="en-US" sz="2000" dirty="0"/>
          </a:p>
        </p:txBody>
      </p:sp>
      <p:sp>
        <p:nvSpPr>
          <p:cNvPr id="10" name="Text 8"/>
          <p:cNvSpPr txBox="1"/>
          <p:nvPr/>
        </p:nvSpPr>
        <p:spPr>
          <a:xfrm>
            <a:off x="4572000" y="2423160"/>
            <a:ext cx="3017520" cy="27432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Flow-level simulator, not packet-level (no TCP behaviour).</a:t>
            </a:r>
            <a:endParaRPr lang="en-US" sz="1600" dirty="0"/>
          </a:p>
          <a:p>
            <a:pPr marL="342900" indent="-342900">
              <a:spcAft>
                <a:spcPts val="800"/>
              </a:spcAft>
              <a:buSzPct val="100000"/>
              <a:buChar char="•"/>
            </a:pPr>
            <a:r>
              <a:rPr lang="en-US" sz="1600" dirty="0">
                <a:solidFill>
                  <a:schemeClr val="tx1"/>
                </a:solidFill>
              </a:rPr>
              <a:t>Routes use global link-state knowledge; message flooding is not modelled.</a:t>
            </a:r>
            <a:endParaRPr lang="en-US" sz="1600" dirty="0"/>
          </a:p>
          <a:p>
            <a:pPr marL="342900" indent="-342900">
              <a:spcAft>
                <a:spcPts val="800"/>
              </a:spcAft>
              <a:buSzPct val="100000"/>
              <a:buChar char="•"/>
            </a:pPr>
            <a:r>
              <a:rPr lang="en-US" sz="1600" dirty="0">
                <a:solidFill>
                  <a:schemeClr val="tx1"/>
                </a:solidFill>
              </a:rPr>
              <a:t>Weights are tuned by hand.</a:t>
            </a:r>
            <a:endParaRPr lang="en-US" sz="1600" dirty="0"/>
          </a:p>
        </p:txBody>
      </p:sp>
      <p:sp>
        <p:nvSpPr>
          <p:cNvPr id="11" name="col2"/>
          <p:cNvSpPr/>
          <p:nvPr/>
        </p:nvSpPr>
        <p:spPr>
          <a:xfrm>
            <a:off x="8046720" y="1508760"/>
            <a:ext cx="3520440" cy="3749040"/>
          </a:xfrm>
          <a:prstGeom prst="roundRect">
            <a:avLst>
              <a:gd name="adj" fmla="val 3117"/>
            </a:avLst>
          </a:prstGeom>
          <a:solidFill>
            <a:srgbClr val="E3F2EF"/>
          </a:solidFill>
          <a:ln w="12700">
            <a:solidFill>
              <a:srgbClr val="E3F2EF"/>
            </a:solidFill>
            <a:prstDash val="solid"/>
          </a:ln>
        </p:spPr>
        <p:txBody>
          <a:bodyPr/>
          <a:lstStyle/>
          <a:p>
            <a:endParaRPr lang="en-US"/>
          </a:p>
        </p:txBody>
      </p:sp>
      <p:sp>
        <p:nvSpPr>
          <p:cNvPr id="12" name="Shape 10"/>
          <p:cNvSpPr/>
          <p:nvPr/>
        </p:nvSpPr>
        <p:spPr>
          <a:xfrm>
            <a:off x="8321040" y="1783080"/>
            <a:ext cx="365760" cy="365760"/>
          </a:xfrm>
          <a:prstGeom prst="ellipse">
            <a:avLst/>
          </a:prstGeom>
          <a:solidFill>
            <a:schemeClr val="accent1"/>
          </a:solidFill>
          <a:ln w="12700">
            <a:solidFill>
              <a:schemeClr val="accent1"/>
            </a:solidFill>
            <a:prstDash val="solid"/>
          </a:ln>
        </p:spPr>
        <p:txBody>
          <a:bodyPr/>
          <a:lstStyle/>
          <a:p>
            <a:endParaRPr lang="en-US"/>
          </a:p>
        </p:txBody>
      </p:sp>
      <p:sp>
        <p:nvSpPr>
          <p:cNvPr id="13" name="Text 11"/>
          <p:cNvSpPr txBox="1"/>
          <p:nvPr/>
        </p:nvSpPr>
        <p:spPr>
          <a:xfrm>
            <a:off x="8823960" y="1755648"/>
            <a:ext cx="2560320" cy="411480"/>
          </a:xfrm>
          <a:prstGeom prst="rect">
            <a:avLst/>
          </a:prstGeom>
          <a:noFill/>
          <a:ln/>
        </p:spPr>
        <p:txBody>
          <a:bodyPr wrap="square" lIns="0" tIns="0" rIns="0" bIns="0" rtlCol="0" anchor="ctr"/>
          <a:lstStyle/>
          <a:p>
            <a:pPr marL="0" indent="0">
              <a:buNone/>
            </a:pPr>
            <a:r>
              <a:rPr lang="en-US" sz="2000" b="1" dirty="0">
                <a:solidFill>
                  <a:schemeClr val="tx2"/>
                </a:solidFill>
              </a:rPr>
              <a:t>When it does not help</a:t>
            </a:r>
            <a:endParaRPr lang="en-US" sz="2000" dirty="0"/>
          </a:p>
        </p:txBody>
      </p:sp>
      <p:sp>
        <p:nvSpPr>
          <p:cNvPr id="14" name="Text 12"/>
          <p:cNvSpPr txBox="1"/>
          <p:nvPr/>
        </p:nvSpPr>
        <p:spPr>
          <a:xfrm>
            <a:off x="8321040" y="2423160"/>
            <a:ext cx="3017520" cy="27432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All paths degraded equally: nothing better to switch to.</a:t>
            </a:r>
            <a:endParaRPr lang="en-US" sz="1600" dirty="0"/>
          </a:p>
          <a:p>
            <a:pPr marL="342900" indent="-342900">
              <a:spcAft>
                <a:spcPts val="800"/>
              </a:spcAft>
              <a:buSzPct val="100000"/>
              <a:buChar char="•"/>
            </a:pPr>
            <a:r>
              <a:rPr lang="en-US" sz="1600" dirty="0">
                <a:solidFill>
                  <a:schemeClr val="tx1"/>
                </a:solidFill>
              </a:rPr>
              <a:t>Faults shorter than one probe interval (0.5 s).</a:t>
            </a:r>
            <a:endParaRPr lang="en-US" sz="1600" dirty="0"/>
          </a:p>
          <a:p>
            <a:pPr marL="342900" indent="-342900">
              <a:spcAft>
                <a:spcPts val="800"/>
              </a:spcAft>
              <a:buSzPct val="100000"/>
              <a:buChar char="•"/>
            </a:pPr>
            <a:r>
              <a:rPr lang="en-US" sz="1600" dirty="0">
                <a:solidFill>
                  <a:schemeClr val="tx1"/>
                </a:solidFill>
              </a:rPr>
              <a:t>Pure delay faults: latency-only routing does as well.</a:t>
            </a:r>
            <a:endParaRPr lang="en-US" sz="1600" dirty="0"/>
          </a:p>
        </p:txBody>
      </p:sp>
      <p:sp>
        <p:nvSpPr>
          <p:cNvPr id="15" name="Text 13"/>
          <p:cNvSpPr txBox="1"/>
          <p:nvPr/>
        </p:nvSpPr>
        <p:spPr>
          <a:xfrm>
            <a:off x="548640" y="5577840"/>
            <a:ext cx="11064240" cy="411480"/>
          </a:xfrm>
          <a:prstGeom prst="rect">
            <a:avLst/>
          </a:prstGeom>
          <a:noFill/>
          <a:ln/>
        </p:spPr>
        <p:txBody>
          <a:bodyPr wrap="square" lIns="0" tIns="0" rIns="0" bIns="0" rtlCol="0" anchor="t"/>
          <a:lstStyle/>
          <a:p>
            <a:pPr marL="0" indent="0">
              <a:buNone/>
            </a:pPr>
            <a:r>
              <a:rPr lang="en-US" sz="1500" i="1" dirty="0">
                <a:solidFill>
                  <a:schemeClr val="accent4"/>
                </a:solidFill>
              </a:rPr>
              <a:t>The weights set the balance: raise the latency weight to favour speed, or the loss weight to favour reliability.</a:t>
            </a:r>
            <a:endParaRPr lang="en-US" sz="15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9B"/>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lgn="l">
              <a:buNone/>
            </a:pPr>
            <a:r>
              <a:rPr lang="en-US" sz="3400" b="1" dirty="0">
                <a:solidFill>
                  <a:schemeClr val="tx2"/>
                </a:solidFill>
              </a:rPr>
              <a:t>Conclusion, future work and references</a:t>
            </a:r>
            <a:endParaRPr lang="en-US" sz="3400" dirty="0"/>
          </a:p>
        </p:txBody>
      </p:sp>
      <p:sp>
        <p:nvSpPr>
          <p:cNvPr id="3" name="col0"/>
          <p:cNvSpPr/>
          <p:nvPr/>
        </p:nvSpPr>
        <p:spPr>
          <a:xfrm>
            <a:off x="548640" y="1508760"/>
            <a:ext cx="3520440" cy="3749040"/>
          </a:xfrm>
          <a:prstGeom prst="roundRect">
            <a:avLst>
              <a:gd name="adj" fmla="val 3117"/>
            </a:avLst>
          </a:prstGeom>
          <a:solidFill>
            <a:srgbClr val="FFF6E0"/>
          </a:solidFill>
          <a:ln w="12700">
            <a:solidFill>
              <a:srgbClr val="FFF6E0"/>
            </a:solidFill>
            <a:prstDash val="solid"/>
          </a:ln>
        </p:spPr>
        <p:txBody>
          <a:bodyPr/>
          <a:lstStyle/>
          <a:p>
            <a:endParaRPr lang="en-US"/>
          </a:p>
        </p:txBody>
      </p:sp>
      <p:sp>
        <p:nvSpPr>
          <p:cNvPr id="4" name="Shape 2"/>
          <p:cNvSpPr/>
          <p:nvPr/>
        </p:nvSpPr>
        <p:spPr>
          <a:xfrm>
            <a:off x="822960" y="1783080"/>
            <a:ext cx="365760" cy="365760"/>
          </a:xfrm>
          <a:prstGeom prst="ellipse">
            <a:avLst/>
          </a:prstGeom>
          <a:solidFill>
            <a:schemeClr val="accent3"/>
          </a:solidFill>
          <a:ln w="12700">
            <a:solidFill>
              <a:schemeClr val="accent3"/>
            </a:solidFill>
            <a:prstDash val="solid"/>
          </a:ln>
        </p:spPr>
        <p:txBody>
          <a:bodyPr/>
          <a:lstStyle/>
          <a:p>
            <a:endParaRPr lang="en-US"/>
          </a:p>
        </p:txBody>
      </p:sp>
      <p:sp>
        <p:nvSpPr>
          <p:cNvPr id="5" name="Text 3"/>
          <p:cNvSpPr txBox="1"/>
          <p:nvPr/>
        </p:nvSpPr>
        <p:spPr>
          <a:xfrm>
            <a:off x="1325880" y="1755648"/>
            <a:ext cx="2560320" cy="411480"/>
          </a:xfrm>
          <a:prstGeom prst="rect">
            <a:avLst/>
          </a:prstGeom>
          <a:noFill/>
          <a:ln/>
        </p:spPr>
        <p:txBody>
          <a:bodyPr wrap="square" lIns="0" tIns="0" rIns="0" bIns="0" rtlCol="0" anchor="ctr"/>
          <a:lstStyle/>
          <a:p>
            <a:pPr marL="0" indent="0">
              <a:buNone/>
            </a:pPr>
            <a:r>
              <a:rPr lang="en-US" sz="2000" b="1" dirty="0">
                <a:solidFill>
                  <a:schemeClr val="tx2"/>
                </a:solidFill>
              </a:rPr>
              <a:t>Conclusion</a:t>
            </a:r>
            <a:endParaRPr lang="en-US" sz="2000" dirty="0"/>
          </a:p>
        </p:txBody>
      </p:sp>
      <p:sp>
        <p:nvSpPr>
          <p:cNvPr id="6" name="Text 4"/>
          <p:cNvSpPr txBox="1"/>
          <p:nvPr/>
        </p:nvSpPr>
        <p:spPr>
          <a:xfrm>
            <a:off x="822960" y="2423160"/>
            <a:ext cx="3017520" cy="27432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Same as OSPF on a healthy network.</a:t>
            </a:r>
            <a:endParaRPr lang="en-US" sz="1600" dirty="0"/>
          </a:p>
          <a:p>
            <a:pPr marL="342900" indent="-342900">
              <a:spcAft>
                <a:spcPts val="800"/>
              </a:spcAft>
              <a:buSzPct val="100000"/>
              <a:buChar char="•"/>
            </a:pPr>
            <a:r>
              <a:rPr lang="en-US" sz="1500" dirty="0">
                <a:solidFill>
                  <a:schemeClr val="tx1"/>
                </a:solidFill>
              </a:rPr>
              <a:t>Higher delivery in all 7 fault scenarios (p &lt; 0.05).</a:t>
            </a:r>
            <a:endParaRPr lang="en-US" sz="1600" dirty="0"/>
          </a:p>
          <a:p>
            <a:pPr marL="342900" indent="-342900">
              <a:spcAft>
                <a:spcPts val="800"/>
              </a:spcAft>
              <a:buSzPct val="100000"/>
              <a:buChar char="•"/>
            </a:pPr>
            <a:r>
              <a:rPr lang="en-US" sz="1500" dirty="0">
                <a:solidFill>
                  <a:schemeClr val="tx1"/>
                </a:solidFill>
              </a:rPr>
              <a:t>9× faster failure recovery; 2 vs 12 route changes on a flapping link.</a:t>
            </a:r>
            <a:endParaRPr lang="en-US" sz="1600" dirty="0"/>
          </a:p>
        </p:txBody>
      </p:sp>
      <p:sp>
        <p:nvSpPr>
          <p:cNvPr id="7" name="col1"/>
          <p:cNvSpPr/>
          <p:nvPr/>
        </p:nvSpPr>
        <p:spPr>
          <a:xfrm>
            <a:off x="4297680" y="1508760"/>
            <a:ext cx="3520440" cy="3749040"/>
          </a:xfrm>
          <a:prstGeom prst="roundRect">
            <a:avLst>
              <a:gd name="adj" fmla="val 3117"/>
            </a:avLst>
          </a:prstGeom>
          <a:solidFill>
            <a:srgbClr val="FCEDE4"/>
          </a:solidFill>
          <a:ln w="12700">
            <a:solidFill>
              <a:srgbClr val="FCEDE4"/>
            </a:solidFill>
            <a:prstDash val="solid"/>
          </a:ln>
        </p:spPr>
        <p:txBody>
          <a:bodyPr/>
          <a:lstStyle/>
          <a:p>
            <a:endParaRPr lang="en-US"/>
          </a:p>
        </p:txBody>
      </p:sp>
      <p:sp>
        <p:nvSpPr>
          <p:cNvPr id="8" name="Shape 6"/>
          <p:cNvSpPr/>
          <p:nvPr/>
        </p:nvSpPr>
        <p:spPr>
          <a:xfrm>
            <a:off x="4572000" y="1783080"/>
            <a:ext cx="365760" cy="365760"/>
          </a:xfrm>
          <a:prstGeom prst="ellipse">
            <a:avLst/>
          </a:prstGeom>
          <a:solidFill>
            <a:schemeClr val="accent2"/>
          </a:solidFill>
          <a:ln w="12700">
            <a:solidFill>
              <a:schemeClr val="accent2"/>
            </a:solidFill>
            <a:prstDash val="solid"/>
          </a:ln>
        </p:spPr>
        <p:txBody>
          <a:bodyPr/>
          <a:lstStyle/>
          <a:p>
            <a:endParaRPr lang="en-US"/>
          </a:p>
        </p:txBody>
      </p:sp>
      <p:sp>
        <p:nvSpPr>
          <p:cNvPr id="9" name="Text 7"/>
          <p:cNvSpPr txBox="1"/>
          <p:nvPr/>
        </p:nvSpPr>
        <p:spPr>
          <a:xfrm>
            <a:off x="5074920" y="1755648"/>
            <a:ext cx="2560320" cy="411480"/>
          </a:xfrm>
          <a:prstGeom prst="rect">
            <a:avLst/>
          </a:prstGeom>
          <a:noFill/>
          <a:ln/>
        </p:spPr>
        <p:txBody>
          <a:bodyPr wrap="square" lIns="0" tIns="0" rIns="0" bIns="0" rtlCol="0" anchor="ctr"/>
          <a:lstStyle/>
          <a:p>
            <a:pPr marL="0" indent="0">
              <a:buNone/>
            </a:pPr>
            <a:r>
              <a:rPr lang="en-US" sz="2000" b="1" dirty="0">
                <a:solidFill>
                  <a:schemeClr val="tx2"/>
                </a:solidFill>
              </a:rPr>
              <a:t>Future work</a:t>
            </a:r>
            <a:endParaRPr lang="en-US" sz="2000" dirty="0"/>
          </a:p>
        </p:txBody>
      </p:sp>
      <p:sp>
        <p:nvSpPr>
          <p:cNvPr id="10" name="Text 8"/>
          <p:cNvSpPr txBox="1"/>
          <p:nvPr/>
        </p:nvSpPr>
        <p:spPr>
          <a:xfrm>
            <a:off x="4572000" y="2423160"/>
            <a:ext cx="3017520" cy="27432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Learn the weights automatically (Bayesian optimisation).</a:t>
            </a:r>
            <a:endParaRPr lang="en-US" sz="1600" dirty="0"/>
          </a:p>
          <a:p>
            <a:pPr marL="342900" indent="-342900">
              <a:spcAft>
                <a:spcPts val="800"/>
              </a:spcAft>
              <a:buSzPct val="100000"/>
              <a:buChar char="•"/>
            </a:pPr>
            <a:r>
              <a:rPr lang="en-US" sz="1500" dirty="0">
                <a:solidFill>
                  <a:schemeClr val="tx1"/>
                </a:solidFill>
              </a:rPr>
              <a:t>Packet-level validation in Mininet or ns-3.</a:t>
            </a:r>
            <a:endParaRPr lang="en-US" sz="1600" dirty="0"/>
          </a:p>
          <a:p>
            <a:pPr marL="342900" indent="-342900">
              <a:spcAft>
                <a:spcPts val="800"/>
              </a:spcAft>
              <a:buSzPct val="100000"/>
              <a:buChar char="•"/>
            </a:pPr>
            <a:r>
              <a:rPr lang="en-US" sz="1500" dirty="0">
                <a:solidFill>
                  <a:schemeClr val="tx1"/>
                </a:solidFill>
              </a:rPr>
              <a:t>Distributed version: routers flood their measurements.</a:t>
            </a:r>
            <a:endParaRPr lang="en-US" sz="1600" dirty="0"/>
          </a:p>
        </p:txBody>
      </p:sp>
      <p:sp>
        <p:nvSpPr>
          <p:cNvPr id="11" name="col2"/>
          <p:cNvSpPr/>
          <p:nvPr/>
        </p:nvSpPr>
        <p:spPr>
          <a:xfrm>
            <a:off x="8046720" y="1508760"/>
            <a:ext cx="3520440" cy="3749040"/>
          </a:xfrm>
          <a:prstGeom prst="roundRect">
            <a:avLst>
              <a:gd name="adj" fmla="val 3117"/>
            </a:avLst>
          </a:prstGeom>
          <a:solidFill>
            <a:srgbClr val="E3F2EF"/>
          </a:solidFill>
          <a:ln w="12700">
            <a:solidFill>
              <a:srgbClr val="E3F2EF"/>
            </a:solidFill>
            <a:prstDash val="solid"/>
          </a:ln>
        </p:spPr>
        <p:txBody>
          <a:bodyPr/>
          <a:lstStyle/>
          <a:p>
            <a:endParaRPr lang="en-US"/>
          </a:p>
        </p:txBody>
      </p:sp>
      <p:sp>
        <p:nvSpPr>
          <p:cNvPr id="12" name="Shape 10"/>
          <p:cNvSpPr/>
          <p:nvPr/>
        </p:nvSpPr>
        <p:spPr>
          <a:xfrm>
            <a:off x="8321040" y="1783080"/>
            <a:ext cx="365760" cy="365760"/>
          </a:xfrm>
          <a:prstGeom prst="ellipse">
            <a:avLst/>
          </a:prstGeom>
          <a:solidFill>
            <a:schemeClr val="accent1"/>
          </a:solidFill>
          <a:ln w="12700">
            <a:solidFill>
              <a:schemeClr val="accent1"/>
            </a:solidFill>
            <a:prstDash val="solid"/>
          </a:ln>
        </p:spPr>
        <p:txBody>
          <a:bodyPr/>
          <a:lstStyle/>
          <a:p>
            <a:endParaRPr lang="en-US"/>
          </a:p>
        </p:txBody>
      </p:sp>
      <p:sp>
        <p:nvSpPr>
          <p:cNvPr id="13" name="Text 11"/>
          <p:cNvSpPr txBox="1"/>
          <p:nvPr/>
        </p:nvSpPr>
        <p:spPr>
          <a:xfrm>
            <a:off x="8823960" y="1755648"/>
            <a:ext cx="2560320" cy="411480"/>
          </a:xfrm>
          <a:prstGeom prst="rect">
            <a:avLst/>
          </a:prstGeom>
          <a:noFill/>
          <a:ln/>
        </p:spPr>
        <p:txBody>
          <a:bodyPr wrap="square" lIns="0" tIns="0" rIns="0" bIns="0" rtlCol="0" anchor="ctr"/>
          <a:lstStyle/>
          <a:p>
            <a:pPr marL="0" indent="0">
              <a:buNone/>
            </a:pPr>
            <a:r>
              <a:rPr lang="en-US" sz="2000" b="1" dirty="0">
                <a:solidFill>
                  <a:schemeClr val="tx2"/>
                </a:solidFill>
              </a:rPr>
              <a:t>References</a:t>
            </a:r>
            <a:endParaRPr lang="en-US" sz="2000" dirty="0"/>
          </a:p>
        </p:txBody>
      </p:sp>
      <p:sp>
        <p:nvSpPr>
          <p:cNvPr id="14" name="Text 12"/>
          <p:cNvSpPr txBox="1"/>
          <p:nvPr/>
        </p:nvSpPr>
        <p:spPr>
          <a:xfrm>
            <a:off x="8321040" y="2423160"/>
            <a:ext cx="3017520" cy="2743200"/>
          </a:xfrm>
          <a:prstGeom prst="rect">
            <a:avLst/>
          </a:prstGeom>
          <a:noFill/>
          <a:ln/>
        </p:spPr>
        <p:txBody>
          <a:bodyPr wrap="square" lIns="0" tIns="0" rIns="0" bIns="0" rtlCol="0" anchor="t"/>
          <a:lstStyle/>
          <a:p>
            <a:pPr marL="342900" indent="-342900">
              <a:spcAft>
                <a:spcPts val="800"/>
              </a:spcAft>
              <a:buSzPct val="100000"/>
              <a:buChar char="•"/>
            </a:pPr>
            <a:r>
              <a:rPr lang="en-US" sz="1100" dirty="0">
                <a:solidFill>
                  <a:schemeClr val="tx1"/>
                </a:solidFill>
              </a:rPr>
              <a:t>J. Moy, "OSPF Version 2," RFC 2328, 1998.</a:t>
            </a:r>
            <a:endParaRPr lang="en-US" sz="1600" dirty="0"/>
          </a:p>
          <a:p>
            <a:pPr marL="342900" indent="-342900">
              <a:spcAft>
                <a:spcPts val="800"/>
              </a:spcAft>
              <a:buSzPct val="100000"/>
              <a:buChar char="•"/>
            </a:pPr>
            <a:r>
              <a:rPr lang="en-US" sz="1100" dirty="0">
                <a:solidFill>
                  <a:schemeClr val="tx1"/>
                </a:solidFill>
              </a:rPr>
              <a:t>C. Hedrick, "Routing Information Protocol," RFC 1058, 1988.</a:t>
            </a:r>
            <a:endParaRPr lang="en-US" sz="1600" dirty="0"/>
          </a:p>
          <a:p>
            <a:pPr marL="342900" indent="-342900">
              <a:spcAft>
                <a:spcPts val="800"/>
              </a:spcAft>
              <a:buSzPct val="100000"/>
              <a:buChar char="•"/>
            </a:pPr>
            <a:r>
              <a:rPr lang="en-US" sz="1100" dirty="0">
                <a:solidFill>
                  <a:schemeClr val="tx1"/>
                </a:solidFill>
              </a:rPr>
              <a:t>A. Khanna, J. Zinky, "The revised ARPANET routing metric," SIGCOMM 1989.</a:t>
            </a:r>
            <a:endParaRPr lang="en-US" sz="1600" dirty="0"/>
          </a:p>
          <a:p>
            <a:pPr marL="342900" indent="-342900">
              <a:spcAft>
                <a:spcPts val="800"/>
              </a:spcAft>
              <a:buSzPct val="100000"/>
              <a:buChar char="•"/>
            </a:pPr>
            <a:r>
              <a:rPr lang="en-US" sz="1100" dirty="0">
                <a:solidFill>
                  <a:schemeClr val="tx1"/>
                </a:solidFill>
              </a:rPr>
              <a:t>D. De Couto et al., "A high-throughput path metric for multi-hop wireless routing," MobiCom 2003.</a:t>
            </a:r>
            <a:endParaRPr lang="en-US" sz="1600" dirty="0"/>
          </a:p>
          <a:p>
            <a:pPr marL="342900" indent="-342900">
              <a:spcAft>
                <a:spcPts val="800"/>
              </a:spcAft>
              <a:buSzPct val="100000"/>
              <a:buChar char="•"/>
            </a:pPr>
            <a:r>
              <a:rPr lang="en-US" sz="1100" dirty="0">
                <a:solidFill>
                  <a:schemeClr val="tx1"/>
                </a:solidFill>
              </a:rPr>
              <a:t>S. Kandula et al., "Walking the tightrope," SIGCOMM 2005.</a:t>
            </a:r>
            <a:endParaRPr lang="en-US" sz="1600" dirty="0"/>
          </a:p>
        </p:txBody>
      </p:sp>
      <p:sp>
        <p:nvSpPr>
          <p:cNvPr id="15" name="Text 13"/>
          <p:cNvSpPr txBox="1"/>
          <p:nvPr/>
        </p:nvSpPr>
        <p:spPr>
          <a:xfrm>
            <a:off x="548640" y="5577840"/>
            <a:ext cx="11064240" cy="411480"/>
          </a:xfrm>
          <a:prstGeom prst="rect">
            <a:avLst/>
          </a:prstGeom>
          <a:noFill/>
          <a:ln/>
        </p:spPr>
        <p:txBody>
          <a:bodyPr wrap="square" lIns="0" tIns="0" rIns="0" bIns="0" rtlCol="0" anchor="t"/>
          <a:lstStyle/>
          <a:p>
            <a:pPr marL="0" indent="0">
              <a:buNone/>
            </a:pPr>
            <a:r>
              <a:rPr lang="en-US" sz="1500" i="1" dirty="0">
                <a:solidFill>
                  <a:schemeClr val="accent4"/>
                </a:solidFill>
              </a:rPr>
              <a:t>Full IEEE reference list in the report.  Code: github.com/nehadamani0909/F2_Team18</a:t>
            </a:r>
            <a:endParaRPr lang="en-US" sz="15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9B"/>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2011680"/>
            <a:ext cx="10698480" cy="1371600"/>
          </a:xfrm>
          <a:prstGeom prst="rect">
            <a:avLst/>
          </a:prstGeom>
          <a:noFill/>
          <a:ln/>
        </p:spPr>
        <p:txBody>
          <a:bodyPr wrap="square" lIns="0" tIns="0" rIns="0" bIns="0" rtlCol="0" anchor="b"/>
          <a:lstStyle/>
          <a:p>
            <a:pPr marL="0" indent="0" algn="l">
              <a:buNone/>
            </a:pPr>
            <a:r>
              <a:rPr lang="en-US" sz="4800" b="1" dirty="0">
                <a:solidFill>
                  <a:schemeClr val="bg1"/>
                </a:solidFill>
              </a:rPr>
              <a:t>Routing that reacts to how the network really behaves</a:t>
            </a:r>
            <a:endParaRPr lang="en-US" sz="4800" dirty="0"/>
          </a:p>
        </p:txBody>
      </p:sp>
      <p:sp>
        <p:nvSpPr>
          <p:cNvPr id="3" name="Text 0"/>
          <p:cNvSpPr>
            <a:spLocks noGrp="1"/>
          </p:cNvSpPr>
          <p:nvPr>
            <p:ph type="body" idx="101" hasCustomPrompt="1"/>
          </p:nvPr>
        </p:nvSpPr>
        <p:spPr>
          <a:xfrm>
            <a:off x="731520" y="3520440"/>
            <a:ext cx="10698480" cy="914400"/>
          </a:xfrm>
          <a:prstGeom prst="rect">
            <a:avLst/>
          </a:prstGeom>
          <a:noFill/>
          <a:ln/>
        </p:spPr>
        <p:txBody>
          <a:bodyPr wrap="square" lIns="0" tIns="0" rIns="0" bIns="0" rtlCol="0" anchor="t"/>
          <a:lstStyle/>
          <a:p>
            <a:pPr marL="0" indent="0" algn="l">
              <a:buNone/>
            </a:pPr>
            <a:r>
              <a:rPr lang="en-US" sz="2200" dirty="0">
                <a:solidFill>
                  <a:srgbClr val="B9D9D4"/>
                </a:solidFill>
              </a:rPr>
              <a:t>Same as OSPF when the network is healthy. Far more reliable when it is not.</a:t>
            </a:r>
            <a:endParaRPr lang="en-US" sz="2200" dirty="0"/>
          </a:p>
          <a:p>
            <a:pPr marL="0" indent="0" algn="l">
              <a:buNone/>
            </a:pPr>
            <a:r>
              <a:rPr lang="en-US" sz="2200" b="1" dirty="0">
                <a:solidFill>
                  <a:srgbClr val="FFFFFF"/>
                </a:solidFill>
              </a:rPr>
              <a:t>Thank you. Questions?</a:t>
            </a:r>
            <a:endParaRPr lang="en-US" sz="2200" dirty="0"/>
          </a:p>
        </p:txBody>
      </p:sp>
    </p:spTree>
  </p:cSld>
  <p:clrMapOvr>
    <a:masterClrMapping/>
  </p:clrMapOvr>
</p:sld>
</file>

<file path=ppt/theme/theme1.xml><?xml version="1.0" encoding="utf-8"?>
<a:theme xmlns:a="http://schemas.openxmlformats.org/drawingml/2006/main" name="Intelligent Routing">
  <a:themeElements>
    <a:clrScheme name="Intelligent Routing">
      <a:dk1>
        <a:srgbClr val="1A1F24"/>
      </a:dk1>
      <a:lt1>
        <a:srgbClr val="FFFFFF"/>
      </a:lt1>
      <a:dk2>
        <a:srgbClr val="123A40"/>
      </a:dk2>
      <a:lt2>
        <a:srgbClr val="EEF4F3"/>
      </a:lt2>
      <a:accent1>
        <a:srgbClr val="0E8C7F"/>
      </a:accent1>
      <a:accent2>
        <a:srgbClr val="E8743B"/>
      </a:accent2>
      <a:accent3>
        <a:srgbClr val="F2B134"/>
      </a:accent3>
      <a:accent4>
        <a:srgbClr val="5B6770"/>
      </a:accent4>
      <a:accent5>
        <a:srgbClr val="2F6F8F"/>
      </a:accent5>
      <a:accent6>
        <a:srgbClr val="9BC53D"/>
      </a:accent6>
      <a:hlink>
        <a:srgbClr val="0E8C7F"/>
      </a:hlink>
      <a:folHlink>
        <a:srgbClr val="5B6770"/>
      </a:folHlink>
    </a:clrScheme>
    <a:fontScheme name="Intelligent Routing">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44</TotalTime>
  <Words>2594</Words>
  <Application>Microsoft Macintosh PowerPoint</Application>
  <PresentationFormat>Widescreen</PresentationFormat>
  <Paragraphs>292</Paragraphs>
  <Slides>17</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Cambria</vt:lpstr>
      <vt:lpstr>Courier New</vt:lpstr>
      <vt:lpstr>Intelligent Routing</vt:lpstr>
      <vt:lpstr>Intelligent Routing Protocol</vt:lpstr>
      <vt:lpstr>Problem and motivation: shortest is not always best</vt:lpstr>
      <vt:lpstr>Existing approach (baseline) and its gap</vt:lpstr>
      <vt:lpstr>Proposed novelty: four live measurements per link</vt:lpstr>
      <vt:lpstr>Architecture: measure, score, choose, stay stable</vt:lpstr>
      <vt:lpstr>Algorithm: one cost per link, in effective milliseconds</vt:lpstr>
      <vt:lpstr>Algorithm: adapting fast without flip-flopping</vt:lpstr>
      <vt:lpstr>Implementation setup</vt:lpstr>
      <vt:lpstr>Scenarios and metrics</vt:lpstr>
      <vt:lpstr>Results: headline numbers vs OSPF-like routing</vt:lpstr>
      <vt:lpstr>Results: baseline vs proposed (mean ± SD, 10 seeds)</vt:lpstr>
      <vt:lpstr>Results: time with degraded service during a 25 s fault</vt:lpstr>
      <vt:lpstr>Results: what the test flow actually experienced</vt:lpstr>
      <vt:lpstr>Analysis: every route change is explained</vt:lpstr>
      <vt:lpstr>Analysis and limitations</vt:lpstr>
      <vt:lpstr>Conclusion, future work and references</vt:lpstr>
      <vt:lpstr>Routing that reacts to how the network really behaves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Intelligent Routing Protocol</dc:title>
  <dc:subject>PptxGenJS Presentation</dc:subject>
  <dc:creator>Neha Damani</dc:creator>
  <cp:lastModifiedBy>Neha Damani</cp:lastModifiedBy>
  <cp:revision>1</cp:revision>
  <dcterms:created xsi:type="dcterms:W3CDTF">2026-10-24T13:41:52Z</dcterms:created>
  <dcterms:modified xsi:type="dcterms:W3CDTF">2026-10-27T20:32:57Z</dcterms:modified>
</cp:coreProperties>
</file>